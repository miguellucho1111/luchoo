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1F212-34D7-4399-BCE0-06D8D6F55547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C2CC79-3E46-4CF4-B2B0-99208C8548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99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ln w="38100">
            <a:solidFill>
              <a:srgbClr val="FBF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-1097280"/>
            <a:ext cx="4114800" cy="4114800"/>
          </a:xfrm>
          <a:prstGeom prst="ellipse">
            <a:avLst/>
          </a:prstGeom>
          <a:ln w="25400">
            <a:solidFill>
              <a:srgbClr val="EDF1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assets/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1554480" cy="506675"/>
          </a:xfrm>
          <a:prstGeom prst="rect">
            <a:avLst/>
          </a:prstGeom>
        </p:spPr>
      </p:pic>
      <p:sp>
        <p:nvSpPr>
          <p:cNvPr id="5" name="Kicker"/>
          <p:cNvSpPr txBox="1"/>
          <p:nvPr/>
        </p:nvSpPr>
        <p:spPr>
          <a:xfrm>
            <a:off x="0" y="1325880"/>
            <a:ext cx="1219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VE" sz="120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FULLPETRO · TECNOLOGÍA DE INFORMACIÓN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0" y="1600200"/>
            <a:ext cx="12192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VE" sz="4600" b="1" spc="100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PROYECTOS TI</a:t>
            </a:r>
          </a:p>
        </p:txBody>
      </p:sp>
      <p:pic>
        <p:nvPicPr>
          <p:cNvPr id="7" name="Logos proyectos" descr="Logos de los proyectos NEXUS, CENIT y VIS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2880360"/>
            <a:ext cx="9509760" cy="2971800"/>
          </a:xfrm>
          <a:prstGeom prst="rect">
            <a:avLst/>
          </a:prstGeom>
        </p:spPr>
      </p:pic>
      <p:sp>
        <p:nvSpPr>
          <p:cNvPr id="8" name="Footer"/>
          <p:cNvSpPr txBox="1"/>
          <p:nvPr/>
        </p:nvSpPr>
        <p:spPr>
          <a:xfrm>
            <a:off x="0" y="6172200"/>
            <a:ext cx="1219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VE" sz="11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r>
              <a:rPr lang="es-VE" sz="11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de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EXUS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ogo NEXUS" descr="Logo NEXU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1321385" cy="960120"/>
          </a:xfrm>
          <a:prstGeom prst="rect">
            <a:avLst/>
          </a:prstGeom>
        </p:spPr>
      </p:pic>
      <p:sp>
        <p:nvSpPr>
          <p:cNvPr id="102" name="Text"/>
          <p:cNvSpPr txBox="1"/>
          <p:nvPr/>
        </p:nvSpPr>
        <p:spPr>
          <a:xfrm>
            <a:off x="2098625" y="41148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20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TI · PLATAFORMA CENTRAL</a:t>
            </a:r>
          </a:p>
        </p:txBody>
      </p:sp>
      <p:sp>
        <p:nvSpPr>
          <p:cNvPr id="103" name="Text"/>
          <p:cNvSpPr txBox="1"/>
          <p:nvPr/>
        </p:nvSpPr>
        <p:spPr>
          <a:xfrm>
            <a:off x="2098625" y="658368"/>
            <a:ext cx="82798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30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 · Sistema Centralizado de Operaciones</a:t>
            </a:r>
          </a:p>
        </p:txBody>
      </p:sp>
      <p:sp>
        <p:nvSpPr>
          <p:cNvPr id="104" name="Text"/>
          <p:cNvSpPr txBox="1"/>
          <p:nvPr/>
        </p:nvSpPr>
        <p:spPr>
          <a:xfrm>
            <a:off x="2098625" y="11521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25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plataforma central de la operación de FullPetro</a:t>
            </a:r>
          </a:p>
        </p:txBody>
      </p:sp>
      <p:sp>
        <p:nvSpPr>
          <p:cNvPr id="105" name="Line"/>
          <p:cNvSpPr/>
          <p:nvPr/>
        </p:nvSpPr>
        <p:spPr>
          <a:xfrm>
            <a:off x="457200" y="1572768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"/>
          <p:cNvSpPr txBox="1"/>
          <p:nvPr/>
        </p:nvSpPr>
        <p:spPr>
          <a:xfrm>
            <a:off x="502920" y="1783080"/>
            <a:ext cx="5257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10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</a:p>
        </p:txBody>
      </p:sp>
      <p:sp>
        <p:nvSpPr>
          <p:cNvPr id="107" name="Text"/>
          <p:cNvSpPr txBox="1"/>
          <p:nvPr/>
        </p:nvSpPr>
        <p:spPr>
          <a:xfrm>
            <a:off x="502920" y="2084832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s-VE" sz="12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en un solo sistema lo que hoy está repartido entre Excel, portales de proveedores y reportes manuales: </a:t>
            </a:r>
            <a:r>
              <a:rPr lang="es-VE" sz="125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combustible, flota GPS, horas de equipos y reportes para gerencia.</a:t>
            </a:r>
          </a:p>
        </p:txBody>
      </p:sp>
      <p:sp>
        <p:nvSpPr>
          <p:cNvPr id="108" name="Text"/>
          <p:cNvSpPr txBox="1"/>
          <p:nvPr/>
        </p:nvSpPr>
        <p:spPr>
          <a:xfrm>
            <a:off x="502920" y="290779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1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Pensada para crecer:</a:t>
            </a:r>
          </a:p>
        </p:txBody>
      </p:sp>
      <p:sp>
        <p:nvSpPr>
          <p:cNvPr id="109" name="Shape"/>
          <p:cNvSpPr/>
          <p:nvPr/>
        </p:nvSpPr>
        <p:spPr>
          <a:xfrm>
            <a:off x="502920" y="32004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BF3DD"/>
          </a:solidFill>
          <a:ln w="9525">
            <a:solidFill>
              <a:srgbClr val="E9C46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"/>
          <p:cNvSpPr txBox="1"/>
          <p:nvPr/>
        </p:nvSpPr>
        <p:spPr>
          <a:xfrm>
            <a:off x="502920" y="320040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50" b="1" dirty="0">
                <a:solidFill>
                  <a:srgbClr val="9A69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</a:t>
            </a:r>
          </a:p>
        </p:txBody>
      </p:sp>
      <p:sp>
        <p:nvSpPr>
          <p:cNvPr id="111" name="Shape"/>
          <p:cNvSpPr/>
          <p:nvPr/>
        </p:nvSpPr>
        <p:spPr>
          <a:xfrm>
            <a:off x="1572768" y="320040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BF3DD"/>
          </a:solidFill>
          <a:ln w="9525">
            <a:solidFill>
              <a:srgbClr val="E9C46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"/>
          <p:cNvSpPr txBox="1"/>
          <p:nvPr/>
        </p:nvSpPr>
        <p:spPr>
          <a:xfrm>
            <a:off x="1572768" y="3200400"/>
            <a:ext cx="119329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50" b="1" dirty="0">
                <a:solidFill>
                  <a:srgbClr val="9A69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</a:p>
        </p:txBody>
      </p:sp>
      <p:sp>
        <p:nvSpPr>
          <p:cNvPr id="113" name="Shape"/>
          <p:cNvSpPr/>
          <p:nvPr/>
        </p:nvSpPr>
        <p:spPr>
          <a:xfrm>
            <a:off x="2875788" y="3200400"/>
            <a:ext cx="1037844" cy="310896"/>
          </a:xfrm>
          <a:prstGeom prst="roundRect">
            <a:avLst>
              <a:gd name="adj" fmla="val 50000"/>
            </a:avLst>
          </a:prstGeom>
          <a:solidFill>
            <a:srgbClr val="FBF3DD"/>
          </a:solidFill>
          <a:ln w="9525">
            <a:solidFill>
              <a:srgbClr val="E9C46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"/>
          <p:cNvSpPr txBox="1"/>
          <p:nvPr/>
        </p:nvSpPr>
        <p:spPr>
          <a:xfrm>
            <a:off x="2875788" y="3200400"/>
            <a:ext cx="10378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50" b="1" dirty="0">
                <a:solidFill>
                  <a:srgbClr val="9A69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</a:p>
        </p:txBody>
      </p:sp>
      <p:sp>
        <p:nvSpPr>
          <p:cNvPr id="115" name="Shape"/>
          <p:cNvSpPr/>
          <p:nvPr/>
        </p:nvSpPr>
        <p:spPr>
          <a:xfrm>
            <a:off x="4023360" y="3200400"/>
            <a:ext cx="1037844" cy="310896"/>
          </a:xfrm>
          <a:prstGeom prst="roundRect">
            <a:avLst>
              <a:gd name="adj" fmla="val 50000"/>
            </a:avLst>
          </a:prstGeom>
          <a:solidFill>
            <a:srgbClr val="FBF3DD"/>
          </a:solidFill>
          <a:ln w="9525">
            <a:solidFill>
              <a:srgbClr val="E9C46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"/>
          <p:cNvSpPr txBox="1"/>
          <p:nvPr/>
        </p:nvSpPr>
        <p:spPr>
          <a:xfrm>
            <a:off x="4023360" y="3200400"/>
            <a:ext cx="10378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50" b="1" dirty="0">
                <a:solidFill>
                  <a:srgbClr val="9A69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Valuaciones</a:t>
            </a:r>
          </a:p>
        </p:txBody>
      </p:sp>
      <p:sp>
        <p:nvSpPr>
          <p:cNvPr id="117" name="Text"/>
          <p:cNvSpPr txBox="1"/>
          <p:nvPr/>
        </p:nvSpPr>
        <p:spPr>
          <a:xfrm>
            <a:off x="502920" y="3730752"/>
            <a:ext cx="5257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10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RESUELVE</a:t>
            </a:r>
          </a:p>
        </p:txBody>
      </p:sp>
      <p:sp>
        <p:nvSpPr>
          <p:cNvPr id="118" name="Text"/>
          <p:cNvSpPr txBox="1"/>
          <p:nvPr/>
        </p:nvSpPr>
        <p:spPr>
          <a:xfrm>
            <a:off x="502920" y="4032504"/>
            <a:ext cx="52578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0000"/>
              </a:lnSpc>
              <a:spcAft>
                <a:spcPts val="600"/>
              </a:spcAft>
              <a:buClr>
                <a:srgbClr val="C0392B"/>
              </a:buClr>
              <a:buSzPct val="100000"/>
              <a:buChar char="•"/>
            </a:pPr>
            <a:r>
              <a:rPr lang="es-VE" sz="120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está dispersa en Excel, portales externos y registros a mano.</a:t>
            </a:r>
          </a:p>
          <a:p>
            <a:pPr marL="177800" indent="-177800" algn="l">
              <a:lnSpc>
                <a:spcPct val="110000"/>
              </a:lnSpc>
              <a:spcAft>
                <a:spcPts val="600"/>
              </a:spcAft>
              <a:buClr>
                <a:srgbClr val="C0392B"/>
              </a:buClr>
              <a:buSzPct val="100000"/>
              <a:buChar char="•"/>
            </a:pPr>
            <a:r>
              <a:rPr lang="es-VE" sz="120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equipos y vehículos están registrados varias veces, cada uno de forma distinta.</a:t>
            </a:r>
          </a:p>
          <a:p>
            <a:pPr marL="177800" indent="-177800" algn="l">
              <a:lnSpc>
                <a:spcPct val="110000"/>
              </a:lnSpc>
              <a:spcAft>
                <a:spcPts val="600"/>
              </a:spcAft>
              <a:buClr>
                <a:srgbClr val="C0392B"/>
              </a:buClr>
              <a:buSzPct val="100000"/>
              <a:buChar char="•"/>
            </a:pPr>
            <a:r>
              <a:rPr lang="es-VE" sz="120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reportes y alertas dependen de que alguien los arme o los revise.</a:t>
            </a:r>
          </a:p>
          <a:p>
            <a:pPr marL="177800" indent="-177800" algn="l">
              <a:lnSpc>
                <a:spcPct val="110000"/>
              </a:lnSpc>
              <a:spcAft>
                <a:spcPts val="600"/>
              </a:spcAft>
              <a:buClr>
                <a:srgbClr val="C0392B"/>
              </a:buClr>
              <a:buSzPct val="100000"/>
              <a:buChar char="•"/>
            </a:pPr>
            <a:r>
              <a:rPr lang="es-VE" sz="120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no tiene una vista consolidada de la operación.</a:t>
            </a:r>
          </a:p>
        </p:txBody>
      </p:sp>
      <p:sp>
        <p:nvSpPr>
          <p:cNvPr id="119" name="Text"/>
          <p:cNvSpPr txBox="1"/>
          <p:nvPr/>
        </p:nvSpPr>
        <p:spPr>
          <a:xfrm>
            <a:off x="6172200" y="1783080"/>
            <a:ext cx="556229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10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</a:p>
        </p:txBody>
      </p:sp>
      <p:sp>
        <p:nvSpPr>
          <p:cNvPr id="120" name="Shape"/>
          <p:cNvSpPr/>
          <p:nvPr/>
        </p:nvSpPr>
        <p:spPr>
          <a:xfrm>
            <a:off x="6172200" y="2103120"/>
            <a:ext cx="5562295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Shape"/>
          <p:cNvSpPr/>
          <p:nvPr/>
        </p:nvSpPr>
        <p:spPr>
          <a:xfrm>
            <a:off x="6318504" y="2203704"/>
            <a:ext cx="438912" cy="438912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"/>
          <p:cNvSpPr txBox="1"/>
          <p:nvPr/>
        </p:nvSpPr>
        <p:spPr>
          <a:xfrm>
            <a:off x="6318504" y="22037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500" dirty="0">
                <a:solidFill>
                  <a:srgbClr val="000000"/>
                </a:solidFill>
              </a:rPr>
              <a:t>🗂️</a:t>
            </a:r>
          </a:p>
        </p:txBody>
      </p:sp>
      <p:sp>
        <p:nvSpPr>
          <p:cNvPr id="123" name="Text"/>
          <p:cNvSpPr txBox="1"/>
          <p:nvPr/>
        </p:nvSpPr>
        <p:spPr>
          <a:xfrm>
            <a:off x="6922008" y="2167128"/>
            <a:ext cx="4647895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sola fuente de verdad</a:t>
            </a:r>
          </a:p>
          <a:p>
            <a:pPr marL="0" indent="0" algn="l">
              <a:buNone/>
            </a:pPr>
            <a:r>
              <a:rPr lang="es-VE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único de unidades y datos, compartido por todas las áreas.</a:t>
            </a:r>
          </a:p>
        </p:txBody>
      </p:sp>
      <p:sp>
        <p:nvSpPr>
          <p:cNvPr id="124" name="Shape"/>
          <p:cNvSpPr/>
          <p:nvPr/>
        </p:nvSpPr>
        <p:spPr>
          <a:xfrm>
            <a:off x="6172200" y="2825496"/>
            <a:ext cx="5562295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5" name="Shape"/>
          <p:cNvSpPr/>
          <p:nvPr/>
        </p:nvSpPr>
        <p:spPr>
          <a:xfrm>
            <a:off x="6318504" y="2926080"/>
            <a:ext cx="438912" cy="438912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"/>
          <p:cNvSpPr txBox="1"/>
          <p:nvPr/>
        </p:nvSpPr>
        <p:spPr>
          <a:xfrm>
            <a:off x="6318504" y="292608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500" dirty="0">
                <a:solidFill>
                  <a:srgbClr val="000000"/>
                </a:solidFill>
              </a:rPr>
              <a:t>📡</a:t>
            </a:r>
          </a:p>
        </p:txBody>
      </p:sp>
      <p:sp>
        <p:nvSpPr>
          <p:cNvPr id="127" name="Text"/>
          <p:cNvSpPr txBox="1"/>
          <p:nvPr/>
        </p:nvSpPr>
        <p:spPr>
          <a:xfrm>
            <a:off x="6922008" y="2889504"/>
            <a:ext cx="4647895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en tiempo real</a:t>
            </a:r>
          </a:p>
          <a:p>
            <a:pPr marL="0" indent="0" algn="l">
              <a:buNone/>
            </a:pPr>
            <a:r>
              <a:rPr lang="es-VE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unidades monitoreadas por GPS, con alertas automáticas de geocerca y horario.</a:t>
            </a:r>
          </a:p>
        </p:txBody>
      </p:sp>
      <p:sp>
        <p:nvSpPr>
          <p:cNvPr id="128" name="Shape"/>
          <p:cNvSpPr/>
          <p:nvPr/>
        </p:nvSpPr>
        <p:spPr>
          <a:xfrm>
            <a:off x="6172200" y="3547872"/>
            <a:ext cx="5562295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9" name="Shape"/>
          <p:cNvSpPr/>
          <p:nvPr/>
        </p:nvSpPr>
        <p:spPr>
          <a:xfrm>
            <a:off x="6318504" y="3648456"/>
            <a:ext cx="438912" cy="438912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"/>
          <p:cNvSpPr txBox="1"/>
          <p:nvPr/>
        </p:nvSpPr>
        <p:spPr>
          <a:xfrm>
            <a:off x="6318504" y="364845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500" dirty="0">
                <a:solidFill>
                  <a:srgbClr val="000000"/>
                </a:solidFill>
              </a:rPr>
              <a:t>⚙️</a:t>
            </a:r>
          </a:p>
        </p:txBody>
      </p:sp>
      <p:sp>
        <p:nvSpPr>
          <p:cNvPr id="131" name="Text"/>
          <p:cNvSpPr txBox="1"/>
          <p:nvPr/>
        </p:nvSpPr>
        <p:spPr>
          <a:xfrm>
            <a:off x="6922008" y="3611880"/>
            <a:ext cx="4647895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</a:t>
            </a:r>
          </a:p>
          <a:p>
            <a:pPr marL="0" indent="0" algn="l">
              <a:buNone/>
            </a:pPr>
            <a:r>
              <a:rPr lang="es-VE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turno solos por Telegram; horas y combustible calculados sin fórmulas manuales.</a:t>
            </a:r>
          </a:p>
        </p:txBody>
      </p:sp>
      <p:sp>
        <p:nvSpPr>
          <p:cNvPr id="132" name="Shape"/>
          <p:cNvSpPr/>
          <p:nvPr/>
        </p:nvSpPr>
        <p:spPr>
          <a:xfrm>
            <a:off x="6172200" y="4270248"/>
            <a:ext cx="5562295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3" name="Shape"/>
          <p:cNvSpPr/>
          <p:nvPr/>
        </p:nvSpPr>
        <p:spPr>
          <a:xfrm>
            <a:off x="6318504" y="4370832"/>
            <a:ext cx="438912" cy="438912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"/>
          <p:cNvSpPr txBox="1"/>
          <p:nvPr/>
        </p:nvSpPr>
        <p:spPr>
          <a:xfrm>
            <a:off x="6318504" y="43708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500" dirty="0">
                <a:solidFill>
                  <a:srgbClr val="000000"/>
                </a:solidFill>
              </a:rPr>
              <a:t>🔒</a:t>
            </a:r>
          </a:p>
        </p:txBody>
      </p:sp>
      <p:sp>
        <p:nvSpPr>
          <p:cNvPr id="135" name="Text"/>
          <p:cNvSpPr txBox="1"/>
          <p:nvPr/>
        </p:nvSpPr>
        <p:spPr>
          <a:xfrm>
            <a:off x="6922008" y="4334256"/>
            <a:ext cx="4647895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Trazabilidad</a:t>
            </a:r>
          </a:p>
          <a:p>
            <a:pPr marL="0" indent="0" algn="l">
              <a:buNone/>
            </a:pPr>
            <a:r>
              <a:rPr lang="es-VE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registro guarda quién lo hizo y su respaldo (ej. foto del ticket); cada rol ve solo lo suyo.</a:t>
            </a:r>
          </a:p>
        </p:txBody>
      </p:sp>
      <p:sp>
        <p:nvSpPr>
          <p:cNvPr id="136" name="Shape"/>
          <p:cNvSpPr/>
          <p:nvPr/>
        </p:nvSpPr>
        <p:spPr>
          <a:xfrm>
            <a:off x="6172200" y="4992624"/>
            <a:ext cx="5562295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7" name="Shape"/>
          <p:cNvSpPr/>
          <p:nvPr/>
        </p:nvSpPr>
        <p:spPr>
          <a:xfrm>
            <a:off x="6318504" y="5093208"/>
            <a:ext cx="438912" cy="438912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"/>
          <p:cNvSpPr txBox="1"/>
          <p:nvPr/>
        </p:nvSpPr>
        <p:spPr>
          <a:xfrm>
            <a:off x="6318504" y="509320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500" dirty="0">
                <a:solidFill>
                  <a:srgbClr val="000000"/>
                </a:solidFill>
              </a:rPr>
              <a:t>📈</a:t>
            </a:r>
          </a:p>
        </p:txBody>
      </p:sp>
      <p:sp>
        <p:nvSpPr>
          <p:cNvPr id="139" name="Text"/>
          <p:cNvSpPr txBox="1"/>
          <p:nvPr/>
        </p:nvSpPr>
        <p:spPr>
          <a:xfrm>
            <a:off x="6922008" y="5056632"/>
            <a:ext cx="4647895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para decisiones</a:t>
            </a:r>
          </a:p>
          <a:p>
            <a:pPr marL="0" indent="0" algn="l">
              <a:buNone/>
            </a:pPr>
            <a:r>
              <a:rPr lang="es-VE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consumo, horas y comportamiento de la flota construidos con datos reales.</a:t>
            </a:r>
          </a:p>
        </p:txBody>
      </p:sp>
      <p:sp>
        <p:nvSpPr>
          <p:cNvPr id="140" name="Shape"/>
          <p:cNvSpPr/>
          <p:nvPr/>
        </p:nvSpPr>
        <p:spPr>
          <a:xfrm>
            <a:off x="457200" y="5897880"/>
            <a:ext cx="11277295" cy="658368"/>
          </a:xfrm>
          <a:prstGeom prst="roundRect">
            <a:avLst>
              <a:gd name="adj" fmla="val 12000"/>
            </a:avLst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"/>
          <p:cNvSpPr txBox="1"/>
          <p:nvPr/>
        </p:nvSpPr>
        <p:spPr>
          <a:xfrm>
            <a:off x="685800" y="5971032"/>
            <a:ext cx="1371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s-VE" sz="900" b="1" spc="12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1 completa</a:t>
            </a:r>
          </a:p>
        </p:txBody>
      </p:sp>
      <p:sp>
        <p:nvSpPr>
          <p:cNvPr id="142" name="Text"/>
          <p:cNvSpPr txBox="1"/>
          <p:nvPr/>
        </p:nvSpPr>
        <p:spPr>
          <a:xfrm>
            <a:off x="2240280" y="5971032"/>
            <a:ext cx="33375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s-VE" sz="900" b="1" spc="12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V1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 · Tracker GPS · Control de Horas · Reportes · Seguridad</a:t>
            </a:r>
          </a:p>
        </p:txBody>
      </p:sp>
      <p:sp>
        <p:nvSpPr>
          <p:cNvPr id="143" name="Text"/>
          <p:cNvSpPr txBox="1"/>
          <p:nvPr/>
        </p:nvSpPr>
        <p:spPr>
          <a:xfrm>
            <a:off x="5760720" y="5971032"/>
            <a:ext cx="2560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s-VE" sz="900" b="1" spc="12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a producción · App móvil · Tarifas de rentabilidad</a:t>
            </a:r>
          </a:p>
        </p:txBody>
      </p:sp>
      <p:sp>
        <p:nvSpPr>
          <p:cNvPr id="144" name="Text"/>
          <p:cNvSpPr txBox="1"/>
          <p:nvPr/>
        </p:nvSpPr>
        <p:spPr>
          <a:xfrm>
            <a:off x="8503920" y="5971032"/>
            <a:ext cx="28346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s-VE" sz="900" b="1" spc="12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Node.js · PostgreSQL · GPS Foresight/GEvolution · Telegram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EXUS modulos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"/>
          <p:cNvSpPr txBox="1"/>
          <p:nvPr/>
        </p:nvSpPr>
        <p:spPr>
          <a:xfrm>
            <a:off x="457200" y="41148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20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MÓDULOS DE LA VERSIÓN 1</a:t>
            </a:r>
          </a:p>
        </p:txBody>
      </p:sp>
      <p:sp>
        <p:nvSpPr>
          <p:cNvPr id="102" name="Text"/>
          <p:cNvSpPr txBox="1"/>
          <p:nvPr/>
        </p:nvSpPr>
        <p:spPr>
          <a:xfrm>
            <a:off x="457200" y="658368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30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sistema, cinco módulos</a:t>
            </a:r>
          </a:p>
        </p:txBody>
      </p:sp>
      <p:sp>
        <p:nvSpPr>
          <p:cNvPr id="103" name="Text"/>
          <p:cNvSpPr txBox="1"/>
          <p:nvPr/>
        </p:nvSpPr>
        <p:spPr>
          <a:xfrm>
            <a:off x="457200" y="11521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25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inicio del sistema web: cada módulo a un clic desde el panel de FullPetro</a:t>
            </a:r>
          </a:p>
        </p:txBody>
      </p:sp>
      <p:pic>
        <p:nvPicPr>
          <p:cNvPr id="104" name="Image" descr="Logo NEXU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956" y="384048"/>
            <a:ext cx="1195539" cy="868680"/>
          </a:xfrm>
          <a:prstGeom prst="rect">
            <a:avLst/>
          </a:prstGeom>
        </p:spPr>
      </p:pic>
      <p:sp>
        <p:nvSpPr>
          <p:cNvPr id="105" name="Line"/>
          <p:cNvSpPr/>
          <p:nvPr/>
        </p:nvSpPr>
        <p:spPr>
          <a:xfrm>
            <a:off x="457200" y="1572768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Shape"/>
          <p:cNvSpPr/>
          <p:nvPr/>
        </p:nvSpPr>
        <p:spPr>
          <a:xfrm>
            <a:off x="457200" y="1810512"/>
            <a:ext cx="6858000" cy="246415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7" name="Image" descr="Pantalla de inicio de NEXU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83664"/>
            <a:ext cx="6711696" cy="2317853"/>
          </a:xfrm>
          <a:prstGeom prst="rect">
            <a:avLst/>
          </a:prstGeom>
        </p:spPr>
      </p:pic>
      <p:sp>
        <p:nvSpPr>
          <p:cNvPr id="108" name="Text"/>
          <p:cNvSpPr txBox="1"/>
          <p:nvPr/>
        </p:nvSpPr>
        <p:spPr>
          <a:xfrm>
            <a:off x="530352" y="4366109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0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INICIO</a:t>
            </a:r>
            <a:r>
              <a:rPr lang="es-VE" sz="1050" spc="10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vista del usuario administrador</a:t>
            </a:r>
          </a:p>
        </p:txBody>
      </p:sp>
      <p:sp>
        <p:nvSpPr>
          <p:cNvPr id="109" name="Text"/>
          <p:cNvSpPr txBox="1"/>
          <p:nvPr/>
        </p:nvSpPr>
        <p:spPr>
          <a:xfrm>
            <a:off x="530352" y="4777589"/>
            <a:ext cx="6858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10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COMPARTEN TODOS LOS MÓDULOS</a:t>
            </a:r>
          </a:p>
        </p:txBody>
      </p:sp>
      <p:sp>
        <p:nvSpPr>
          <p:cNvPr id="110" name="Shape"/>
          <p:cNvSpPr/>
          <p:nvPr/>
        </p:nvSpPr>
        <p:spPr>
          <a:xfrm>
            <a:off x="457200" y="5106773"/>
            <a:ext cx="2194560" cy="116601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"/>
          <p:cNvSpPr/>
          <p:nvPr/>
        </p:nvSpPr>
        <p:spPr>
          <a:xfrm>
            <a:off x="594360" y="5243933"/>
            <a:ext cx="329184" cy="329184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2" name="Image" descr="Registro únic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307941"/>
            <a:ext cx="201168" cy="201168"/>
          </a:xfrm>
          <a:prstGeom prst="rect">
            <a:avLst/>
          </a:prstGeom>
        </p:spPr>
      </p:pic>
      <p:sp>
        <p:nvSpPr>
          <p:cNvPr id="113" name="Text"/>
          <p:cNvSpPr txBox="1"/>
          <p:nvPr/>
        </p:nvSpPr>
        <p:spPr>
          <a:xfrm>
            <a:off x="1005840" y="5243933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único</a:t>
            </a:r>
          </a:p>
        </p:txBody>
      </p:sp>
      <p:sp>
        <p:nvSpPr>
          <p:cNvPr id="114" name="Text"/>
          <p:cNvSpPr txBox="1"/>
          <p:nvPr/>
        </p:nvSpPr>
        <p:spPr>
          <a:xfrm>
            <a:off x="594360" y="5655413"/>
            <a:ext cx="1920240" cy="5259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s-VE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y equipos se registran una sola vez para todo el sistema.</a:t>
            </a:r>
          </a:p>
        </p:txBody>
      </p:sp>
      <p:sp>
        <p:nvSpPr>
          <p:cNvPr id="115" name="Shape"/>
          <p:cNvSpPr/>
          <p:nvPr/>
        </p:nvSpPr>
        <p:spPr>
          <a:xfrm>
            <a:off x="2788920" y="5106773"/>
            <a:ext cx="2194560" cy="116601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"/>
          <p:cNvSpPr/>
          <p:nvPr/>
        </p:nvSpPr>
        <p:spPr>
          <a:xfrm>
            <a:off x="2926080" y="5243933"/>
            <a:ext cx="329184" cy="329184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7" name="Image" descr="Acceso por ro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088" y="5307941"/>
            <a:ext cx="201168" cy="201168"/>
          </a:xfrm>
          <a:prstGeom prst="rect">
            <a:avLst/>
          </a:prstGeom>
        </p:spPr>
      </p:pic>
      <p:sp>
        <p:nvSpPr>
          <p:cNvPr id="118" name="Text"/>
          <p:cNvSpPr txBox="1"/>
          <p:nvPr/>
        </p:nvSpPr>
        <p:spPr>
          <a:xfrm>
            <a:off x="3337560" y="5243933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por rol</a:t>
            </a:r>
          </a:p>
        </p:txBody>
      </p:sp>
      <p:sp>
        <p:nvSpPr>
          <p:cNvPr id="119" name="Text"/>
          <p:cNvSpPr txBox="1"/>
          <p:nvPr/>
        </p:nvSpPr>
        <p:spPr>
          <a:xfrm>
            <a:off x="2926080" y="5655413"/>
            <a:ext cx="1920240" cy="5259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s-VE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perfil ve solo los módulos y datos que le corresponden.</a:t>
            </a:r>
          </a:p>
        </p:txBody>
      </p:sp>
      <p:sp>
        <p:nvSpPr>
          <p:cNvPr id="120" name="Shape"/>
          <p:cNvSpPr/>
          <p:nvPr/>
        </p:nvSpPr>
        <p:spPr>
          <a:xfrm>
            <a:off x="5120640" y="5106773"/>
            <a:ext cx="2194560" cy="1166011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"/>
          <p:cNvSpPr/>
          <p:nvPr/>
        </p:nvSpPr>
        <p:spPr>
          <a:xfrm>
            <a:off x="5257800" y="5243933"/>
            <a:ext cx="329184" cy="329184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22" name="Image" descr="Indicadores comun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5307941"/>
            <a:ext cx="201168" cy="201168"/>
          </a:xfrm>
          <a:prstGeom prst="rect">
            <a:avLst/>
          </a:prstGeom>
        </p:spPr>
      </p:pic>
      <p:sp>
        <p:nvSpPr>
          <p:cNvPr id="123" name="Text"/>
          <p:cNvSpPr txBox="1"/>
          <p:nvPr/>
        </p:nvSpPr>
        <p:spPr>
          <a:xfrm>
            <a:off x="5669280" y="5243933"/>
            <a:ext cx="1554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comunes</a:t>
            </a:r>
          </a:p>
        </p:txBody>
      </p:sp>
      <p:sp>
        <p:nvSpPr>
          <p:cNvPr id="124" name="Text"/>
          <p:cNvSpPr txBox="1"/>
          <p:nvPr/>
        </p:nvSpPr>
        <p:spPr>
          <a:xfrm>
            <a:off x="5257800" y="5655413"/>
            <a:ext cx="1920240" cy="5259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s-VE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Consumo, horas y flota calculados sobre los mismos datos.</a:t>
            </a:r>
          </a:p>
        </p:txBody>
      </p:sp>
      <p:sp>
        <p:nvSpPr>
          <p:cNvPr id="125" name="Text"/>
          <p:cNvSpPr txBox="1"/>
          <p:nvPr/>
        </p:nvSpPr>
        <p:spPr>
          <a:xfrm>
            <a:off x="7635240" y="1810512"/>
            <a:ext cx="409925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10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</a:p>
        </p:txBody>
      </p:sp>
      <p:sp>
        <p:nvSpPr>
          <p:cNvPr id="126" name="Shape"/>
          <p:cNvSpPr/>
          <p:nvPr/>
        </p:nvSpPr>
        <p:spPr>
          <a:xfrm>
            <a:off x="7635240" y="2121408"/>
            <a:ext cx="4099255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7" name="Shape"/>
          <p:cNvSpPr/>
          <p:nvPr/>
        </p:nvSpPr>
        <p:spPr>
          <a:xfrm>
            <a:off x="7781544" y="2272284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28" name="Image" descr="Combustib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0416" y="2391156"/>
            <a:ext cx="237744" cy="237744"/>
          </a:xfrm>
          <a:prstGeom prst="rect">
            <a:avLst/>
          </a:prstGeom>
        </p:spPr>
      </p:pic>
      <p:sp>
        <p:nvSpPr>
          <p:cNvPr id="129" name="Text"/>
          <p:cNvSpPr txBox="1"/>
          <p:nvPr/>
        </p:nvSpPr>
        <p:spPr>
          <a:xfrm>
            <a:off x="8403336" y="2194560"/>
            <a:ext cx="3184855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Combustible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Llenados, tanque de gasoil y unidades, con respaldo de cada registro.</a:t>
            </a:r>
          </a:p>
        </p:txBody>
      </p:sp>
      <p:sp>
        <p:nvSpPr>
          <p:cNvPr id="130" name="Shape"/>
          <p:cNvSpPr/>
          <p:nvPr/>
        </p:nvSpPr>
        <p:spPr>
          <a:xfrm>
            <a:off x="7635240" y="2980944"/>
            <a:ext cx="4099255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1" name="Shape"/>
          <p:cNvSpPr/>
          <p:nvPr/>
        </p:nvSpPr>
        <p:spPr>
          <a:xfrm>
            <a:off x="7781544" y="3131820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2" name="Image" descr="Tracker GP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0416" y="3250692"/>
            <a:ext cx="237744" cy="237744"/>
          </a:xfrm>
          <a:prstGeom prst="rect">
            <a:avLst/>
          </a:prstGeom>
        </p:spPr>
      </p:pic>
      <p:sp>
        <p:nvSpPr>
          <p:cNvPr id="133" name="Text"/>
          <p:cNvSpPr txBox="1"/>
          <p:nvPr/>
        </p:nvSpPr>
        <p:spPr>
          <a:xfrm>
            <a:off x="8403336" y="3054096"/>
            <a:ext cx="3184855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 GPS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flota, alertas y mapa en vivo; reportes de turno por Telegram.</a:t>
            </a:r>
          </a:p>
        </p:txBody>
      </p:sp>
      <p:sp>
        <p:nvSpPr>
          <p:cNvPr id="134" name="Shape"/>
          <p:cNvSpPr/>
          <p:nvPr/>
        </p:nvSpPr>
        <p:spPr>
          <a:xfrm>
            <a:off x="7635240" y="3840480"/>
            <a:ext cx="4099255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5" name="Shape"/>
          <p:cNvSpPr/>
          <p:nvPr/>
        </p:nvSpPr>
        <p:spPr>
          <a:xfrm>
            <a:off x="7781544" y="3991356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6" name="Image" descr="Control de Hora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0416" y="4110228"/>
            <a:ext cx="237744" cy="237744"/>
          </a:xfrm>
          <a:prstGeom prst="rect">
            <a:avLst/>
          </a:prstGeom>
        </p:spPr>
      </p:pic>
      <p:sp>
        <p:nvSpPr>
          <p:cNvPr id="137" name="Text"/>
          <p:cNvSpPr txBox="1"/>
          <p:nvPr/>
        </p:nvSpPr>
        <p:spPr>
          <a:xfrm>
            <a:off x="8403336" y="3913632"/>
            <a:ext cx="3184855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Horas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diario por proyecto y equipo, sin fórmulas manuales.</a:t>
            </a:r>
          </a:p>
        </p:txBody>
      </p:sp>
      <p:sp>
        <p:nvSpPr>
          <p:cNvPr id="138" name="Shape"/>
          <p:cNvSpPr/>
          <p:nvPr/>
        </p:nvSpPr>
        <p:spPr>
          <a:xfrm>
            <a:off x="7635240" y="4700016"/>
            <a:ext cx="4099255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9" name="Shape"/>
          <p:cNvSpPr/>
          <p:nvPr/>
        </p:nvSpPr>
        <p:spPr>
          <a:xfrm>
            <a:off x="7781544" y="4850892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0" name="Image" descr="Reporte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0416" y="4969764"/>
            <a:ext cx="237744" cy="237744"/>
          </a:xfrm>
          <a:prstGeom prst="rect">
            <a:avLst/>
          </a:prstGeom>
        </p:spPr>
      </p:pic>
      <p:sp>
        <p:nvSpPr>
          <p:cNvPr id="141" name="Text"/>
          <p:cNvSpPr txBox="1"/>
          <p:nvPr/>
        </p:nvSpPr>
        <p:spPr>
          <a:xfrm>
            <a:off x="8403336" y="4773168"/>
            <a:ext cx="3184855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combustible y horas trabajadas para gerencia.</a:t>
            </a:r>
          </a:p>
        </p:txBody>
      </p:sp>
      <p:sp>
        <p:nvSpPr>
          <p:cNvPr id="142" name="Shape"/>
          <p:cNvSpPr/>
          <p:nvPr/>
        </p:nvSpPr>
        <p:spPr>
          <a:xfrm>
            <a:off x="7635240" y="5559552"/>
            <a:ext cx="4099255" cy="7772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3" name="Shape"/>
          <p:cNvSpPr/>
          <p:nvPr/>
        </p:nvSpPr>
        <p:spPr>
          <a:xfrm>
            <a:off x="7781544" y="5710428"/>
            <a:ext cx="475488" cy="475488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4" name="Image" descr="Segurida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0416" y="5829300"/>
            <a:ext cx="237744" cy="237744"/>
          </a:xfrm>
          <a:prstGeom prst="rect">
            <a:avLst/>
          </a:prstGeom>
        </p:spPr>
      </p:pic>
      <p:sp>
        <p:nvSpPr>
          <p:cNvPr id="145" name="Text"/>
          <p:cNvSpPr txBox="1"/>
          <p:nvPr/>
        </p:nvSpPr>
        <p:spPr>
          <a:xfrm>
            <a:off x="8403336" y="5632704"/>
            <a:ext cx="3184855" cy="6309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roles y permisos: quién entra y qué puede 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busti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2" name="Image" descr="Combusti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9768"/>
            <a:ext cx="219456" cy="219456"/>
          </a:xfrm>
          <a:prstGeom prst="rect">
            <a:avLst/>
          </a:prstGeom>
        </p:spPr>
      </p:pic>
      <p:sp>
        <p:nvSpPr>
          <p:cNvPr id="103" name="Text"/>
          <p:cNvSpPr txBox="1"/>
          <p:nvPr/>
        </p:nvSpPr>
        <p:spPr>
          <a:xfrm>
            <a:off x="1005840" y="2560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25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Combustible · Flota Liviana</a:t>
            </a:r>
          </a:p>
        </p:txBody>
      </p:sp>
      <p:sp>
        <p:nvSpPr>
          <p:cNvPr id="104" name="Shape"/>
          <p:cNvSpPr/>
          <p:nvPr/>
        </p:nvSpPr>
        <p:spPr>
          <a:xfrm>
            <a:off x="9997135" y="3657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F1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"/>
          <p:cNvSpPr txBox="1"/>
          <p:nvPr/>
        </p:nvSpPr>
        <p:spPr>
          <a:xfrm>
            <a:off x="9997135" y="365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 01</a:t>
            </a:r>
          </a:p>
        </p:txBody>
      </p:sp>
      <p:sp>
        <p:nvSpPr>
          <p:cNvPr id="106" name="Line"/>
          <p:cNvSpPr/>
          <p:nvPr/>
        </p:nvSpPr>
        <p:spPr>
          <a:xfrm>
            <a:off x="457200" y="896112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"/>
          <p:cNvSpPr/>
          <p:nvPr/>
        </p:nvSpPr>
        <p:spPr>
          <a:xfrm>
            <a:off x="457200" y="1143000"/>
            <a:ext cx="7589520" cy="373216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8" name="Image" descr="Pantalla del módulo Combusti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16152"/>
            <a:ext cx="7443216" cy="3585865"/>
          </a:xfrm>
          <a:prstGeom prst="rect">
            <a:avLst/>
          </a:prstGeom>
        </p:spPr>
      </p:pic>
      <p:sp>
        <p:nvSpPr>
          <p:cNvPr id="109" name="Text"/>
          <p:cNvSpPr txBox="1"/>
          <p:nvPr/>
        </p:nvSpPr>
        <p:spPr>
          <a:xfrm>
            <a:off x="530352" y="4966609"/>
            <a:ext cx="7589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0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LLENADOS</a:t>
            </a:r>
            <a:r>
              <a:rPr lang="es-VE" sz="1050" spc="10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filtros, totales y respaldo de cada carga</a:t>
            </a:r>
          </a:p>
        </p:txBody>
      </p:sp>
      <p:sp>
        <p:nvSpPr>
          <p:cNvPr id="110" name="Shape"/>
          <p:cNvSpPr/>
          <p:nvPr/>
        </p:nvSpPr>
        <p:spPr>
          <a:xfrm>
            <a:off x="457200" y="5378089"/>
            <a:ext cx="243840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"/>
          <p:cNvSpPr/>
          <p:nvPr/>
        </p:nvSpPr>
        <p:spPr>
          <a:xfrm>
            <a:off x="594360" y="5688985"/>
            <a:ext cx="384048" cy="384048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2" name="Image" descr="Respaldo con fo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771281"/>
            <a:ext cx="219456" cy="219456"/>
          </a:xfrm>
          <a:prstGeom prst="rect">
            <a:avLst/>
          </a:prstGeom>
        </p:spPr>
      </p:pic>
      <p:sp>
        <p:nvSpPr>
          <p:cNvPr id="113" name="Text"/>
          <p:cNvSpPr txBox="1"/>
          <p:nvPr/>
        </p:nvSpPr>
        <p:spPr>
          <a:xfrm>
            <a:off x="1097280" y="5451241"/>
            <a:ext cx="170688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Respaldo con foto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llenado guarda la foto del ticket.</a:t>
            </a:r>
          </a:p>
        </p:txBody>
      </p:sp>
      <p:sp>
        <p:nvSpPr>
          <p:cNvPr id="114" name="Shape"/>
          <p:cNvSpPr/>
          <p:nvPr/>
        </p:nvSpPr>
        <p:spPr>
          <a:xfrm>
            <a:off x="3032760" y="5378089"/>
            <a:ext cx="243840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"/>
          <p:cNvSpPr/>
          <p:nvPr/>
        </p:nvSpPr>
        <p:spPr>
          <a:xfrm>
            <a:off x="3169920" y="5688985"/>
            <a:ext cx="384048" cy="384048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6" name="Image" descr="Totales al instan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2216" y="5771281"/>
            <a:ext cx="219456" cy="219456"/>
          </a:xfrm>
          <a:prstGeom prst="rect">
            <a:avLst/>
          </a:prstGeom>
        </p:spPr>
      </p:pic>
      <p:sp>
        <p:nvSpPr>
          <p:cNvPr id="117" name="Text"/>
          <p:cNvSpPr txBox="1"/>
          <p:nvPr/>
        </p:nvSpPr>
        <p:spPr>
          <a:xfrm>
            <a:off x="3672840" y="5451241"/>
            <a:ext cx="170688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Totales al instante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Litros y monto se suman solos según el filtro.</a:t>
            </a:r>
          </a:p>
        </p:txBody>
      </p:sp>
      <p:sp>
        <p:nvSpPr>
          <p:cNvPr id="118" name="Shape"/>
          <p:cNvSpPr/>
          <p:nvPr/>
        </p:nvSpPr>
        <p:spPr>
          <a:xfrm>
            <a:off x="5608320" y="5378089"/>
            <a:ext cx="243840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"/>
          <p:cNvSpPr/>
          <p:nvPr/>
        </p:nvSpPr>
        <p:spPr>
          <a:xfrm>
            <a:off x="5745480" y="5688985"/>
            <a:ext cx="384048" cy="384048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20" name="Image" descr="Exportab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7776" y="5771281"/>
            <a:ext cx="219456" cy="219456"/>
          </a:xfrm>
          <a:prstGeom prst="rect">
            <a:avLst/>
          </a:prstGeom>
        </p:spPr>
      </p:pic>
      <p:sp>
        <p:nvSpPr>
          <p:cNvPr id="121" name="Text"/>
          <p:cNvSpPr txBox="1"/>
          <p:nvPr/>
        </p:nvSpPr>
        <p:spPr>
          <a:xfrm>
            <a:off x="6248400" y="5451241"/>
            <a:ext cx="170688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Exportable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filtrado se descarga en Excel con un clic.</a:t>
            </a:r>
          </a:p>
        </p:txBody>
      </p:sp>
      <p:sp>
        <p:nvSpPr>
          <p:cNvPr id="122" name="Text"/>
          <p:cNvSpPr txBox="1"/>
          <p:nvPr/>
        </p:nvSpPr>
        <p:spPr>
          <a:xfrm>
            <a:off x="8366760" y="1143000"/>
            <a:ext cx="336773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</a:t>
            </a:r>
          </a:p>
        </p:txBody>
      </p:sp>
      <p:sp>
        <p:nvSpPr>
          <p:cNvPr id="123" name="Text"/>
          <p:cNvSpPr txBox="1"/>
          <p:nvPr/>
        </p:nvSpPr>
        <p:spPr>
          <a:xfrm>
            <a:off x="8366760" y="1472184"/>
            <a:ext cx="3367735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llenado con su ID de transacción, fecha, hora, unidad, responsable, tipo de combustible, litros y monto.</a:t>
            </a: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rango de fechas, unidad y responsable.</a:t>
            </a: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del período filtrado en litros y dólares.</a:t>
            </a:r>
          </a:p>
        </p:txBody>
      </p:sp>
      <p:sp>
        <p:nvSpPr>
          <p:cNvPr id="124" name="Text"/>
          <p:cNvSpPr txBox="1"/>
          <p:nvPr/>
        </p:nvSpPr>
        <p:spPr>
          <a:xfrm>
            <a:off x="8366760" y="3017520"/>
            <a:ext cx="336773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USA</a:t>
            </a:r>
          </a:p>
        </p:txBody>
      </p:sp>
      <p:sp>
        <p:nvSpPr>
          <p:cNvPr id="125" name="Text"/>
          <p:cNvSpPr txBox="1"/>
          <p:nvPr/>
        </p:nvSpPr>
        <p:spPr>
          <a:xfrm>
            <a:off x="8366760" y="3346704"/>
            <a:ext cx="3367735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"Nuevo Llenado" registra la carga y adjunta la foto del ticket.</a:t>
            </a: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registro se puede ver, editar o eliminar desde la misma tabla.</a:t>
            </a: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"Exportar Excel" entrega el reporte listo para compartir.</a:t>
            </a:r>
          </a:p>
        </p:txBody>
      </p:sp>
      <p:sp>
        <p:nvSpPr>
          <p:cNvPr id="126" name="Shape"/>
          <p:cNvSpPr/>
          <p:nvPr/>
        </p:nvSpPr>
        <p:spPr>
          <a:xfrm>
            <a:off x="8366760" y="5378089"/>
            <a:ext cx="3367735" cy="1005840"/>
          </a:xfrm>
          <a:prstGeom prst="roundRect">
            <a:avLst>
              <a:gd name="adj" fmla="val 7000"/>
            </a:avLst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"/>
          <p:cNvSpPr txBox="1"/>
          <p:nvPr/>
        </p:nvSpPr>
        <p:spPr>
          <a:xfrm>
            <a:off x="8549640" y="5469529"/>
            <a:ext cx="300197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s-VE" sz="900" b="1" spc="12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→ AHORA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s-VE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cargas anotadas a mano y en Excel, a registros con responsable, hora y foto, listos para auditar.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lota Pesa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2" name="Image" descr="Flota Pesa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9768"/>
            <a:ext cx="219456" cy="219456"/>
          </a:xfrm>
          <a:prstGeom prst="rect">
            <a:avLst/>
          </a:prstGeom>
        </p:spPr>
      </p:pic>
      <p:sp>
        <p:nvSpPr>
          <p:cNvPr id="103" name="Text"/>
          <p:cNvSpPr txBox="1"/>
          <p:nvPr/>
        </p:nvSpPr>
        <p:spPr>
          <a:xfrm>
            <a:off x="1005840" y="2560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25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Combustible · Flota Pesada</a:t>
            </a:r>
          </a:p>
        </p:txBody>
      </p:sp>
      <p:sp>
        <p:nvSpPr>
          <p:cNvPr id="104" name="Shape"/>
          <p:cNvSpPr/>
          <p:nvPr/>
        </p:nvSpPr>
        <p:spPr>
          <a:xfrm>
            <a:off x="9997135" y="3657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F1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"/>
          <p:cNvSpPr txBox="1"/>
          <p:nvPr/>
        </p:nvSpPr>
        <p:spPr>
          <a:xfrm>
            <a:off x="9997135" y="365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 01</a:t>
            </a:r>
          </a:p>
        </p:txBody>
      </p:sp>
      <p:sp>
        <p:nvSpPr>
          <p:cNvPr id="106" name="Line"/>
          <p:cNvSpPr/>
          <p:nvPr/>
        </p:nvSpPr>
        <p:spPr>
          <a:xfrm>
            <a:off x="457200" y="896112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"/>
          <p:cNvSpPr/>
          <p:nvPr/>
        </p:nvSpPr>
        <p:spPr>
          <a:xfrm>
            <a:off x="457200" y="1143000"/>
            <a:ext cx="6949440" cy="378050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8" name="Image" descr="Pantalla de Combustible Flota Pesad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16152"/>
            <a:ext cx="6803136" cy="3634198"/>
          </a:xfrm>
          <a:prstGeom prst="rect">
            <a:avLst/>
          </a:prstGeom>
        </p:spPr>
      </p:pic>
      <p:sp>
        <p:nvSpPr>
          <p:cNvPr id="109" name="Text"/>
          <p:cNvSpPr txBox="1"/>
          <p:nvPr/>
        </p:nvSpPr>
        <p:spPr>
          <a:xfrm>
            <a:off x="530352" y="5014942"/>
            <a:ext cx="6949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0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CARGAS · PESADA</a:t>
            </a:r>
            <a:r>
              <a:rPr lang="es-VE" sz="1050" spc="10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tanque de gasoil y despachos a equipos</a:t>
            </a:r>
          </a:p>
        </p:txBody>
      </p:sp>
      <p:sp>
        <p:nvSpPr>
          <p:cNvPr id="110" name="Shape"/>
          <p:cNvSpPr/>
          <p:nvPr/>
        </p:nvSpPr>
        <p:spPr>
          <a:xfrm>
            <a:off x="457200" y="5426422"/>
            <a:ext cx="222504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"/>
          <p:cNvSpPr/>
          <p:nvPr/>
        </p:nvSpPr>
        <p:spPr>
          <a:xfrm>
            <a:off x="594360" y="5737318"/>
            <a:ext cx="384048" cy="384048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2" name="Image" descr="Nivel del tanqu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819614"/>
            <a:ext cx="219456" cy="219456"/>
          </a:xfrm>
          <a:prstGeom prst="rect">
            <a:avLst/>
          </a:prstGeom>
        </p:spPr>
      </p:pic>
      <p:sp>
        <p:nvSpPr>
          <p:cNvPr id="113" name="Text"/>
          <p:cNvSpPr txBox="1"/>
          <p:nvPr/>
        </p:nvSpPr>
        <p:spPr>
          <a:xfrm>
            <a:off x="1097280" y="5499574"/>
            <a:ext cx="149352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del tanque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Litros disponibles y % de capacidad, siempre a la vista.</a:t>
            </a:r>
          </a:p>
        </p:txBody>
      </p:sp>
      <p:sp>
        <p:nvSpPr>
          <p:cNvPr id="114" name="Shape"/>
          <p:cNvSpPr/>
          <p:nvPr/>
        </p:nvSpPr>
        <p:spPr>
          <a:xfrm>
            <a:off x="2819400" y="5426422"/>
            <a:ext cx="222504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"/>
          <p:cNvSpPr/>
          <p:nvPr/>
        </p:nvSpPr>
        <p:spPr>
          <a:xfrm>
            <a:off x="2956560" y="5737318"/>
            <a:ext cx="384048" cy="384048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6" name="Image" descr="Galones o litro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8856" y="5819614"/>
            <a:ext cx="219456" cy="219456"/>
          </a:xfrm>
          <a:prstGeom prst="rect">
            <a:avLst/>
          </a:prstGeom>
        </p:spPr>
      </p:pic>
      <p:sp>
        <p:nvSpPr>
          <p:cNvPr id="117" name="Text"/>
          <p:cNvSpPr txBox="1"/>
          <p:nvPr/>
        </p:nvSpPr>
        <p:spPr>
          <a:xfrm>
            <a:off x="3459480" y="5499574"/>
            <a:ext cx="149352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Galones o litros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información en la unidad que se prefiera.</a:t>
            </a:r>
          </a:p>
        </p:txBody>
      </p:sp>
      <p:sp>
        <p:nvSpPr>
          <p:cNvPr id="118" name="Shape"/>
          <p:cNvSpPr/>
          <p:nvPr/>
        </p:nvSpPr>
        <p:spPr>
          <a:xfrm>
            <a:off x="5181600" y="5426422"/>
            <a:ext cx="222504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"/>
          <p:cNvSpPr/>
          <p:nvPr/>
        </p:nvSpPr>
        <p:spPr>
          <a:xfrm>
            <a:off x="5318760" y="5737318"/>
            <a:ext cx="384048" cy="384048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20" name="Image" descr="Horas del equip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1056" y="5819614"/>
            <a:ext cx="219456" cy="219456"/>
          </a:xfrm>
          <a:prstGeom prst="rect">
            <a:avLst/>
          </a:prstGeom>
        </p:spPr>
      </p:pic>
      <p:sp>
        <p:nvSpPr>
          <p:cNvPr id="121" name="Text"/>
          <p:cNvSpPr txBox="1"/>
          <p:nvPr/>
        </p:nvSpPr>
        <p:spPr>
          <a:xfrm>
            <a:off x="5821680" y="5499574"/>
            <a:ext cx="149352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 del equipo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carga registra la medida del horómetro.</a:t>
            </a:r>
          </a:p>
        </p:txBody>
      </p:sp>
      <p:sp>
        <p:nvSpPr>
          <p:cNvPr id="122" name="Text"/>
          <p:cNvSpPr txBox="1"/>
          <p:nvPr/>
        </p:nvSpPr>
        <p:spPr>
          <a:xfrm>
            <a:off x="7726680" y="1143000"/>
            <a:ext cx="400781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</a:t>
            </a:r>
          </a:p>
        </p:txBody>
      </p:sp>
      <p:sp>
        <p:nvSpPr>
          <p:cNvPr id="123" name="Text"/>
          <p:cNvSpPr txBox="1"/>
          <p:nvPr/>
        </p:nvSpPr>
        <p:spPr>
          <a:xfrm>
            <a:off x="7726680" y="1472184"/>
            <a:ext cx="4007815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Tanque principal de gasoil: litros disponibles sobre su capacidad y porcentaje de llenado.</a:t>
            </a: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carga con ID, fecha, hora, solicitante, equipo, medida en horas y galones despachados.</a:t>
            </a: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consumido del período filtrado.</a:t>
            </a:r>
          </a:p>
        </p:txBody>
      </p:sp>
      <p:sp>
        <p:nvSpPr>
          <p:cNvPr id="124" name="Text"/>
          <p:cNvSpPr txBox="1"/>
          <p:nvPr/>
        </p:nvSpPr>
        <p:spPr>
          <a:xfrm>
            <a:off x="7726680" y="3017520"/>
            <a:ext cx="400781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USA</a:t>
            </a:r>
          </a:p>
        </p:txBody>
      </p:sp>
      <p:sp>
        <p:nvSpPr>
          <p:cNvPr id="125" name="Text"/>
          <p:cNvSpPr txBox="1"/>
          <p:nvPr/>
        </p:nvSpPr>
        <p:spPr>
          <a:xfrm>
            <a:off x="7726680" y="3346704"/>
            <a:ext cx="4007815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"Nueva Carga" registra el despacho con su foto de respaldo.</a:t>
            </a: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fecha, unidad y solicitante; cambio entre galones y litros.</a:t>
            </a: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 Tanque de Gasoil" abre el detalle del tanque y "Exportar Excel" descarga lo filtrado.</a:t>
            </a:r>
          </a:p>
        </p:txBody>
      </p:sp>
      <p:sp>
        <p:nvSpPr>
          <p:cNvPr id="126" name="Shape"/>
          <p:cNvSpPr/>
          <p:nvPr/>
        </p:nvSpPr>
        <p:spPr>
          <a:xfrm>
            <a:off x="7726680" y="5426422"/>
            <a:ext cx="4007815" cy="1005840"/>
          </a:xfrm>
          <a:prstGeom prst="roundRect">
            <a:avLst>
              <a:gd name="adj" fmla="val 7000"/>
            </a:avLst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"/>
          <p:cNvSpPr txBox="1"/>
          <p:nvPr/>
        </p:nvSpPr>
        <p:spPr>
          <a:xfrm>
            <a:off x="7909560" y="5517862"/>
            <a:ext cx="364205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s-VE" sz="900" b="1" spc="12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s-VE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despacho queda ligado a su solicitante, equipo y horas de uso, con el nivel del tanque siempre a la vista.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nque de Gasoi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2" name="Image" descr="Tanq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9768"/>
            <a:ext cx="219456" cy="219456"/>
          </a:xfrm>
          <a:prstGeom prst="rect">
            <a:avLst/>
          </a:prstGeom>
        </p:spPr>
      </p:pic>
      <p:sp>
        <p:nvSpPr>
          <p:cNvPr id="103" name="Text"/>
          <p:cNvSpPr txBox="1"/>
          <p:nvPr/>
        </p:nvSpPr>
        <p:spPr>
          <a:xfrm>
            <a:off x="1005840" y="2560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25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Combustible · Tanque de Gasoil</a:t>
            </a:r>
          </a:p>
        </p:txBody>
      </p:sp>
      <p:sp>
        <p:nvSpPr>
          <p:cNvPr id="104" name="Shape"/>
          <p:cNvSpPr/>
          <p:nvPr/>
        </p:nvSpPr>
        <p:spPr>
          <a:xfrm>
            <a:off x="9997135" y="3657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F1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"/>
          <p:cNvSpPr txBox="1"/>
          <p:nvPr/>
        </p:nvSpPr>
        <p:spPr>
          <a:xfrm>
            <a:off x="9997135" y="365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 01</a:t>
            </a:r>
          </a:p>
        </p:txBody>
      </p:sp>
      <p:sp>
        <p:nvSpPr>
          <p:cNvPr id="106" name="Line"/>
          <p:cNvSpPr/>
          <p:nvPr/>
        </p:nvSpPr>
        <p:spPr>
          <a:xfrm>
            <a:off x="457200" y="896112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"/>
          <p:cNvSpPr/>
          <p:nvPr/>
        </p:nvSpPr>
        <p:spPr>
          <a:xfrm>
            <a:off x="457200" y="1188720"/>
            <a:ext cx="5212080" cy="50749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"/>
          <p:cNvSpPr txBox="1"/>
          <p:nvPr/>
        </p:nvSpPr>
        <p:spPr>
          <a:xfrm>
            <a:off x="731520" y="1371600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TANQUES</a:t>
            </a:r>
          </a:p>
        </p:txBody>
      </p:sp>
      <p:sp>
        <p:nvSpPr>
          <p:cNvPr id="109" name="Shape"/>
          <p:cNvSpPr/>
          <p:nvPr/>
        </p:nvSpPr>
        <p:spPr>
          <a:xfrm>
            <a:off x="777240" y="1737360"/>
            <a:ext cx="4572000" cy="340139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0" name="Image" descr="Tarjeta del Tanque Principal de Gasoi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360"/>
            <a:ext cx="4572000" cy="3401391"/>
          </a:xfrm>
          <a:prstGeom prst="rect">
            <a:avLst/>
          </a:prstGeom>
        </p:spPr>
      </p:pic>
      <p:sp>
        <p:nvSpPr>
          <p:cNvPr id="111" name="Shape"/>
          <p:cNvSpPr/>
          <p:nvPr/>
        </p:nvSpPr>
        <p:spPr>
          <a:xfrm>
            <a:off x="489270" y="1957390"/>
            <a:ext cx="310896" cy="310896"/>
          </a:xfrm>
          <a:prstGeom prst="ellipse">
            <a:avLst/>
          </a:prstGeom>
          <a:solidFill>
            <a:srgbClr val="D99B0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"/>
          <p:cNvSpPr txBox="1"/>
          <p:nvPr/>
        </p:nvSpPr>
        <p:spPr>
          <a:xfrm>
            <a:off x="489270" y="19573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13" name="Shape"/>
          <p:cNvSpPr/>
          <p:nvPr/>
        </p:nvSpPr>
        <p:spPr>
          <a:xfrm>
            <a:off x="489270" y="3238434"/>
            <a:ext cx="310896" cy="310896"/>
          </a:xfrm>
          <a:prstGeom prst="ellipse">
            <a:avLst/>
          </a:prstGeom>
          <a:solidFill>
            <a:srgbClr val="D99B0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"/>
          <p:cNvSpPr txBox="1"/>
          <p:nvPr/>
        </p:nvSpPr>
        <p:spPr>
          <a:xfrm>
            <a:off x="489270" y="323843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15" name="Shape"/>
          <p:cNvSpPr/>
          <p:nvPr/>
        </p:nvSpPr>
        <p:spPr>
          <a:xfrm>
            <a:off x="5348401" y="2023651"/>
            <a:ext cx="310896" cy="310896"/>
          </a:xfrm>
          <a:prstGeom prst="ellipse">
            <a:avLst/>
          </a:prstGeom>
          <a:solidFill>
            <a:srgbClr val="D99B0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"/>
          <p:cNvSpPr txBox="1"/>
          <p:nvPr/>
        </p:nvSpPr>
        <p:spPr>
          <a:xfrm>
            <a:off x="5348401" y="202365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17" name="Shape"/>
          <p:cNvSpPr/>
          <p:nvPr/>
        </p:nvSpPr>
        <p:spPr>
          <a:xfrm>
            <a:off x="489270" y="4475303"/>
            <a:ext cx="310896" cy="310896"/>
          </a:xfrm>
          <a:prstGeom prst="ellipse">
            <a:avLst/>
          </a:prstGeom>
          <a:solidFill>
            <a:srgbClr val="D99B0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"/>
          <p:cNvSpPr txBox="1"/>
          <p:nvPr/>
        </p:nvSpPr>
        <p:spPr>
          <a:xfrm>
            <a:off x="489270" y="4475303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pic>
        <p:nvPicPr>
          <p:cNvPr id="119" name="Image" descr="Botón Nuevo Tanqu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413071"/>
            <a:ext cx="1554480" cy="391064"/>
          </a:xfrm>
          <a:prstGeom prst="rect">
            <a:avLst/>
          </a:prstGeom>
        </p:spPr>
      </p:pic>
      <p:sp>
        <p:nvSpPr>
          <p:cNvPr id="120" name="Shape"/>
          <p:cNvSpPr/>
          <p:nvPr/>
        </p:nvSpPr>
        <p:spPr>
          <a:xfrm>
            <a:off x="621792" y="5303343"/>
            <a:ext cx="310896" cy="310896"/>
          </a:xfrm>
          <a:prstGeom prst="ellipse">
            <a:avLst/>
          </a:prstGeom>
          <a:solidFill>
            <a:srgbClr val="D99B0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"/>
          <p:cNvSpPr txBox="1"/>
          <p:nvPr/>
        </p:nvSpPr>
        <p:spPr>
          <a:xfrm>
            <a:off x="621792" y="5303343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122" name="Text"/>
          <p:cNvSpPr txBox="1"/>
          <p:nvPr/>
        </p:nvSpPr>
        <p:spPr>
          <a:xfrm>
            <a:off x="2514600" y="5413071"/>
            <a:ext cx="2834640" cy="391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pueden dar de alta más tanques.</a:t>
            </a:r>
          </a:p>
        </p:txBody>
      </p:sp>
      <p:sp>
        <p:nvSpPr>
          <p:cNvPr id="123" name="Text"/>
          <p:cNvSpPr txBox="1"/>
          <p:nvPr/>
        </p:nvSpPr>
        <p:spPr>
          <a:xfrm>
            <a:off x="6035040" y="1188720"/>
            <a:ext cx="569945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</a:p>
        </p:txBody>
      </p:sp>
      <p:sp>
        <p:nvSpPr>
          <p:cNvPr id="124" name="Shape"/>
          <p:cNvSpPr/>
          <p:nvPr/>
        </p:nvSpPr>
        <p:spPr>
          <a:xfrm>
            <a:off x="6035040" y="1508760"/>
            <a:ext cx="5699455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5" name="Shape"/>
          <p:cNvSpPr/>
          <p:nvPr/>
        </p:nvSpPr>
        <p:spPr>
          <a:xfrm>
            <a:off x="6199632" y="1664208"/>
            <a:ext cx="365760" cy="365760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"/>
          <p:cNvSpPr txBox="1"/>
          <p:nvPr/>
        </p:nvSpPr>
        <p:spPr>
          <a:xfrm>
            <a:off x="6199632" y="16642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27" name="Text"/>
          <p:cNvSpPr txBox="1"/>
          <p:nvPr/>
        </p:nvSpPr>
        <p:spPr>
          <a:xfrm>
            <a:off x="6748272" y="1563624"/>
            <a:ext cx="48307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de cada tanque</a:t>
            </a:r>
          </a:p>
          <a:p>
            <a:pPr marL="0" indent="0" algn="l">
              <a:buNone/>
            </a:pPr>
            <a:r>
              <a:rPr lang="es-VE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nombre, tipo de combustible y estado (Activo).</a:t>
            </a:r>
          </a:p>
        </p:txBody>
      </p:sp>
      <p:sp>
        <p:nvSpPr>
          <p:cNvPr id="128" name="Shape"/>
          <p:cNvSpPr/>
          <p:nvPr/>
        </p:nvSpPr>
        <p:spPr>
          <a:xfrm>
            <a:off x="6035040" y="2258568"/>
            <a:ext cx="5699455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9" name="Shape"/>
          <p:cNvSpPr/>
          <p:nvPr/>
        </p:nvSpPr>
        <p:spPr>
          <a:xfrm>
            <a:off x="6199632" y="2414016"/>
            <a:ext cx="365760" cy="365760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"/>
          <p:cNvSpPr txBox="1"/>
          <p:nvPr/>
        </p:nvSpPr>
        <p:spPr>
          <a:xfrm>
            <a:off x="6199632" y="24140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31" name="Text"/>
          <p:cNvSpPr txBox="1"/>
          <p:nvPr/>
        </p:nvSpPr>
        <p:spPr>
          <a:xfrm>
            <a:off x="6748272" y="2313432"/>
            <a:ext cx="48307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a la vista</a:t>
            </a:r>
          </a:p>
          <a:p>
            <a:pPr marL="0" indent="0" algn="l">
              <a:buNone/>
            </a:pPr>
            <a:r>
              <a:rPr lang="es-VE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Litros disponibles sobre la capacidad total y porcentaje de llenado.</a:t>
            </a:r>
          </a:p>
        </p:txBody>
      </p:sp>
      <p:sp>
        <p:nvSpPr>
          <p:cNvPr id="132" name="Shape"/>
          <p:cNvSpPr/>
          <p:nvPr/>
        </p:nvSpPr>
        <p:spPr>
          <a:xfrm>
            <a:off x="6035040" y="3008376"/>
            <a:ext cx="5699455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3" name="Shape"/>
          <p:cNvSpPr/>
          <p:nvPr/>
        </p:nvSpPr>
        <p:spPr>
          <a:xfrm>
            <a:off x="6199632" y="3163824"/>
            <a:ext cx="365760" cy="365760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"/>
          <p:cNvSpPr txBox="1"/>
          <p:nvPr/>
        </p:nvSpPr>
        <p:spPr>
          <a:xfrm>
            <a:off x="6199632" y="316382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35" name="Text"/>
          <p:cNvSpPr txBox="1"/>
          <p:nvPr/>
        </p:nvSpPr>
        <p:spPr>
          <a:xfrm>
            <a:off x="6748272" y="3063240"/>
            <a:ext cx="48307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Historial y control</a:t>
            </a:r>
          </a:p>
          <a:p>
            <a:pPr marL="0" indent="0" algn="l">
              <a:buNone/>
            </a:pPr>
            <a:r>
              <a:rPr lang="es-VE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movimientos del tanque, edición de sus datos y baja.</a:t>
            </a:r>
          </a:p>
        </p:txBody>
      </p:sp>
      <p:sp>
        <p:nvSpPr>
          <p:cNvPr id="136" name="Shape"/>
          <p:cNvSpPr/>
          <p:nvPr/>
        </p:nvSpPr>
        <p:spPr>
          <a:xfrm>
            <a:off x="6035040" y="3758184"/>
            <a:ext cx="5699455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7" name="Shape"/>
          <p:cNvSpPr/>
          <p:nvPr/>
        </p:nvSpPr>
        <p:spPr>
          <a:xfrm>
            <a:off x="6199632" y="3913632"/>
            <a:ext cx="365760" cy="365760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"/>
          <p:cNvSpPr txBox="1"/>
          <p:nvPr/>
        </p:nvSpPr>
        <p:spPr>
          <a:xfrm>
            <a:off x="6199632" y="39136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139" name="Text"/>
          <p:cNvSpPr txBox="1"/>
          <p:nvPr/>
        </p:nvSpPr>
        <p:spPr>
          <a:xfrm>
            <a:off x="6748272" y="3813048"/>
            <a:ext cx="48307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Registrar movimiento</a:t>
            </a:r>
          </a:p>
          <a:p>
            <a:pPr marL="0" indent="0" algn="l">
              <a:buNone/>
            </a:pPr>
            <a:r>
              <a:rPr lang="es-VE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movimiento de gasoil se registra para mantener el nivel al día.</a:t>
            </a:r>
          </a:p>
        </p:txBody>
      </p:sp>
      <p:sp>
        <p:nvSpPr>
          <p:cNvPr id="140" name="Shape"/>
          <p:cNvSpPr/>
          <p:nvPr/>
        </p:nvSpPr>
        <p:spPr>
          <a:xfrm>
            <a:off x="6035040" y="4507992"/>
            <a:ext cx="5699455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1" name="Shape"/>
          <p:cNvSpPr/>
          <p:nvPr/>
        </p:nvSpPr>
        <p:spPr>
          <a:xfrm>
            <a:off x="6199632" y="4663440"/>
            <a:ext cx="365760" cy="365760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"/>
          <p:cNvSpPr txBox="1"/>
          <p:nvPr/>
        </p:nvSpPr>
        <p:spPr>
          <a:xfrm>
            <a:off x="6199632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143" name="Text"/>
          <p:cNvSpPr txBox="1"/>
          <p:nvPr/>
        </p:nvSpPr>
        <p:spPr>
          <a:xfrm>
            <a:off x="6748272" y="4562856"/>
            <a:ext cx="48307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Nuevo Tanque</a:t>
            </a:r>
          </a:p>
          <a:p>
            <a:pPr marL="0" indent="0" algn="l">
              <a:buNone/>
            </a:pPr>
            <a:r>
              <a:rPr lang="es-VE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puede sumar tanques sin cambiar el sistema.</a:t>
            </a:r>
          </a:p>
        </p:txBody>
      </p:sp>
      <p:sp>
        <p:nvSpPr>
          <p:cNvPr id="144" name="Shape"/>
          <p:cNvSpPr/>
          <p:nvPr/>
        </p:nvSpPr>
        <p:spPr>
          <a:xfrm>
            <a:off x="6035040" y="5385816"/>
            <a:ext cx="5699455" cy="877824"/>
          </a:xfrm>
          <a:prstGeom prst="roundRect">
            <a:avLst>
              <a:gd name="adj" fmla="val 7000"/>
            </a:avLst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"/>
          <p:cNvSpPr txBox="1"/>
          <p:nvPr/>
        </p:nvSpPr>
        <p:spPr>
          <a:xfrm>
            <a:off x="6263640" y="5477256"/>
            <a:ext cx="5242255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s-VE" sz="900" b="1" spc="12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→ AHORA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s-VE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del tanque ya no depende de mediciones y cálculos a mano: se ve en el sistema y se conecta con las cargas de Flota Pesada.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rol de Hora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2" name="Image" descr="Control de Hora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9768"/>
            <a:ext cx="219456" cy="219456"/>
          </a:xfrm>
          <a:prstGeom prst="rect">
            <a:avLst/>
          </a:prstGeom>
        </p:spPr>
      </p:pic>
      <p:sp>
        <p:nvSpPr>
          <p:cNvPr id="103" name="Text"/>
          <p:cNvSpPr txBox="1"/>
          <p:nvPr/>
        </p:nvSpPr>
        <p:spPr>
          <a:xfrm>
            <a:off x="1005840" y="2560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25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Horas</a:t>
            </a:r>
          </a:p>
        </p:txBody>
      </p:sp>
      <p:sp>
        <p:nvSpPr>
          <p:cNvPr id="104" name="Shape"/>
          <p:cNvSpPr/>
          <p:nvPr/>
        </p:nvSpPr>
        <p:spPr>
          <a:xfrm>
            <a:off x="9997135" y="3657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F1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"/>
          <p:cNvSpPr txBox="1"/>
          <p:nvPr/>
        </p:nvSpPr>
        <p:spPr>
          <a:xfrm>
            <a:off x="9997135" y="365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 02</a:t>
            </a:r>
          </a:p>
        </p:txBody>
      </p:sp>
      <p:sp>
        <p:nvSpPr>
          <p:cNvPr id="106" name="Line"/>
          <p:cNvSpPr/>
          <p:nvPr/>
        </p:nvSpPr>
        <p:spPr>
          <a:xfrm>
            <a:off x="457200" y="896112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"/>
          <p:cNvSpPr/>
          <p:nvPr/>
        </p:nvSpPr>
        <p:spPr>
          <a:xfrm>
            <a:off x="457200" y="1143000"/>
            <a:ext cx="7589520" cy="37139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8" name="Image" descr="Filtros de empresa, proyecto y fech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16152"/>
            <a:ext cx="7443216" cy="535818"/>
          </a:xfrm>
          <a:prstGeom prst="rect">
            <a:avLst/>
          </a:prstGeom>
        </p:spPr>
      </p:pic>
      <p:sp>
        <p:nvSpPr>
          <p:cNvPr id="109" name="Line"/>
          <p:cNvSpPr/>
          <p:nvPr/>
        </p:nvSpPr>
        <p:spPr>
          <a:xfrm>
            <a:off x="530352" y="1788546"/>
            <a:ext cx="7443216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110" name="Image" descr="Tabla de horas por equip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825122"/>
            <a:ext cx="7443216" cy="2958649"/>
          </a:xfrm>
          <a:prstGeom prst="rect">
            <a:avLst/>
          </a:prstGeom>
        </p:spPr>
      </p:pic>
      <p:sp>
        <p:nvSpPr>
          <p:cNvPr id="111" name="Text"/>
          <p:cNvSpPr txBox="1"/>
          <p:nvPr/>
        </p:nvSpPr>
        <p:spPr>
          <a:xfrm>
            <a:off x="530352" y="4948364"/>
            <a:ext cx="7589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0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DIARIO</a:t>
            </a:r>
            <a:r>
              <a:rPr lang="es-VE" sz="1050" spc="10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ejemplo: Chevron · Izamiento, 4 equipos</a:t>
            </a:r>
          </a:p>
        </p:txBody>
      </p:sp>
      <p:sp>
        <p:nvSpPr>
          <p:cNvPr id="112" name="Shape"/>
          <p:cNvSpPr/>
          <p:nvPr/>
        </p:nvSpPr>
        <p:spPr>
          <a:xfrm>
            <a:off x="457200" y="5314124"/>
            <a:ext cx="2438400" cy="10409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"/>
          <p:cNvSpPr/>
          <p:nvPr/>
        </p:nvSpPr>
        <p:spPr>
          <a:xfrm>
            <a:off x="594360" y="5642578"/>
            <a:ext cx="384048" cy="384048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"/>
          <p:cNvSpPr txBox="1"/>
          <p:nvPr/>
        </p:nvSpPr>
        <p:spPr>
          <a:xfrm>
            <a:off x="594360" y="564257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15" name="Text"/>
          <p:cNvSpPr txBox="1"/>
          <p:nvPr/>
        </p:nvSpPr>
        <p:spPr>
          <a:xfrm>
            <a:off x="1097280" y="5387276"/>
            <a:ext cx="1706880" cy="894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 y proyecto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el cliente, el proyecto y la fecha.</a:t>
            </a:r>
          </a:p>
        </p:txBody>
      </p:sp>
      <p:sp>
        <p:nvSpPr>
          <p:cNvPr id="116" name="Shape"/>
          <p:cNvSpPr/>
          <p:nvPr/>
        </p:nvSpPr>
        <p:spPr>
          <a:xfrm>
            <a:off x="3032760" y="5314124"/>
            <a:ext cx="2438400" cy="10409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Shape"/>
          <p:cNvSpPr/>
          <p:nvPr/>
        </p:nvSpPr>
        <p:spPr>
          <a:xfrm>
            <a:off x="3169920" y="5642578"/>
            <a:ext cx="384048" cy="384048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"/>
          <p:cNvSpPr txBox="1"/>
          <p:nvPr/>
        </p:nvSpPr>
        <p:spPr>
          <a:xfrm>
            <a:off x="3169920" y="564257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19" name="Text"/>
          <p:cNvSpPr txBox="1"/>
          <p:nvPr/>
        </p:nvSpPr>
        <p:spPr>
          <a:xfrm>
            <a:off x="3672840" y="5387276"/>
            <a:ext cx="1706880" cy="894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Equipos del día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marcan los equipos que trabajan esa jornada.</a:t>
            </a:r>
          </a:p>
        </p:txBody>
      </p:sp>
      <p:sp>
        <p:nvSpPr>
          <p:cNvPr id="120" name="Shape"/>
          <p:cNvSpPr/>
          <p:nvPr/>
        </p:nvSpPr>
        <p:spPr>
          <a:xfrm>
            <a:off x="5608320" y="5314124"/>
            <a:ext cx="2438400" cy="104095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Shape"/>
          <p:cNvSpPr/>
          <p:nvPr/>
        </p:nvSpPr>
        <p:spPr>
          <a:xfrm>
            <a:off x="5745480" y="5642578"/>
            <a:ext cx="384048" cy="384048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"/>
          <p:cNvSpPr txBox="1"/>
          <p:nvPr/>
        </p:nvSpPr>
        <p:spPr>
          <a:xfrm>
            <a:off x="5745480" y="564257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23" name="Text"/>
          <p:cNvSpPr txBox="1"/>
          <p:nvPr/>
        </p:nvSpPr>
        <p:spPr>
          <a:xfrm>
            <a:off x="6248400" y="5387276"/>
            <a:ext cx="1706880" cy="8946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Carga de horas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Totales, acumulados y % se calculan solos.</a:t>
            </a:r>
          </a:p>
        </p:txBody>
      </p:sp>
      <p:sp>
        <p:nvSpPr>
          <p:cNvPr id="124" name="Text"/>
          <p:cNvSpPr txBox="1"/>
          <p:nvPr/>
        </p:nvSpPr>
        <p:spPr>
          <a:xfrm>
            <a:off x="8366760" y="1143000"/>
            <a:ext cx="336773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REGISTRA Y CALCULA</a:t>
            </a:r>
          </a:p>
        </p:txBody>
      </p:sp>
      <p:sp>
        <p:nvSpPr>
          <p:cNvPr id="125" name="Text"/>
          <p:cNvSpPr txBox="1"/>
          <p:nvPr/>
        </p:nvSpPr>
        <p:spPr>
          <a:xfrm>
            <a:off x="8366760" y="1472184"/>
            <a:ext cx="3367735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equipo y por día: horas ejecutadas, disponibles y stand-by, con nota opcional.</a:t>
            </a: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 del mes por equipo: horas de cobro completo y de stand-by.</a:t>
            </a: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Porcentaje de stand-by y de ejecución + disponibilidad.</a:t>
            </a: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del día y del mes para todo el proyecto, listos para facturar y reportar.</a:t>
            </a:r>
          </a:p>
        </p:txBody>
      </p:sp>
      <p:sp>
        <p:nvSpPr>
          <p:cNvPr id="126" name="Text"/>
          <p:cNvSpPr txBox="1"/>
          <p:nvPr/>
        </p:nvSpPr>
        <p:spPr>
          <a:xfrm>
            <a:off x="8366760" y="3931920"/>
            <a:ext cx="336773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</a:t>
            </a:r>
          </a:p>
        </p:txBody>
      </p:sp>
      <p:sp>
        <p:nvSpPr>
          <p:cNvPr id="127" name="Shape"/>
          <p:cNvSpPr/>
          <p:nvPr/>
        </p:nvSpPr>
        <p:spPr>
          <a:xfrm>
            <a:off x="8366760" y="4251960"/>
            <a:ext cx="886968" cy="310896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 w="9525">
            <a:solidFill>
              <a:srgbClr val="8BC7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"/>
          <p:cNvSpPr txBox="1"/>
          <p:nvPr/>
        </p:nvSpPr>
        <p:spPr>
          <a:xfrm>
            <a:off x="8366760" y="4251960"/>
            <a:ext cx="88696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 dirty="0">
                <a:solidFill>
                  <a:srgbClr val="1E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Izamiento</a:t>
            </a:r>
          </a:p>
        </p:txBody>
      </p:sp>
      <p:sp>
        <p:nvSpPr>
          <p:cNvPr id="129" name="Shape"/>
          <p:cNvSpPr/>
          <p:nvPr/>
        </p:nvSpPr>
        <p:spPr>
          <a:xfrm>
            <a:off x="9345168" y="425196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DF1F5"/>
          </a:solidFill>
          <a:ln w="9525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"/>
          <p:cNvSpPr txBox="1"/>
          <p:nvPr/>
        </p:nvSpPr>
        <p:spPr>
          <a:xfrm>
            <a:off x="9345168" y="425196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proyectos</a:t>
            </a:r>
          </a:p>
        </p:txBody>
      </p:sp>
      <p:sp>
        <p:nvSpPr>
          <p:cNvPr id="131" name="Shape"/>
          <p:cNvSpPr/>
          <p:nvPr/>
        </p:nvSpPr>
        <p:spPr>
          <a:xfrm>
            <a:off x="10762488" y="4251960"/>
            <a:ext cx="740664" cy="310896"/>
          </a:xfrm>
          <a:prstGeom prst="roundRect">
            <a:avLst>
              <a:gd name="adj" fmla="val 50000"/>
            </a:avLst>
          </a:prstGeom>
          <a:solidFill>
            <a:srgbClr val="FBF3DD"/>
          </a:solidFill>
          <a:ln w="9525">
            <a:solidFill>
              <a:srgbClr val="E9C46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2" name="Text"/>
          <p:cNvSpPr txBox="1"/>
          <p:nvPr/>
        </p:nvSpPr>
        <p:spPr>
          <a:xfrm>
            <a:off x="10762488" y="4251960"/>
            <a:ext cx="74066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 dirty="0">
                <a:solidFill>
                  <a:srgbClr val="9A69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Futuros</a:t>
            </a:r>
          </a:p>
        </p:txBody>
      </p:sp>
      <p:sp>
        <p:nvSpPr>
          <p:cNvPr id="133" name="Shape"/>
          <p:cNvSpPr/>
          <p:nvPr/>
        </p:nvSpPr>
        <p:spPr>
          <a:xfrm>
            <a:off x="8366760" y="5314124"/>
            <a:ext cx="3367735" cy="1040956"/>
          </a:xfrm>
          <a:prstGeom prst="roundRect">
            <a:avLst>
              <a:gd name="adj" fmla="val 7000"/>
            </a:avLst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"/>
          <p:cNvSpPr txBox="1"/>
          <p:nvPr/>
        </p:nvSpPr>
        <p:spPr>
          <a:xfrm>
            <a:off x="8567928" y="5405564"/>
            <a:ext cx="2965399" cy="8580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s-VE" sz="900" b="1" spc="12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MÓDULO PARA TODOS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s-VE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se usa en Izamiento; cualquier proyecto actual o nuevo se agrega eligiendo empresa y proyecto.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portes Combusti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2" name="Image" descr="Report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9768"/>
            <a:ext cx="219456" cy="219456"/>
          </a:xfrm>
          <a:prstGeom prst="rect">
            <a:avLst/>
          </a:prstGeom>
        </p:spPr>
      </p:pic>
      <p:sp>
        <p:nvSpPr>
          <p:cNvPr id="103" name="Text"/>
          <p:cNvSpPr txBox="1"/>
          <p:nvPr/>
        </p:nvSpPr>
        <p:spPr>
          <a:xfrm>
            <a:off x="1005840" y="2560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25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· Combustible</a:t>
            </a:r>
          </a:p>
        </p:txBody>
      </p:sp>
      <p:sp>
        <p:nvSpPr>
          <p:cNvPr id="104" name="Shape"/>
          <p:cNvSpPr/>
          <p:nvPr/>
        </p:nvSpPr>
        <p:spPr>
          <a:xfrm>
            <a:off x="9997135" y="3657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F1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"/>
          <p:cNvSpPr txBox="1"/>
          <p:nvPr/>
        </p:nvSpPr>
        <p:spPr>
          <a:xfrm>
            <a:off x="9997135" y="365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 03</a:t>
            </a:r>
          </a:p>
        </p:txBody>
      </p:sp>
      <p:sp>
        <p:nvSpPr>
          <p:cNvPr id="106" name="Line"/>
          <p:cNvSpPr/>
          <p:nvPr/>
        </p:nvSpPr>
        <p:spPr>
          <a:xfrm>
            <a:off x="457200" y="896112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"/>
          <p:cNvSpPr/>
          <p:nvPr/>
        </p:nvSpPr>
        <p:spPr>
          <a:xfrm>
            <a:off x="457200" y="1143000"/>
            <a:ext cx="6903720" cy="445743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8" name="Image" descr="Reporte de combusti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16152"/>
            <a:ext cx="6757416" cy="4311127"/>
          </a:xfrm>
          <a:prstGeom prst="rect">
            <a:avLst/>
          </a:prstGeom>
        </p:spPr>
      </p:pic>
      <p:sp>
        <p:nvSpPr>
          <p:cNvPr id="109" name="Text"/>
          <p:cNvSpPr txBox="1"/>
          <p:nvPr/>
        </p:nvSpPr>
        <p:spPr>
          <a:xfrm>
            <a:off x="530352" y="5691871"/>
            <a:ext cx="6903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0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COMBUSTIBLE</a:t>
            </a:r>
            <a:r>
              <a:rPr lang="es-VE" sz="1050" spc="10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últimos 30 días, ambas flotas</a:t>
            </a:r>
          </a:p>
        </p:txBody>
      </p:sp>
      <p:sp>
        <p:nvSpPr>
          <p:cNvPr id="110" name="Text"/>
          <p:cNvSpPr txBox="1"/>
          <p:nvPr/>
        </p:nvSpPr>
        <p:spPr>
          <a:xfrm>
            <a:off x="7726680" y="1143000"/>
            <a:ext cx="400781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</a:t>
            </a:r>
          </a:p>
        </p:txBody>
      </p:sp>
      <p:sp>
        <p:nvSpPr>
          <p:cNvPr id="111" name="Text"/>
          <p:cNvSpPr txBox="1"/>
          <p:nvPr/>
        </p:nvSpPr>
        <p:spPr>
          <a:xfrm>
            <a:off x="7726680" y="1472184"/>
            <a:ext cx="4007815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6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fechas a elección (por ejemplo, últimos 30 días).</a:t>
            </a:r>
          </a:p>
          <a:p>
            <a:pPr marL="177800" indent="-177800" algn="l">
              <a:lnSpc>
                <a:spcPct val="108000"/>
              </a:lnSpc>
              <a:spcAft>
                <a:spcPts val="6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Combustible por flota: Liviana y Pesada en la misma escala de litros.</a:t>
            </a:r>
          </a:p>
          <a:p>
            <a:pPr marL="177800" indent="-177800" algn="l">
              <a:lnSpc>
                <a:spcPct val="108000"/>
              </a:lnSpc>
              <a:spcAft>
                <a:spcPts val="6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en USD por vehículo de Flota Liviana.</a:t>
            </a:r>
          </a:p>
          <a:p>
            <a:pPr marL="177800" indent="-177800" algn="l">
              <a:lnSpc>
                <a:spcPct val="108000"/>
              </a:lnSpc>
              <a:spcAft>
                <a:spcPts val="6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unidad: litros o galones, gasto y número de llenados.</a:t>
            </a:r>
          </a:p>
        </p:txBody>
      </p:sp>
      <p:sp>
        <p:nvSpPr>
          <p:cNvPr id="112" name="Text"/>
          <p:cNvSpPr txBox="1"/>
          <p:nvPr/>
        </p:nvSpPr>
        <p:spPr>
          <a:xfrm>
            <a:off x="7726680" y="2944368"/>
            <a:ext cx="400781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DE LECTURA</a:t>
            </a:r>
          </a:p>
        </p:txBody>
      </p:sp>
      <p:sp>
        <p:nvSpPr>
          <p:cNvPr id="113" name="Shape"/>
          <p:cNvSpPr/>
          <p:nvPr/>
        </p:nvSpPr>
        <p:spPr>
          <a:xfrm>
            <a:off x="7726680" y="3264408"/>
            <a:ext cx="4007815" cy="73152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"/>
          <p:cNvSpPr/>
          <p:nvPr/>
        </p:nvSpPr>
        <p:spPr>
          <a:xfrm>
            <a:off x="7863840" y="3401568"/>
            <a:ext cx="292608" cy="292608"/>
          </a:xfrm>
          <a:prstGeom prst="ellipse">
            <a:avLst/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5" name="Image" descr="No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3456432"/>
            <a:ext cx="182880" cy="182880"/>
          </a:xfrm>
          <a:prstGeom prst="rect">
            <a:avLst/>
          </a:prstGeom>
        </p:spPr>
      </p:pic>
      <p:sp>
        <p:nvSpPr>
          <p:cNvPr id="116" name="Text"/>
          <p:cNvSpPr txBox="1"/>
          <p:nvPr/>
        </p:nvSpPr>
        <p:spPr>
          <a:xfrm>
            <a:off x="8275320" y="3355848"/>
            <a:ext cx="332201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15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galones a litros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9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Flota Pesada se mide en galones y se convierte (1 gal = 3,78541 L) para compararla con la Liviana.</a:t>
            </a:r>
          </a:p>
        </p:txBody>
      </p:sp>
      <p:sp>
        <p:nvSpPr>
          <p:cNvPr id="117" name="Shape"/>
          <p:cNvSpPr/>
          <p:nvPr/>
        </p:nvSpPr>
        <p:spPr>
          <a:xfrm>
            <a:off x="7726680" y="4069080"/>
            <a:ext cx="4007815" cy="73152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"/>
          <p:cNvSpPr/>
          <p:nvPr/>
        </p:nvSpPr>
        <p:spPr>
          <a:xfrm>
            <a:off x="7863840" y="4206240"/>
            <a:ext cx="292608" cy="292608"/>
          </a:xfrm>
          <a:prstGeom prst="ellipse">
            <a:avLst/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9" name="Image" descr="No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4261104"/>
            <a:ext cx="182880" cy="182880"/>
          </a:xfrm>
          <a:prstGeom prst="rect">
            <a:avLst/>
          </a:prstGeom>
        </p:spPr>
      </p:pic>
      <p:sp>
        <p:nvSpPr>
          <p:cNvPr id="120" name="Text"/>
          <p:cNvSpPr txBox="1"/>
          <p:nvPr/>
        </p:nvSpPr>
        <p:spPr>
          <a:xfrm>
            <a:off x="8275320" y="4160520"/>
            <a:ext cx="332201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15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 solo en Liviana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9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Liviana compra por transacción en estación; la Pesada descuenta del tanque propio, sin costo por carga.</a:t>
            </a:r>
          </a:p>
        </p:txBody>
      </p:sp>
      <p:sp>
        <p:nvSpPr>
          <p:cNvPr id="121" name="Shape"/>
          <p:cNvSpPr/>
          <p:nvPr/>
        </p:nvSpPr>
        <p:spPr>
          <a:xfrm>
            <a:off x="7726680" y="4937760"/>
            <a:ext cx="4007815" cy="991855"/>
          </a:xfrm>
          <a:prstGeom prst="roundRect">
            <a:avLst>
              <a:gd name="adj" fmla="val 7000"/>
            </a:avLst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"/>
          <p:cNvSpPr txBox="1"/>
          <p:nvPr/>
        </p:nvSpPr>
        <p:spPr>
          <a:xfrm>
            <a:off x="7927848" y="5010912"/>
            <a:ext cx="3605479" cy="8455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s-VE" sz="900" b="1" spc="12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GERENCIA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y gasto de ambas flotas en una sola vista, sin armar reportes a mano.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portes Hora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2" name="Image" descr="Report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9768"/>
            <a:ext cx="219456" cy="219456"/>
          </a:xfrm>
          <a:prstGeom prst="rect">
            <a:avLst/>
          </a:prstGeom>
        </p:spPr>
      </p:pic>
      <p:sp>
        <p:nvSpPr>
          <p:cNvPr id="103" name="Text"/>
          <p:cNvSpPr txBox="1"/>
          <p:nvPr/>
        </p:nvSpPr>
        <p:spPr>
          <a:xfrm>
            <a:off x="1005840" y="2560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25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· Control de Horas</a:t>
            </a:r>
          </a:p>
        </p:txBody>
      </p:sp>
      <p:sp>
        <p:nvSpPr>
          <p:cNvPr id="104" name="Shape"/>
          <p:cNvSpPr/>
          <p:nvPr/>
        </p:nvSpPr>
        <p:spPr>
          <a:xfrm>
            <a:off x="9997135" y="3657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F1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"/>
          <p:cNvSpPr txBox="1"/>
          <p:nvPr/>
        </p:nvSpPr>
        <p:spPr>
          <a:xfrm>
            <a:off x="9997135" y="365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 03</a:t>
            </a:r>
          </a:p>
        </p:txBody>
      </p:sp>
      <p:sp>
        <p:nvSpPr>
          <p:cNvPr id="106" name="Line"/>
          <p:cNvSpPr/>
          <p:nvPr/>
        </p:nvSpPr>
        <p:spPr>
          <a:xfrm>
            <a:off x="457200" y="896112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"/>
          <p:cNvSpPr/>
          <p:nvPr/>
        </p:nvSpPr>
        <p:spPr>
          <a:xfrm>
            <a:off x="457200" y="1143000"/>
            <a:ext cx="7315200" cy="422219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8" name="Image" descr="Reporte de Control de Hor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16152"/>
            <a:ext cx="7168896" cy="4075887"/>
          </a:xfrm>
          <a:prstGeom prst="rect">
            <a:avLst/>
          </a:prstGeom>
        </p:spPr>
      </p:pic>
      <p:sp>
        <p:nvSpPr>
          <p:cNvPr id="109" name="Text"/>
          <p:cNvSpPr txBox="1"/>
          <p:nvPr/>
        </p:nvSpPr>
        <p:spPr>
          <a:xfrm>
            <a:off x="530352" y="5456631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0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HORAS</a:t>
            </a:r>
            <a:r>
              <a:rPr lang="es-VE" sz="1050" spc="10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ejemplo: Izamiento (Chevron), 4 equipos</a:t>
            </a:r>
          </a:p>
        </p:txBody>
      </p:sp>
      <p:sp>
        <p:nvSpPr>
          <p:cNvPr id="110" name="Text"/>
          <p:cNvSpPr txBox="1"/>
          <p:nvPr/>
        </p:nvSpPr>
        <p:spPr>
          <a:xfrm>
            <a:off x="8092440" y="1143000"/>
            <a:ext cx="364205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</a:t>
            </a:r>
          </a:p>
        </p:txBody>
      </p:sp>
      <p:sp>
        <p:nvSpPr>
          <p:cNvPr id="111" name="Text"/>
          <p:cNvSpPr txBox="1"/>
          <p:nvPr/>
        </p:nvSpPr>
        <p:spPr>
          <a:xfrm>
            <a:off x="8092440" y="1472184"/>
            <a:ext cx="3642055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6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cobro completo frente a horas de stand-by en el período.</a:t>
            </a:r>
          </a:p>
          <a:p>
            <a:pPr marL="177800" indent="-177800" algn="l">
              <a:lnSpc>
                <a:spcPct val="108000"/>
              </a:lnSpc>
              <a:spcAft>
                <a:spcPts val="6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por proyecto, con su empresa y el porcentaje de stand-by.</a:t>
            </a:r>
          </a:p>
          <a:p>
            <a:pPr marL="177800" indent="-177800" algn="l">
              <a:lnSpc>
                <a:spcPct val="108000"/>
              </a:lnSpc>
              <a:spcAft>
                <a:spcPts val="600"/>
              </a:spcAft>
              <a:buClr>
                <a:srgbClr val="0E2438"/>
              </a:buClr>
              <a:buSzPct val="100000"/>
              <a:buChar char="•"/>
            </a:pPr>
            <a:r>
              <a:rPr lang="es-VE" sz="1150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por equipo: cobro completo, stand-by, % de stand-by y días registrados.</a:t>
            </a:r>
          </a:p>
        </p:txBody>
      </p:sp>
      <p:sp>
        <p:nvSpPr>
          <p:cNvPr id="112" name="Text"/>
          <p:cNvSpPr txBox="1"/>
          <p:nvPr/>
        </p:nvSpPr>
        <p:spPr>
          <a:xfrm>
            <a:off x="8092440" y="2944368"/>
            <a:ext cx="364205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DE LECTURA</a:t>
            </a:r>
          </a:p>
        </p:txBody>
      </p:sp>
      <p:sp>
        <p:nvSpPr>
          <p:cNvPr id="113" name="Shape"/>
          <p:cNvSpPr/>
          <p:nvPr/>
        </p:nvSpPr>
        <p:spPr>
          <a:xfrm>
            <a:off x="8092440" y="3264408"/>
            <a:ext cx="3642055" cy="73152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"/>
          <p:cNvSpPr/>
          <p:nvPr/>
        </p:nvSpPr>
        <p:spPr>
          <a:xfrm>
            <a:off x="8229600" y="3401568"/>
            <a:ext cx="292608" cy="292608"/>
          </a:xfrm>
          <a:prstGeom prst="ellipse">
            <a:avLst/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5" name="Image" descr="No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3456432"/>
            <a:ext cx="182880" cy="182880"/>
          </a:xfrm>
          <a:prstGeom prst="rect">
            <a:avLst/>
          </a:prstGeom>
        </p:spPr>
      </p:pic>
      <p:sp>
        <p:nvSpPr>
          <p:cNvPr id="116" name="Text"/>
          <p:cNvSpPr txBox="1"/>
          <p:nvPr/>
        </p:nvSpPr>
        <p:spPr>
          <a:xfrm>
            <a:off x="8641080" y="3355848"/>
            <a:ext cx="295625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15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los proyectos juntos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9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gráfico suma todos los proyectos de Control de Horas del período; las tablas los separan.</a:t>
            </a:r>
          </a:p>
        </p:txBody>
      </p:sp>
      <p:sp>
        <p:nvSpPr>
          <p:cNvPr id="117" name="Shape"/>
          <p:cNvSpPr/>
          <p:nvPr/>
        </p:nvSpPr>
        <p:spPr>
          <a:xfrm>
            <a:off x="8092440" y="4069080"/>
            <a:ext cx="3642055" cy="73152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"/>
          <p:cNvSpPr/>
          <p:nvPr/>
        </p:nvSpPr>
        <p:spPr>
          <a:xfrm>
            <a:off x="8229600" y="4206240"/>
            <a:ext cx="292608" cy="292608"/>
          </a:xfrm>
          <a:prstGeom prst="ellipse">
            <a:avLst/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9" name="Image" descr="No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4261104"/>
            <a:ext cx="182880" cy="182880"/>
          </a:xfrm>
          <a:prstGeom prst="rect">
            <a:avLst/>
          </a:prstGeom>
        </p:spPr>
      </p:pic>
      <p:sp>
        <p:nvSpPr>
          <p:cNvPr id="120" name="Text"/>
          <p:cNvSpPr txBox="1"/>
          <p:nvPr/>
        </p:nvSpPr>
        <p:spPr>
          <a:xfrm>
            <a:off x="8641080" y="4160520"/>
            <a:ext cx="295625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15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Crece con cada proyecto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9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proyecto nuevo aparece como una fila más, sin configurar reportes aparte.</a:t>
            </a:r>
          </a:p>
        </p:txBody>
      </p:sp>
      <p:sp>
        <p:nvSpPr>
          <p:cNvPr id="121" name="Shape"/>
          <p:cNvSpPr/>
          <p:nvPr/>
        </p:nvSpPr>
        <p:spPr>
          <a:xfrm>
            <a:off x="8092440" y="4937760"/>
            <a:ext cx="3642055" cy="914400"/>
          </a:xfrm>
          <a:prstGeom prst="roundRect">
            <a:avLst>
              <a:gd name="adj" fmla="val 7000"/>
            </a:avLst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"/>
          <p:cNvSpPr txBox="1"/>
          <p:nvPr/>
        </p:nvSpPr>
        <p:spPr>
          <a:xfrm>
            <a:off x="8293608" y="5010912"/>
            <a:ext cx="3239719" cy="768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s-VE" sz="900" b="1" spc="12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GERENCIA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se cobra y cuánto queda en stand-by, por proyecto y por equipo, sin armar reportes a mano.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portes Di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2" name="Image" descr="Report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9768"/>
            <a:ext cx="219456" cy="219456"/>
          </a:xfrm>
          <a:prstGeom prst="rect">
            <a:avLst/>
          </a:prstGeom>
        </p:spPr>
      </p:pic>
      <p:sp>
        <p:nvSpPr>
          <p:cNvPr id="103" name="Text"/>
          <p:cNvSpPr txBox="1"/>
          <p:nvPr/>
        </p:nvSpPr>
        <p:spPr>
          <a:xfrm>
            <a:off x="1005840" y="2560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25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· Detalle de un Día</a:t>
            </a:r>
          </a:p>
        </p:txBody>
      </p:sp>
      <p:sp>
        <p:nvSpPr>
          <p:cNvPr id="104" name="Shape"/>
          <p:cNvSpPr/>
          <p:nvPr/>
        </p:nvSpPr>
        <p:spPr>
          <a:xfrm>
            <a:off x="9997135" y="3657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F1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"/>
          <p:cNvSpPr txBox="1"/>
          <p:nvPr/>
        </p:nvSpPr>
        <p:spPr>
          <a:xfrm>
            <a:off x="9997135" y="365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 03</a:t>
            </a:r>
          </a:p>
        </p:txBody>
      </p:sp>
      <p:sp>
        <p:nvSpPr>
          <p:cNvPr id="106" name="Line"/>
          <p:cNvSpPr/>
          <p:nvPr/>
        </p:nvSpPr>
        <p:spPr>
          <a:xfrm>
            <a:off x="457200" y="896112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"/>
          <p:cNvSpPr/>
          <p:nvPr/>
        </p:nvSpPr>
        <p:spPr>
          <a:xfrm>
            <a:off x="457200" y="1234440"/>
            <a:ext cx="11277295" cy="263703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8" name="Image" descr="Detalle de un día de Control de Hora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307592"/>
            <a:ext cx="11130991" cy="2490731"/>
          </a:xfrm>
          <a:prstGeom prst="rect">
            <a:avLst/>
          </a:prstGeom>
        </p:spPr>
      </p:pic>
      <p:sp>
        <p:nvSpPr>
          <p:cNvPr id="109" name="Text"/>
          <p:cNvSpPr txBox="1"/>
          <p:nvPr/>
        </p:nvSpPr>
        <p:spPr>
          <a:xfrm>
            <a:off x="530352" y="3962915"/>
            <a:ext cx="1127729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0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HORAS — DETALLE DE UN DÍA</a:t>
            </a:r>
            <a:r>
              <a:rPr lang="es-VE" sz="1050" spc="10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ejemplo: Chevron · Izamiento, 19/09/2026</a:t>
            </a:r>
          </a:p>
        </p:txBody>
      </p:sp>
      <p:sp>
        <p:nvSpPr>
          <p:cNvPr id="110" name="Shape"/>
          <p:cNvSpPr/>
          <p:nvPr/>
        </p:nvSpPr>
        <p:spPr>
          <a:xfrm>
            <a:off x="457200" y="4420115"/>
            <a:ext cx="2716454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1" name="Shape"/>
          <p:cNvSpPr/>
          <p:nvPr/>
        </p:nvSpPr>
        <p:spPr>
          <a:xfrm>
            <a:off x="640080" y="4602995"/>
            <a:ext cx="384048" cy="384048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2" name="Image" descr="Cualquier dí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685291"/>
            <a:ext cx="219456" cy="219456"/>
          </a:xfrm>
          <a:prstGeom prst="rect">
            <a:avLst/>
          </a:prstGeom>
        </p:spPr>
      </p:pic>
      <p:sp>
        <p:nvSpPr>
          <p:cNvPr id="113" name="Text"/>
          <p:cNvSpPr txBox="1"/>
          <p:nvPr/>
        </p:nvSpPr>
        <p:spPr>
          <a:xfrm>
            <a:off x="1143000" y="4602995"/>
            <a:ext cx="189349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Cualquier día</a:t>
            </a:r>
          </a:p>
        </p:txBody>
      </p:sp>
      <p:sp>
        <p:nvSpPr>
          <p:cNvPr id="114" name="Text"/>
          <p:cNvSpPr txBox="1"/>
          <p:nvPr/>
        </p:nvSpPr>
        <p:spPr>
          <a:xfrm>
            <a:off x="640080" y="5151635"/>
            <a:ext cx="2350694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es-VE" sz="12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empresa, proyecto y fecha para revisar la jornada completa.</a:t>
            </a:r>
          </a:p>
        </p:txBody>
      </p:sp>
      <p:sp>
        <p:nvSpPr>
          <p:cNvPr id="115" name="Shape"/>
          <p:cNvSpPr/>
          <p:nvPr/>
        </p:nvSpPr>
        <p:spPr>
          <a:xfrm>
            <a:off x="3310814" y="4420115"/>
            <a:ext cx="2716454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6" name="Shape"/>
          <p:cNvSpPr/>
          <p:nvPr/>
        </p:nvSpPr>
        <p:spPr>
          <a:xfrm>
            <a:off x="3493694" y="4602995"/>
            <a:ext cx="384048" cy="384048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7" name="Image" descr="Horas por equip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990" y="4685291"/>
            <a:ext cx="219456" cy="219456"/>
          </a:xfrm>
          <a:prstGeom prst="rect">
            <a:avLst/>
          </a:prstGeom>
        </p:spPr>
      </p:pic>
      <p:sp>
        <p:nvSpPr>
          <p:cNvPr id="118" name="Text"/>
          <p:cNvSpPr txBox="1"/>
          <p:nvPr/>
        </p:nvSpPr>
        <p:spPr>
          <a:xfrm>
            <a:off x="3996614" y="4602995"/>
            <a:ext cx="189349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 por equipo</a:t>
            </a:r>
          </a:p>
        </p:txBody>
      </p:sp>
      <p:sp>
        <p:nvSpPr>
          <p:cNvPr id="119" name="Text"/>
          <p:cNvSpPr txBox="1"/>
          <p:nvPr/>
        </p:nvSpPr>
        <p:spPr>
          <a:xfrm>
            <a:off x="3493694" y="5151635"/>
            <a:ext cx="2350694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es-VE" sz="12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Ejecutadas, disponibles, stand-by y totales de cada equipo ese día.</a:t>
            </a:r>
          </a:p>
        </p:txBody>
      </p:sp>
      <p:sp>
        <p:nvSpPr>
          <p:cNvPr id="120" name="Shape"/>
          <p:cNvSpPr/>
          <p:nvPr/>
        </p:nvSpPr>
        <p:spPr>
          <a:xfrm>
            <a:off x="6164428" y="4420115"/>
            <a:ext cx="2716454" cy="1600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Shape"/>
          <p:cNvSpPr/>
          <p:nvPr/>
        </p:nvSpPr>
        <p:spPr>
          <a:xfrm>
            <a:off x="6347308" y="4602995"/>
            <a:ext cx="384048" cy="384048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22" name="Image" descr="Cálculo automátic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604" y="4685291"/>
            <a:ext cx="219456" cy="219456"/>
          </a:xfrm>
          <a:prstGeom prst="rect">
            <a:avLst/>
          </a:prstGeom>
        </p:spPr>
      </p:pic>
      <p:sp>
        <p:nvSpPr>
          <p:cNvPr id="123" name="Text"/>
          <p:cNvSpPr txBox="1"/>
          <p:nvPr/>
        </p:nvSpPr>
        <p:spPr>
          <a:xfrm>
            <a:off x="6850228" y="4602995"/>
            <a:ext cx="189349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3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automático</a:t>
            </a:r>
          </a:p>
        </p:txBody>
      </p:sp>
      <p:sp>
        <p:nvSpPr>
          <p:cNvPr id="124" name="Text"/>
          <p:cNvSpPr txBox="1"/>
          <p:nvPr/>
        </p:nvSpPr>
        <p:spPr>
          <a:xfrm>
            <a:off x="6347308" y="5151635"/>
            <a:ext cx="2350694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es-VE" sz="1200" b="1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Hrs. totales = Total + Stand-by</a:t>
            </a:r>
          </a:p>
          <a:p>
            <a:pPr marL="0" indent="0" algn="l">
              <a:lnSpc>
                <a:spcPct val="110000"/>
              </a:lnSpc>
              <a:spcAft>
                <a:spcPts val="400"/>
              </a:spcAft>
              <a:buNone/>
            </a:pPr>
            <a:r>
              <a:rPr lang="es-VE" sz="1200" b="1" dirty="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Stand-by = Stand-by ÷ Hrs. totales</a:t>
            </a:r>
          </a:p>
        </p:txBody>
      </p:sp>
      <p:sp>
        <p:nvSpPr>
          <p:cNvPr id="125" name="Shape"/>
          <p:cNvSpPr/>
          <p:nvPr/>
        </p:nvSpPr>
        <p:spPr>
          <a:xfrm>
            <a:off x="9018041" y="4420115"/>
            <a:ext cx="2716454" cy="1600200"/>
          </a:xfrm>
          <a:prstGeom prst="roundRect">
            <a:avLst>
              <a:gd name="adj" fmla="val 7000"/>
            </a:avLst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"/>
          <p:cNvSpPr txBox="1"/>
          <p:nvPr/>
        </p:nvSpPr>
        <p:spPr>
          <a:xfrm>
            <a:off x="9219209" y="4557275"/>
            <a:ext cx="2314118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s-VE" sz="900" b="1" spc="12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REVISIÓN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s-VE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validar lo cargado en una jornada específica antes de cerrar el 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sumen por di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02" name="Image" descr="Report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9768"/>
            <a:ext cx="219456" cy="219456"/>
          </a:xfrm>
          <a:prstGeom prst="rect">
            <a:avLst/>
          </a:prstGeom>
        </p:spPr>
      </p:pic>
      <p:sp>
        <p:nvSpPr>
          <p:cNvPr id="103" name="Text"/>
          <p:cNvSpPr txBox="1"/>
          <p:nvPr/>
        </p:nvSpPr>
        <p:spPr>
          <a:xfrm>
            <a:off x="1005840" y="2560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25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· Resumen por Día</a:t>
            </a:r>
          </a:p>
        </p:txBody>
      </p:sp>
      <p:sp>
        <p:nvSpPr>
          <p:cNvPr id="104" name="Shape"/>
          <p:cNvSpPr/>
          <p:nvPr/>
        </p:nvSpPr>
        <p:spPr>
          <a:xfrm>
            <a:off x="9997135" y="3657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F1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"/>
          <p:cNvSpPr txBox="1"/>
          <p:nvPr/>
        </p:nvSpPr>
        <p:spPr>
          <a:xfrm>
            <a:off x="9997135" y="365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 03</a:t>
            </a:r>
          </a:p>
        </p:txBody>
      </p:sp>
      <p:sp>
        <p:nvSpPr>
          <p:cNvPr id="106" name="Line"/>
          <p:cNvSpPr/>
          <p:nvPr/>
        </p:nvSpPr>
        <p:spPr>
          <a:xfrm>
            <a:off x="457200" y="896112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"/>
          <p:cNvSpPr/>
          <p:nvPr/>
        </p:nvSpPr>
        <p:spPr>
          <a:xfrm>
            <a:off x="2393786" y="1115568"/>
            <a:ext cx="7404124" cy="512978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8" name="Image" descr="Control de Horas: resumen por dí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938" y="1188720"/>
            <a:ext cx="725782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EXUS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ogo NEXUS" descr="Logo NEXU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4048"/>
            <a:ext cx="1321385" cy="960120"/>
          </a:xfrm>
          <a:prstGeom prst="rect">
            <a:avLst/>
          </a:prstGeom>
        </p:spPr>
      </p:pic>
      <p:sp>
        <p:nvSpPr>
          <p:cNvPr id="102" name="Text"/>
          <p:cNvSpPr txBox="1"/>
          <p:nvPr/>
        </p:nvSpPr>
        <p:spPr>
          <a:xfrm>
            <a:off x="2098625" y="411480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200" b="1" spc="15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 04 · FLOTA EN TIEMPO REAL</a:t>
            </a:r>
            <a:endParaRPr lang="es-VE" sz="1200" b="1" spc="150" dirty="0">
              <a:solidFill>
                <a:srgbClr val="D99B0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3" name="Text"/>
          <p:cNvSpPr txBox="1"/>
          <p:nvPr/>
        </p:nvSpPr>
        <p:spPr>
          <a:xfrm>
            <a:off x="2098625" y="658368"/>
            <a:ext cx="82798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30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 GPS de Flota</a:t>
            </a:r>
            <a:endParaRPr lang="es-VE" sz="30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104" name="Text"/>
          <p:cNvSpPr txBox="1"/>
          <p:nvPr/>
        </p:nvSpPr>
        <p:spPr>
          <a:xfrm>
            <a:off x="2098625" y="11521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250" i="1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Monitoreo, alertas y reportes de la flota, conectados al GPS y a Telegram</a:t>
            </a:r>
            <a:endParaRPr lang="es-VE" sz="1250" i="1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5" name="Line"/>
          <p:cNvSpPr/>
          <p:nvPr/>
        </p:nvSpPr>
        <p:spPr>
          <a:xfrm>
            <a:off x="457200" y="1572768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"/>
          <p:cNvSpPr txBox="1"/>
          <p:nvPr/>
        </p:nvSpPr>
        <p:spPr>
          <a:xfrm>
            <a:off x="502920" y="1783080"/>
            <a:ext cx="5257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10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</a:t>
            </a:r>
          </a:p>
        </p:txBody>
      </p:sp>
      <p:sp>
        <p:nvSpPr>
          <p:cNvPr id="107" name="Text"/>
          <p:cNvSpPr txBox="1"/>
          <p:nvPr/>
        </p:nvSpPr>
        <p:spPr>
          <a:xfrm>
            <a:off x="502920" y="2084832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s-ES" sz="12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 </a:t>
            </a:r>
            <a:r>
              <a:rPr lang="es-ES" sz="1250" b="1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75 unidades de la flota</a:t>
            </a:r>
            <a:r>
              <a:rPr lang="es-ES" sz="12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los datos del GPS de GEvolution: dónde está cada una, si está activa o estacionada, qué recorrido hizo y cuándo entra o sale de una geocerca. Y </a:t>
            </a:r>
            <a:r>
              <a:rPr lang="es-ES" sz="1250" b="1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solo por Telegram</a:t>
            </a:r>
            <a:r>
              <a:rPr lang="es-ES" sz="12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VE" sz="1250" dirty="0">
              <a:solidFill>
                <a:srgbClr val="0E24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8" name="Text"/>
          <p:cNvSpPr txBox="1"/>
          <p:nvPr/>
        </p:nvSpPr>
        <p:spPr>
          <a:xfrm>
            <a:off x="502920" y="290779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100" i="1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incluye:</a:t>
            </a:r>
            <a:endParaRPr lang="es-VE" sz="1100" i="1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9" name="Shape"/>
          <p:cNvSpPr/>
          <p:nvPr/>
        </p:nvSpPr>
        <p:spPr>
          <a:xfrm>
            <a:off x="508000" y="3200400"/>
            <a:ext cx="1346200" cy="310896"/>
          </a:xfrm>
          <a:prstGeom prst="roundRect">
            <a:avLst>
              <a:gd name="adj" fmla="val 50000"/>
            </a:avLst>
          </a:prstGeom>
          <a:solidFill>
            <a:srgbClr val="FBF3DD"/>
          </a:solidFill>
          <a:ln w="9525">
            <a:solidFill>
              <a:srgbClr val="E9C46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"/>
          <p:cNvSpPr txBox="1"/>
          <p:nvPr/>
        </p:nvSpPr>
        <p:spPr>
          <a:xfrm>
            <a:off x="508000" y="3200400"/>
            <a:ext cx="1346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50" b="1">
                <a:solidFill>
                  <a:srgbClr val="9A69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flota</a:t>
            </a:r>
            <a:endParaRPr lang="es-VE" sz="1050" b="1" dirty="0">
              <a:solidFill>
                <a:srgbClr val="9A690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1" name="Shape"/>
          <p:cNvSpPr/>
          <p:nvPr/>
        </p:nvSpPr>
        <p:spPr>
          <a:xfrm>
            <a:off x="1955800" y="3200400"/>
            <a:ext cx="1485900" cy="310896"/>
          </a:xfrm>
          <a:prstGeom prst="roundRect">
            <a:avLst>
              <a:gd name="adj" fmla="val 50000"/>
            </a:avLst>
          </a:prstGeom>
          <a:solidFill>
            <a:srgbClr val="FBF3DD"/>
          </a:solidFill>
          <a:ln w="9525">
            <a:solidFill>
              <a:srgbClr val="E9C46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"/>
          <p:cNvSpPr txBox="1"/>
          <p:nvPr/>
        </p:nvSpPr>
        <p:spPr>
          <a:xfrm>
            <a:off x="1955800" y="3200400"/>
            <a:ext cx="14859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50" b="1">
                <a:solidFill>
                  <a:srgbClr val="9A69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y recorridos</a:t>
            </a:r>
            <a:endParaRPr lang="es-VE" sz="1050" b="1" dirty="0">
              <a:solidFill>
                <a:srgbClr val="9A690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3" name="Shape"/>
          <p:cNvSpPr/>
          <p:nvPr/>
        </p:nvSpPr>
        <p:spPr>
          <a:xfrm>
            <a:off x="3543300" y="3200400"/>
            <a:ext cx="774700" cy="310896"/>
          </a:xfrm>
          <a:prstGeom prst="roundRect">
            <a:avLst>
              <a:gd name="adj" fmla="val 50000"/>
            </a:avLst>
          </a:prstGeom>
          <a:solidFill>
            <a:srgbClr val="FBF3DD"/>
          </a:solidFill>
          <a:ln w="9525">
            <a:solidFill>
              <a:srgbClr val="E9C46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"/>
          <p:cNvSpPr txBox="1"/>
          <p:nvPr/>
        </p:nvSpPr>
        <p:spPr>
          <a:xfrm>
            <a:off x="3543300" y="3200400"/>
            <a:ext cx="7747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50" b="1">
                <a:solidFill>
                  <a:srgbClr val="9A69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s-VE" sz="1050" b="1" dirty="0">
              <a:solidFill>
                <a:srgbClr val="9A690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5" name="Shape"/>
          <p:cNvSpPr/>
          <p:nvPr/>
        </p:nvSpPr>
        <p:spPr>
          <a:xfrm>
            <a:off x="4419600" y="3200400"/>
            <a:ext cx="1485900" cy="310896"/>
          </a:xfrm>
          <a:prstGeom prst="roundRect">
            <a:avLst>
              <a:gd name="adj" fmla="val 50000"/>
            </a:avLst>
          </a:prstGeom>
          <a:solidFill>
            <a:srgbClr val="FBF3DD"/>
          </a:solidFill>
          <a:ln w="9525">
            <a:solidFill>
              <a:srgbClr val="E9C46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"/>
          <p:cNvSpPr txBox="1"/>
          <p:nvPr/>
        </p:nvSpPr>
        <p:spPr>
          <a:xfrm>
            <a:off x="4419600" y="3200400"/>
            <a:ext cx="14859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50" b="1">
                <a:solidFill>
                  <a:srgbClr val="9A69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turno</a:t>
            </a:r>
            <a:endParaRPr lang="es-VE" sz="1050" b="1" dirty="0">
              <a:solidFill>
                <a:srgbClr val="9A690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7" name="Text"/>
          <p:cNvSpPr txBox="1"/>
          <p:nvPr/>
        </p:nvSpPr>
        <p:spPr>
          <a:xfrm>
            <a:off x="502920" y="3730752"/>
            <a:ext cx="5257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10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RESUELVE</a:t>
            </a:r>
          </a:p>
        </p:txBody>
      </p:sp>
      <p:sp>
        <p:nvSpPr>
          <p:cNvPr id="118" name="Text"/>
          <p:cNvSpPr txBox="1"/>
          <p:nvPr/>
        </p:nvSpPr>
        <p:spPr>
          <a:xfrm>
            <a:off x="502920" y="4032504"/>
            <a:ext cx="52578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0000"/>
              </a:lnSpc>
              <a:spcAft>
                <a:spcPts val="600"/>
              </a:spcAft>
              <a:buClr>
                <a:srgbClr val="C0392B"/>
              </a:buClr>
              <a:buSzPct val="100000"/>
              <a:buChar char="•"/>
            </a:pPr>
            <a:r>
              <a:rPr lang="es-ES" sz="120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flota obligaba a entrar al portal del GPS, unidad por unidad.</a:t>
            </a:r>
            <a:endParaRPr lang="es-VE" sz="120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 algn="l">
              <a:lnSpc>
                <a:spcPct val="110000"/>
              </a:lnSpc>
              <a:spcAft>
                <a:spcPts val="600"/>
              </a:spcAft>
              <a:buClr>
                <a:srgbClr val="C0392B"/>
              </a:buClr>
              <a:buSzPct val="100000"/>
              <a:buChar char="•"/>
            </a:pPr>
            <a:r>
              <a:rPr lang="es-ES" sz="120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Salidas de geocerca y circulación fuera de horario se veían tarde.</a:t>
            </a:r>
            <a:endParaRPr lang="es-VE" sz="120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 algn="l">
              <a:lnSpc>
                <a:spcPct val="110000"/>
              </a:lnSpc>
              <a:spcAft>
                <a:spcPts val="600"/>
              </a:spcAft>
              <a:buClr>
                <a:srgbClr val="C0392B"/>
              </a:buClr>
              <a:buSzPct val="100000"/>
              <a:buChar char="•"/>
            </a:pPr>
            <a:r>
              <a:rPr lang="es-ES" sz="120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reportes de cada turno se armaban a mano en Excel.</a:t>
            </a:r>
            <a:endParaRPr lang="es-VE" sz="120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 algn="l">
              <a:lnSpc>
                <a:spcPct val="110000"/>
              </a:lnSpc>
              <a:spcAft>
                <a:spcPts val="600"/>
              </a:spcAft>
              <a:buClr>
                <a:srgbClr val="C0392B"/>
              </a:buClr>
              <a:buSzPct val="100000"/>
              <a:buChar char="•"/>
            </a:pPr>
            <a:r>
              <a:rPr lang="es-ES" sz="120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GPS solo conoce la placa, no el código, el conductor ni la flota.</a:t>
            </a:r>
            <a:endParaRPr lang="es-VE" sz="120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9" name="Text"/>
          <p:cNvSpPr txBox="1"/>
          <p:nvPr/>
        </p:nvSpPr>
        <p:spPr>
          <a:xfrm>
            <a:off x="6172200" y="1783080"/>
            <a:ext cx="556229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10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</a:p>
        </p:txBody>
      </p:sp>
      <p:sp>
        <p:nvSpPr>
          <p:cNvPr id="120" name="Shape"/>
          <p:cNvSpPr/>
          <p:nvPr/>
        </p:nvSpPr>
        <p:spPr>
          <a:xfrm>
            <a:off x="6172200" y="2103120"/>
            <a:ext cx="5562295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1" name="Shape"/>
          <p:cNvSpPr/>
          <p:nvPr/>
        </p:nvSpPr>
        <p:spPr>
          <a:xfrm>
            <a:off x="6318504" y="2203704"/>
            <a:ext cx="438912" cy="438912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"/>
          <p:cNvSpPr txBox="1"/>
          <p:nvPr/>
        </p:nvSpPr>
        <p:spPr>
          <a:xfrm>
            <a:off x="6318504" y="2203704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500">
                <a:solidFill>
                  <a:srgbClr val="000000"/>
                </a:solidFill>
              </a:rPr>
              <a:t>📡</a:t>
            </a:r>
            <a:endParaRPr lang="es-VE" sz="1500" dirty="0">
              <a:solidFill>
                <a:srgbClr val="000000"/>
              </a:solidFill>
            </a:endParaRPr>
          </a:p>
        </p:txBody>
      </p:sp>
      <p:sp>
        <p:nvSpPr>
          <p:cNvPr id="123" name="Text"/>
          <p:cNvSpPr txBox="1"/>
          <p:nvPr/>
        </p:nvSpPr>
        <p:spPr>
          <a:xfrm>
            <a:off x="6922008" y="2167128"/>
            <a:ext cx="4647895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Flota en vivo</a:t>
            </a:r>
            <a:endParaRPr lang="es-VE" sz="13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s-ES" sz="10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Activas, estacionadas y sin señal de las 75 unidades, en una sola pantalla.</a:t>
            </a:r>
            <a:endParaRPr lang="es-VE" sz="10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4" name="Shape"/>
          <p:cNvSpPr/>
          <p:nvPr/>
        </p:nvSpPr>
        <p:spPr>
          <a:xfrm>
            <a:off x="6172200" y="2825496"/>
            <a:ext cx="5562295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5" name="Shape"/>
          <p:cNvSpPr/>
          <p:nvPr/>
        </p:nvSpPr>
        <p:spPr>
          <a:xfrm>
            <a:off x="6318504" y="2926080"/>
            <a:ext cx="438912" cy="438912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"/>
          <p:cNvSpPr txBox="1"/>
          <p:nvPr/>
        </p:nvSpPr>
        <p:spPr>
          <a:xfrm>
            <a:off x="6318504" y="2926080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500">
                <a:solidFill>
                  <a:srgbClr val="000000"/>
                </a:solidFill>
              </a:rPr>
              <a:t>🗺️</a:t>
            </a:r>
            <a:endParaRPr lang="es-VE" sz="1500" dirty="0">
              <a:solidFill>
                <a:srgbClr val="000000"/>
              </a:solidFill>
            </a:endParaRPr>
          </a:p>
        </p:txBody>
      </p:sp>
      <p:sp>
        <p:nvSpPr>
          <p:cNvPr id="127" name="Text"/>
          <p:cNvSpPr txBox="1"/>
          <p:nvPr/>
        </p:nvSpPr>
        <p:spPr>
          <a:xfrm>
            <a:off x="6922008" y="2889504"/>
            <a:ext cx="4647895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Recorridos con ruta</a:t>
            </a:r>
            <a:endParaRPr lang="es-VE" sz="13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s-ES" sz="10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 del día de cada unidad, con kilómetros, horas y la ruta real sobre el mapa.</a:t>
            </a:r>
            <a:endParaRPr lang="es-VE" sz="10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8" name="Shape"/>
          <p:cNvSpPr/>
          <p:nvPr/>
        </p:nvSpPr>
        <p:spPr>
          <a:xfrm>
            <a:off x="6172200" y="3547872"/>
            <a:ext cx="5562295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9" name="Shape"/>
          <p:cNvSpPr/>
          <p:nvPr/>
        </p:nvSpPr>
        <p:spPr>
          <a:xfrm>
            <a:off x="6318504" y="3648456"/>
            <a:ext cx="438912" cy="438912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"/>
          <p:cNvSpPr txBox="1"/>
          <p:nvPr/>
        </p:nvSpPr>
        <p:spPr>
          <a:xfrm>
            <a:off x="6318504" y="364845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500">
                <a:solidFill>
                  <a:srgbClr val="000000"/>
                </a:solidFill>
              </a:rPr>
              <a:t>🔔</a:t>
            </a:r>
            <a:endParaRPr lang="es-VE" sz="1500" dirty="0">
              <a:solidFill>
                <a:srgbClr val="000000"/>
              </a:solidFill>
            </a:endParaRPr>
          </a:p>
        </p:txBody>
      </p:sp>
      <p:sp>
        <p:nvSpPr>
          <p:cNvPr id="131" name="Text"/>
          <p:cNvSpPr txBox="1"/>
          <p:nvPr/>
        </p:nvSpPr>
        <p:spPr>
          <a:xfrm>
            <a:off x="6922008" y="3611880"/>
            <a:ext cx="4647895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Alertas precisas</a:t>
            </a:r>
            <a:endParaRPr lang="es-VE" sz="13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s-ES" sz="10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día, entradas y salidas de geocerca; de noche, circulación fuera de horario.</a:t>
            </a:r>
            <a:endParaRPr lang="es-VE" sz="10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2" name="Shape"/>
          <p:cNvSpPr/>
          <p:nvPr/>
        </p:nvSpPr>
        <p:spPr>
          <a:xfrm>
            <a:off x="6172200" y="4270248"/>
            <a:ext cx="5562295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3" name="Shape"/>
          <p:cNvSpPr/>
          <p:nvPr/>
        </p:nvSpPr>
        <p:spPr>
          <a:xfrm>
            <a:off x="6318504" y="4370832"/>
            <a:ext cx="438912" cy="438912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"/>
          <p:cNvSpPr txBox="1"/>
          <p:nvPr/>
        </p:nvSpPr>
        <p:spPr>
          <a:xfrm>
            <a:off x="6318504" y="437083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500">
                <a:solidFill>
                  <a:srgbClr val="000000"/>
                </a:solidFill>
              </a:rPr>
              <a:t>📨</a:t>
            </a:r>
            <a:endParaRPr lang="es-VE" sz="1500" dirty="0">
              <a:solidFill>
                <a:srgbClr val="000000"/>
              </a:solidFill>
            </a:endParaRPr>
          </a:p>
        </p:txBody>
      </p:sp>
      <p:sp>
        <p:nvSpPr>
          <p:cNvPr id="135" name="Text"/>
          <p:cNvSpPr txBox="1"/>
          <p:nvPr/>
        </p:nvSpPr>
        <p:spPr>
          <a:xfrm>
            <a:off x="6922008" y="4334256"/>
            <a:ext cx="4647895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llega a Telegram</a:t>
            </a:r>
            <a:endParaRPr lang="es-VE" sz="13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s-ES" sz="10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reportes de turno en el chat, solo para personas aprobadas.</a:t>
            </a:r>
            <a:endParaRPr lang="es-VE" sz="10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6" name="Shape"/>
          <p:cNvSpPr/>
          <p:nvPr/>
        </p:nvSpPr>
        <p:spPr>
          <a:xfrm>
            <a:off x="6172200" y="4992624"/>
            <a:ext cx="5562295" cy="6400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7" name="Shape"/>
          <p:cNvSpPr/>
          <p:nvPr/>
        </p:nvSpPr>
        <p:spPr>
          <a:xfrm>
            <a:off x="6318504" y="5093208"/>
            <a:ext cx="438912" cy="438912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"/>
          <p:cNvSpPr txBox="1"/>
          <p:nvPr/>
        </p:nvSpPr>
        <p:spPr>
          <a:xfrm>
            <a:off x="6318504" y="509320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500">
                <a:solidFill>
                  <a:srgbClr val="000000"/>
                </a:solidFill>
              </a:rPr>
              <a:t>📊</a:t>
            </a:r>
            <a:endParaRPr lang="es-VE" sz="1500" dirty="0">
              <a:solidFill>
                <a:srgbClr val="000000"/>
              </a:solidFill>
            </a:endParaRPr>
          </a:p>
        </p:txBody>
      </p:sp>
      <p:sp>
        <p:nvSpPr>
          <p:cNvPr id="139" name="Text"/>
          <p:cNvSpPr txBox="1"/>
          <p:nvPr/>
        </p:nvSpPr>
        <p:spPr>
          <a:xfrm>
            <a:off x="6922008" y="5056632"/>
            <a:ext cx="4647895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automáticos</a:t>
            </a:r>
            <a:endParaRPr lang="es-VE" sz="13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s-ES" sz="10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cortes por turno en Excel, PDF e imagen, sin armarlos a mano.</a:t>
            </a:r>
            <a:endParaRPr lang="es-VE" sz="10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0" name="Shape"/>
          <p:cNvSpPr/>
          <p:nvPr/>
        </p:nvSpPr>
        <p:spPr>
          <a:xfrm>
            <a:off x="457200" y="5897880"/>
            <a:ext cx="11277295" cy="658368"/>
          </a:xfrm>
          <a:prstGeom prst="roundRect">
            <a:avLst>
              <a:gd name="adj" fmla="val 12000"/>
            </a:avLst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" name="Text"/>
          <p:cNvSpPr txBox="1"/>
          <p:nvPr/>
        </p:nvSpPr>
        <p:spPr>
          <a:xfrm>
            <a:off x="685800" y="5971032"/>
            <a:ext cx="137160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s-VE" sz="900" b="1" spc="12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s-VE" sz="900" b="1" spc="120" dirty="0">
              <a:solidFill>
                <a:srgbClr val="E9C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funcionamiento</a:t>
            </a:r>
            <a:endParaRPr lang="es-VE" sz="105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2" name="Text"/>
          <p:cNvSpPr txBox="1"/>
          <p:nvPr/>
        </p:nvSpPr>
        <p:spPr>
          <a:xfrm>
            <a:off x="2240280" y="5971032"/>
            <a:ext cx="333756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s-VE" sz="900" b="1" spc="12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DATOS</a:t>
            </a:r>
            <a:endParaRPr lang="es-VE" sz="900" b="1" spc="120" dirty="0">
              <a:solidFill>
                <a:srgbClr val="E9C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VE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GEvolution · 75 unidades · registro interno de placas</a:t>
            </a:r>
            <a:endParaRPr lang="es-VE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3" name="Text"/>
          <p:cNvSpPr txBox="1"/>
          <p:nvPr/>
        </p:nvSpPr>
        <p:spPr>
          <a:xfrm>
            <a:off x="5760720" y="5971032"/>
            <a:ext cx="25603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s-VE" sz="900" b="1" spc="12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s-VE" sz="900" b="1" spc="120" dirty="0">
              <a:solidFill>
                <a:srgbClr val="E9C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E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9:05 am · 2:05 pm · 9:05 pm y alertas de día y de noche</a:t>
            </a:r>
            <a:endParaRPr lang="es-VE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4" name="Text"/>
          <p:cNvSpPr txBox="1"/>
          <p:nvPr/>
        </p:nvSpPr>
        <p:spPr>
          <a:xfrm>
            <a:off x="8503920" y="5971032"/>
            <a:ext cx="28346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s-VE" sz="900" b="1" spc="12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s-VE" sz="900" b="1" spc="120" dirty="0">
              <a:solidFill>
                <a:srgbClr val="E9C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E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 Telegram con acceso por aprobación</a:t>
            </a:r>
            <a:endParaRPr lang="es-VE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0096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busti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F3B860-7AA5-9D15-20EF-0EAB12F2FBA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9768"/>
            <a:ext cx="219456" cy="219456"/>
          </a:xfrm>
          <a:prstGeom prst="rect">
            <a:avLst/>
          </a:prstGeom>
        </p:spPr>
      </p:pic>
      <p:sp>
        <p:nvSpPr>
          <p:cNvPr id="103" name="Text"/>
          <p:cNvSpPr txBox="1"/>
          <p:nvPr/>
        </p:nvSpPr>
        <p:spPr>
          <a:xfrm>
            <a:off x="1005840" y="2560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25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 GPS · Estado de Flota</a:t>
            </a:r>
            <a:endParaRPr lang="es-VE" sz="25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104" name="Shape"/>
          <p:cNvSpPr/>
          <p:nvPr/>
        </p:nvSpPr>
        <p:spPr>
          <a:xfrm>
            <a:off x="9997135" y="3657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F1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"/>
          <p:cNvSpPr txBox="1"/>
          <p:nvPr/>
        </p:nvSpPr>
        <p:spPr>
          <a:xfrm>
            <a:off x="9997135" y="365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 04</a:t>
            </a:r>
            <a:endParaRPr lang="es-VE" sz="1000" b="1" dirty="0">
              <a:solidFill>
                <a:srgbClr val="0E24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6" name="Line"/>
          <p:cNvSpPr/>
          <p:nvPr/>
        </p:nvSpPr>
        <p:spPr>
          <a:xfrm>
            <a:off x="457200" y="896112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"/>
          <p:cNvSpPr/>
          <p:nvPr/>
        </p:nvSpPr>
        <p:spPr>
          <a:xfrm>
            <a:off x="457200" y="1143000"/>
            <a:ext cx="7589520" cy="373216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C7DC18-510E-DE0F-046A-28BBA5F84E23}"/>
              </a:ext>
            </a:extLst>
          </p:cNvPr>
          <p:cNvPicPr>
            <a:picLocks/>
          </p:cNvPicPr>
          <p:nvPr/>
        </p:nvPicPr>
        <p:blipFill>
          <a:blip r:embed="rId3"/>
          <a:srcRect r="50"/>
          <a:stretch>
            <a:fillRect/>
          </a:stretch>
        </p:blipFill>
        <p:spPr>
          <a:xfrm>
            <a:off x="530352" y="1216153"/>
            <a:ext cx="7443216" cy="3585865"/>
          </a:xfrm>
          <a:prstGeom prst="rect">
            <a:avLst/>
          </a:prstGeom>
        </p:spPr>
      </p:pic>
      <p:sp>
        <p:nvSpPr>
          <p:cNvPr id="109" name="Text"/>
          <p:cNvSpPr txBox="1"/>
          <p:nvPr/>
        </p:nvSpPr>
        <p:spPr>
          <a:xfrm>
            <a:off x="530352" y="4966609"/>
            <a:ext cx="7589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050" b="1" spc="10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FLOTA</a:t>
            </a:r>
            <a:r>
              <a:rPr lang="es-ES" sz="1050" spc="10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vista en vivo de las 76 unidades</a:t>
            </a:r>
            <a:endParaRPr lang="es-VE" sz="1050" spc="100" dirty="0">
              <a:solidFill>
                <a:srgbClr val="D99B0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0" name="Shape"/>
          <p:cNvSpPr/>
          <p:nvPr/>
        </p:nvSpPr>
        <p:spPr>
          <a:xfrm>
            <a:off x="457200" y="5378089"/>
            <a:ext cx="243840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"/>
          <p:cNvSpPr/>
          <p:nvPr/>
        </p:nvSpPr>
        <p:spPr>
          <a:xfrm>
            <a:off x="594360" y="5688985"/>
            <a:ext cx="384048" cy="384048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C80000-5040-1FC3-18C4-0E6C3DC12CF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771281"/>
            <a:ext cx="219456" cy="219456"/>
          </a:xfrm>
          <a:prstGeom prst="rect">
            <a:avLst/>
          </a:prstGeom>
        </p:spPr>
      </p:pic>
      <p:sp>
        <p:nvSpPr>
          <p:cNvPr id="113" name="Text"/>
          <p:cNvSpPr txBox="1"/>
          <p:nvPr/>
        </p:nvSpPr>
        <p:spPr>
          <a:xfrm>
            <a:off x="1097280" y="5451241"/>
            <a:ext cx="170688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2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indicadores</a:t>
            </a:r>
            <a:endParaRPr lang="es-VE" sz="12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ES" sz="100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Activas + estacionadas = total; sin señal, desglosada.</a:t>
            </a:r>
            <a:endParaRPr lang="es-VE" sz="100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4" name="Shape"/>
          <p:cNvSpPr/>
          <p:nvPr/>
        </p:nvSpPr>
        <p:spPr>
          <a:xfrm>
            <a:off x="3032760" y="5378089"/>
            <a:ext cx="243840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"/>
          <p:cNvSpPr/>
          <p:nvPr/>
        </p:nvSpPr>
        <p:spPr>
          <a:xfrm>
            <a:off x="3169920" y="5688985"/>
            <a:ext cx="384048" cy="384048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78905D-39A4-CA01-3828-DD7A1D071EC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252216" y="5771281"/>
            <a:ext cx="219456" cy="219456"/>
          </a:xfrm>
          <a:prstGeom prst="rect">
            <a:avLst/>
          </a:prstGeom>
        </p:spPr>
      </p:pic>
      <p:sp>
        <p:nvSpPr>
          <p:cNvPr id="117" name="Text"/>
          <p:cNvSpPr txBox="1"/>
          <p:nvPr/>
        </p:nvSpPr>
        <p:spPr>
          <a:xfrm>
            <a:off x="3672840" y="5451241"/>
            <a:ext cx="170688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2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Buscar y filtrar</a:t>
            </a:r>
            <a:endParaRPr lang="es-VE" sz="12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ES" sz="100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unidad, placa, tipo de flota o ubicación.</a:t>
            </a:r>
            <a:endParaRPr lang="es-VE" sz="100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8" name="Shape"/>
          <p:cNvSpPr/>
          <p:nvPr/>
        </p:nvSpPr>
        <p:spPr>
          <a:xfrm>
            <a:off x="5608320" y="5378089"/>
            <a:ext cx="243840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"/>
          <p:cNvSpPr/>
          <p:nvPr/>
        </p:nvSpPr>
        <p:spPr>
          <a:xfrm>
            <a:off x="5745480" y="5688985"/>
            <a:ext cx="384048" cy="384048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30B806-75B5-9343-2837-F9081FCBB5C6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827776" y="5771281"/>
            <a:ext cx="219456" cy="219456"/>
          </a:xfrm>
          <a:prstGeom prst="rect">
            <a:avLst/>
          </a:prstGeom>
        </p:spPr>
      </p:pic>
      <p:sp>
        <p:nvSpPr>
          <p:cNvPr id="121" name="Text"/>
          <p:cNvSpPr txBox="1"/>
          <p:nvPr/>
        </p:nvSpPr>
        <p:spPr>
          <a:xfrm>
            <a:off x="6248400" y="5451241"/>
            <a:ext cx="170688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2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Motivo probable</a:t>
            </a:r>
            <a:endParaRPr lang="es-VE" sz="12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ES" sz="100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Batería, alimentación, satélites o equipo apagado.</a:t>
            </a:r>
            <a:endParaRPr lang="es-VE" sz="100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2" name="Text"/>
          <p:cNvSpPr txBox="1"/>
          <p:nvPr/>
        </p:nvSpPr>
        <p:spPr>
          <a:xfrm>
            <a:off x="8366760" y="1143000"/>
            <a:ext cx="336773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</a:t>
            </a:r>
          </a:p>
        </p:txBody>
      </p:sp>
      <p:sp>
        <p:nvSpPr>
          <p:cNvPr id="123" name="Text"/>
          <p:cNvSpPr txBox="1"/>
          <p:nvPr/>
        </p:nvSpPr>
        <p:spPr>
          <a:xfrm>
            <a:off x="8366760" y="1472184"/>
            <a:ext cx="3367735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ES" sz="11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unidad con su código, flota, placa, conductor, ubicación y hora de la última lectura.</a:t>
            </a:r>
            <a:endParaRPr lang="es-VE" sz="115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ES" sz="11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sin señal suman en su último estado (activa o estacionada).</a:t>
            </a:r>
            <a:endParaRPr lang="es-VE" sz="115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ES" sz="11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una: última conexión, tiempo sin señal y motivo.</a:t>
            </a:r>
            <a:endParaRPr lang="es-VE" sz="115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4" name="Text"/>
          <p:cNvSpPr txBox="1"/>
          <p:nvPr/>
        </p:nvSpPr>
        <p:spPr>
          <a:xfrm>
            <a:off x="8366760" y="3017520"/>
            <a:ext cx="336773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USA</a:t>
            </a:r>
          </a:p>
        </p:txBody>
      </p:sp>
      <p:sp>
        <p:nvSpPr>
          <p:cNvPr id="125" name="Text"/>
          <p:cNvSpPr txBox="1"/>
          <p:nvPr/>
        </p:nvSpPr>
        <p:spPr>
          <a:xfrm>
            <a:off x="8366760" y="3346704"/>
            <a:ext cx="3367735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ES" sz="11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abre el bloque que interesa y se busca la unidad.</a:t>
            </a:r>
            <a:endParaRPr lang="es-VE" sz="115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ES" sz="11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"Sincronizar ahora" actualiza al momento; además se sincroniza solo en horarios fijos.</a:t>
            </a:r>
            <a:endParaRPr lang="es-VE" sz="115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ES" sz="11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motivo probable orienta la revisión en sitio.</a:t>
            </a:r>
            <a:endParaRPr lang="es-VE" sz="115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6" name="Shape"/>
          <p:cNvSpPr/>
          <p:nvPr/>
        </p:nvSpPr>
        <p:spPr>
          <a:xfrm>
            <a:off x="8366760" y="5378089"/>
            <a:ext cx="3367735" cy="1005840"/>
          </a:xfrm>
          <a:prstGeom prst="roundRect">
            <a:avLst>
              <a:gd name="adj" fmla="val 7000"/>
            </a:avLst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B24834-0664-457E-7AF2-2F91D7E2163F}"/>
              </a:ext>
            </a:extLst>
          </p:cNvPr>
          <p:cNvSpPr txBox="1"/>
          <p:nvPr/>
        </p:nvSpPr>
        <p:spPr>
          <a:xfrm>
            <a:off x="8569960" y="5517789"/>
            <a:ext cx="1315568" cy="7264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900" b="1" spc="150">
                <a:solidFill>
                  <a:srgbClr val="94A3B8"/>
                </a:solidFill>
                <a:latin typeface="Calibri" panose="020F0502020204030204" pitchFamily="34" charset="0"/>
              </a:rPr>
              <a:t>ANTES</a:t>
            </a:r>
          </a:p>
          <a:p>
            <a:pPr>
              <a:spcBef>
                <a:spcPts val="300"/>
              </a:spcBef>
            </a:pPr>
            <a:r>
              <a:rPr lang="es-ES" sz="1050">
                <a:solidFill>
                  <a:srgbClr val="CBD5E1"/>
                </a:solidFill>
                <a:latin typeface="Calibri" panose="020F0502020204030204" pitchFamily="34" charset="0"/>
              </a:rPr>
              <a:t>Se revisaba el portal del GPS, unidad por unidad.</a:t>
            </a:r>
            <a:endParaRPr lang="en-US" sz="1050">
              <a:solidFill>
                <a:srgbClr val="CBD5E1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A9FF23-2E29-0DE7-C2EB-B1F2927460E5}"/>
              </a:ext>
            </a:extLst>
          </p:cNvPr>
          <p:cNvSpPr txBox="1"/>
          <p:nvPr/>
        </p:nvSpPr>
        <p:spPr>
          <a:xfrm>
            <a:off x="10215728" y="5517789"/>
            <a:ext cx="1315568" cy="72644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900" b="1" spc="150">
                <a:solidFill>
                  <a:srgbClr val="E9C46A"/>
                </a:solidFill>
                <a:latin typeface="Calibri" panose="020F0502020204030204" pitchFamily="34" charset="0"/>
              </a:rPr>
              <a:t>AHORA</a:t>
            </a:r>
          </a:p>
          <a:p>
            <a:pPr>
              <a:spcBef>
                <a:spcPts val="300"/>
              </a:spcBef>
            </a:pPr>
            <a:r>
              <a:rPr lang="es-ES" sz="1050" b="1">
                <a:solidFill>
                  <a:srgbClr val="FFFFFF"/>
                </a:solidFill>
                <a:latin typeface="Calibri" panose="020F0502020204030204" pitchFamily="34" charset="0"/>
              </a:rPr>
              <a:t>Toda la flota clasificada en una sola pantalla.</a:t>
            </a:r>
            <a:endParaRPr lang="en-US" sz="105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AF6AC3-8114-B98F-0830-4AA81FB83033}"/>
              </a:ext>
            </a:extLst>
          </p:cNvPr>
          <p:cNvSpPr txBox="1"/>
          <p:nvPr/>
        </p:nvSpPr>
        <p:spPr>
          <a:xfrm>
            <a:off x="9885528" y="5517789"/>
            <a:ext cx="208390" cy="726440"/>
          </a:xfrm>
          <a:prstGeom prst="rect">
            <a:avLst/>
          </a:prstGeom>
          <a:noFill/>
        </p:spPr>
        <p:txBody>
          <a:bodyPr vert="horz" wrap="none" lIns="0" rIns="0" rtlCol="0" anchor="ctr">
            <a:noAutofit/>
          </a:bodyPr>
          <a:lstStyle/>
          <a:p>
            <a:pPr algn="ctr"/>
            <a:r>
              <a:rPr lang="en-US" b="1">
                <a:solidFill>
                  <a:srgbClr val="E9C46A"/>
                </a:solidFill>
                <a:latin typeface="Calibri" panose="020F0502020204030204" pitchFamily="34" charset="0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754533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nque de Gasoi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CB02BB-F7ED-3981-7FFA-BA3198BE44A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9768"/>
            <a:ext cx="219456" cy="219456"/>
          </a:xfrm>
          <a:prstGeom prst="rect">
            <a:avLst/>
          </a:prstGeom>
        </p:spPr>
      </p:pic>
      <p:sp>
        <p:nvSpPr>
          <p:cNvPr id="103" name="Text"/>
          <p:cNvSpPr txBox="1"/>
          <p:nvPr/>
        </p:nvSpPr>
        <p:spPr>
          <a:xfrm>
            <a:off x="1005840" y="2560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5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 GPS · Gestión de Unidades</a:t>
            </a:r>
            <a:endParaRPr lang="es-VE" sz="25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104" name="Shape"/>
          <p:cNvSpPr/>
          <p:nvPr/>
        </p:nvSpPr>
        <p:spPr>
          <a:xfrm>
            <a:off x="9997135" y="3657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F1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"/>
          <p:cNvSpPr txBox="1"/>
          <p:nvPr/>
        </p:nvSpPr>
        <p:spPr>
          <a:xfrm>
            <a:off x="9997135" y="365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 04</a:t>
            </a:r>
            <a:endParaRPr lang="es-VE" sz="1000" b="1" dirty="0">
              <a:solidFill>
                <a:srgbClr val="0E24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6" name="Line"/>
          <p:cNvSpPr/>
          <p:nvPr/>
        </p:nvSpPr>
        <p:spPr>
          <a:xfrm>
            <a:off x="457200" y="896112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"/>
          <p:cNvSpPr/>
          <p:nvPr/>
        </p:nvSpPr>
        <p:spPr>
          <a:xfrm>
            <a:off x="457200" y="1188720"/>
            <a:ext cx="5212080" cy="50749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"/>
          <p:cNvSpPr txBox="1"/>
          <p:nvPr/>
        </p:nvSpPr>
        <p:spPr>
          <a:xfrm>
            <a:off x="731520" y="1371600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INTERNO DE UNIDADES</a:t>
            </a:r>
            <a:endParaRPr lang="es-VE" sz="1050" b="1" spc="150" dirty="0">
              <a:solidFill>
                <a:srgbClr val="D99B0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9" name="Shape"/>
          <p:cNvSpPr/>
          <p:nvPr/>
        </p:nvSpPr>
        <p:spPr>
          <a:xfrm>
            <a:off x="777240" y="1737360"/>
            <a:ext cx="4572000" cy="340139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72EBA4-5EE5-F66B-357B-6C3328EB8CCC}"/>
              </a:ext>
            </a:extLst>
          </p:cNvPr>
          <p:cNvPicPr>
            <a:picLocks/>
          </p:cNvPicPr>
          <p:nvPr/>
        </p:nvPicPr>
        <p:blipFill>
          <a:blip r:embed="rId3"/>
          <a:srcRect b="50"/>
          <a:stretch>
            <a:fillRect/>
          </a:stretch>
        </p:blipFill>
        <p:spPr>
          <a:xfrm>
            <a:off x="777240" y="1737361"/>
            <a:ext cx="4572000" cy="3401391"/>
          </a:xfrm>
          <a:prstGeom prst="rect">
            <a:avLst/>
          </a:prstGeom>
        </p:spPr>
      </p:pic>
      <p:sp>
        <p:nvSpPr>
          <p:cNvPr id="111" name="Shape"/>
          <p:cNvSpPr/>
          <p:nvPr/>
        </p:nvSpPr>
        <p:spPr>
          <a:xfrm>
            <a:off x="495300" y="2603500"/>
            <a:ext cx="310896" cy="310896"/>
          </a:xfrm>
          <a:prstGeom prst="ellipse">
            <a:avLst/>
          </a:prstGeom>
          <a:solidFill>
            <a:srgbClr val="D99B0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"/>
          <p:cNvSpPr txBox="1"/>
          <p:nvPr/>
        </p:nvSpPr>
        <p:spPr>
          <a:xfrm>
            <a:off x="495300" y="26035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13" name="Shape"/>
          <p:cNvSpPr/>
          <p:nvPr/>
        </p:nvSpPr>
        <p:spPr>
          <a:xfrm>
            <a:off x="495300" y="2057400"/>
            <a:ext cx="310896" cy="310896"/>
          </a:xfrm>
          <a:prstGeom prst="ellipse">
            <a:avLst/>
          </a:prstGeom>
          <a:solidFill>
            <a:srgbClr val="D99B0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"/>
          <p:cNvSpPr txBox="1"/>
          <p:nvPr/>
        </p:nvSpPr>
        <p:spPr>
          <a:xfrm>
            <a:off x="495300" y="20574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15" name="Shape"/>
          <p:cNvSpPr/>
          <p:nvPr/>
        </p:nvSpPr>
        <p:spPr>
          <a:xfrm>
            <a:off x="3987800" y="1574800"/>
            <a:ext cx="310896" cy="310896"/>
          </a:xfrm>
          <a:prstGeom prst="ellipse">
            <a:avLst/>
          </a:prstGeom>
          <a:solidFill>
            <a:srgbClr val="D99B0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"/>
          <p:cNvSpPr txBox="1"/>
          <p:nvPr/>
        </p:nvSpPr>
        <p:spPr>
          <a:xfrm>
            <a:off x="3987800" y="15748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17" name="Shape"/>
          <p:cNvSpPr/>
          <p:nvPr/>
        </p:nvSpPr>
        <p:spPr>
          <a:xfrm>
            <a:off x="5346700" y="2603500"/>
            <a:ext cx="310896" cy="310896"/>
          </a:xfrm>
          <a:prstGeom prst="ellipse">
            <a:avLst/>
          </a:prstGeom>
          <a:solidFill>
            <a:srgbClr val="D99B0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"/>
          <p:cNvSpPr txBox="1"/>
          <p:nvPr/>
        </p:nvSpPr>
        <p:spPr>
          <a:xfrm>
            <a:off x="5346700" y="26035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8595F9-4A30-CBF1-E4D9-A970A0B8345B}"/>
              </a:ext>
            </a:extLst>
          </p:cNvPr>
          <p:cNvPicPr>
            <a:picLocks/>
          </p:cNvPicPr>
          <p:nvPr/>
        </p:nvPicPr>
        <p:blipFill>
          <a:blip r:embed="rId4"/>
          <a:srcRect t="3579" b="3579"/>
          <a:stretch>
            <a:fillRect/>
          </a:stretch>
        </p:blipFill>
        <p:spPr>
          <a:xfrm>
            <a:off x="777240" y="5413071"/>
            <a:ext cx="1554480" cy="391064"/>
          </a:xfrm>
          <a:prstGeom prst="rect">
            <a:avLst/>
          </a:prstGeom>
        </p:spPr>
      </p:pic>
      <p:sp>
        <p:nvSpPr>
          <p:cNvPr id="120" name="Shape"/>
          <p:cNvSpPr/>
          <p:nvPr/>
        </p:nvSpPr>
        <p:spPr>
          <a:xfrm>
            <a:off x="621792" y="5303343"/>
            <a:ext cx="310896" cy="310896"/>
          </a:xfrm>
          <a:prstGeom prst="ellipse">
            <a:avLst/>
          </a:prstGeom>
          <a:solidFill>
            <a:srgbClr val="D99B0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"/>
          <p:cNvSpPr txBox="1"/>
          <p:nvPr/>
        </p:nvSpPr>
        <p:spPr>
          <a:xfrm>
            <a:off x="621792" y="5303343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122" name="Text"/>
          <p:cNvSpPr txBox="1"/>
          <p:nvPr/>
        </p:nvSpPr>
        <p:spPr>
          <a:xfrm>
            <a:off x="2514600" y="5413071"/>
            <a:ext cx="2834640" cy="391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050" i="1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unidades nuevas del GPS se registran solas.</a:t>
            </a:r>
            <a:endParaRPr lang="es-VE" sz="1050" i="1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3" name="Text"/>
          <p:cNvSpPr txBox="1"/>
          <p:nvPr/>
        </p:nvSpPr>
        <p:spPr>
          <a:xfrm>
            <a:off x="6035040" y="1188720"/>
            <a:ext cx="5699455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</a:p>
        </p:txBody>
      </p:sp>
      <p:sp>
        <p:nvSpPr>
          <p:cNvPr id="124" name="Shape"/>
          <p:cNvSpPr/>
          <p:nvPr/>
        </p:nvSpPr>
        <p:spPr>
          <a:xfrm>
            <a:off x="6035040" y="1508760"/>
            <a:ext cx="5699455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5" name="Shape"/>
          <p:cNvSpPr/>
          <p:nvPr/>
        </p:nvSpPr>
        <p:spPr>
          <a:xfrm>
            <a:off x="6199632" y="1664208"/>
            <a:ext cx="365760" cy="365760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"/>
          <p:cNvSpPr txBox="1"/>
          <p:nvPr/>
        </p:nvSpPr>
        <p:spPr>
          <a:xfrm>
            <a:off x="6199632" y="166420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27" name="Text"/>
          <p:cNvSpPr txBox="1"/>
          <p:nvPr/>
        </p:nvSpPr>
        <p:spPr>
          <a:xfrm>
            <a:off x="6748272" y="1563624"/>
            <a:ext cx="48307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interno</a:t>
            </a:r>
            <a:endParaRPr lang="es-VE" sz="13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s-ES" sz="10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placa, conductor y tipo de flota de cada unidad.</a:t>
            </a:r>
            <a:endParaRPr lang="es-VE" sz="10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8" name="Shape"/>
          <p:cNvSpPr/>
          <p:nvPr/>
        </p:nvSpPr>
        <p:spPr>
          <a:xfrm>
            <a:off x="6035040" y="2258568"/>
            <a:ext cx="5699455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9" name="Shape"/>
          <p:cNvSpPr/>
          <p:nvPr/>
        </p:nvSpPr>
        <p:spPr>
          <a:xfrm>
            <a:off x="6199632" y="2414016"/>
            <a:ext cx="365760" cy="365760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"/>
          <p:cNvSpPr txBox="1"/>
          <p:nvPr/>
        </p:nvSpPr>
        <p:spPr>
          <a:xfrm>
            <a:off x="6199632" y="24140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31" name="Text"/>
          <p:cNvSpPr txBox="1"/>
          <p:nvPr/>
        </p:nvSpPr>
        <p:spPr>
          <a:xfrm>
            <a:off x="6748272" y="2313432"/>
            <a:ext cx="48307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Buscar</a:t>
            </a:r>
            <a:endParaRPr lang="es-VE" sz="13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s-VE" sz="10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código, placa o conductor, al instante.</a:t>
            </a:r>
            <a:endParaRPr lang="es-VE" sz="10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2" name="Shape"/>
          <p:cNvSpPr/>
          <p:nvPr/>
        </p:nvSpPr>
        <p:spPr>
          <a:xfrm>
            <a:off x="6035040" y="3008376"/>
            <a:ext cx="5699455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3" name="Shape"/>
          <p:cNvSpPr/>
          <p:nvPr/>
        </p:nvSpPr>
        <p:spPr>
          <a:xfrm>
            <a:off x="6199632" y="3163824"/>
            <a:ext cx="365760" cy="365760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"/>
          <p:cNvSpPr txBox="1"/>
          <p:nvPr/>
        </p:nvSpPr>
        <p:spPr>
          <a:xfrm>
            <a:off x="6199632" y="316382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35" name="Text"/>
          <p:cNvSpPr txBox="1"/>
          <p:nvPr/>
        </p:nvSpPr>
        <p:spPr>
          <a:xfrm>
            <a:off x="6748272" y="3063240"/>
            <a:ext cx="48307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Liviana o Pesada</a:t>
            </a:r>
            <a:endParaRPr lang="es-VE" sz="13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s-ES" sz="10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flota decide qué alertas llegan a Telegram.</a:t>
            </a:r>
            <a:endParaRPr lang="es-VE" sz="10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6" name="Shape"/>
          <p:cNvSpPr/>
          <p:nvPr/>
        </p:nvSpPr>
        <p:spPr>
          <a:xfrm>
            <a:off x="6035040" y="3758184"/>
            <a:ext cx="5699455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7" name="Shape"/>
          <p:cNvSpPr/>
          <p:nvPr/>
        </p:nvSpPr>
        <p:spPr>
          <a:xfrm>
            <a:off x="6199632" y="3913632"/>
            <a:ext cx="365760" cy="365760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8" name="Text"/>
          <p:cNvSpPr txBox="1"/>
          <p:nvPr/>
        </p:nvSpPr>
        <p:spPr>
          <a:xfrm>
            <a:off x="6199632" y="391363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139" name="Text"/>
          <p:cNvSpPr txBox="1"/>
          <p:nvPr/>
        </p:nvSpPr>
        <p:spPr>
          <a:xfrm>
            <a:off x="6748272" y="3813048"/>
            <a:ext cx="48307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Editar o dar de baja</a:t>
            </a:r>
            <a:endParaRPr lang="es-VE" sz="13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s-ES" sz="10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se corrige o se retira desde la misma tabla.</a:t>
            </a:r>
            <a:endParaRPr lang="es-VE" sz="10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0" name="Shape"/>
          <p:cNvSpPr/>
          <p:nvPr/>
        </p:nvSpPr>
        <p:spPr>
          <a:xfrm>
            <a:off x="6035040" y="4507992"/>
            <a:ext cx="5699455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1" name="Shape"/>
          <p:cNvSpPr/>
          <p:nvPr/>
        </p:nvSpPr>
        <p:spPr>
          <a:xfrm>
            <a:off x="6199632" y="4663440"/>
            <a:ext cx="365760" cy="365760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2" name="Text"/>
          <p:cNvSpPr txBox="1"/>
          <p:nvPr/>
        </p:nvSpPr>
        <p:spPr>
          <a:xfrm>
            <a:off x="6199632" y="466344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143" name="Text"/>
          <p:cNvSpPr txBox="1"/>
          <p:nvPr/>
        </p:nvSpPr>
        <p:spPr>
          <a:xfrm>
            <a:off x="6748272" y="4562856"/>
            <a:ext cx="4830775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Nueva Unidad</a:t>
            </a:r>
            <a:endParaRPr lang="es-VE" sz="13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s-ES" sz="10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agregan a mano; las nuevas del GPS entran solas.</a:t>
            </a:r>
            <a:endParaRPr lang="es-VE" sz="10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4" name="Shape"/>
          <p:cNvSpPr/>
          <p:nvPr/>
        </p:nvSpPr>
        <p:spPr>
          <a:xfrm>
            <a:off x="6035040" y="5385816"/>
            <a:ext cx="5699455" cy="877824"/>
          </a:xfrm>
          <a:prstGeom prst="roundRect">
            <a:avLst>
              <a:gd name="adj" fmla="val 7000"/>
            </a:avLst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94D54F-DCAF-3FEE-1DA2-4F36DBAF67FB}"/>
              </a:ext>
            </a:extLst>
          </p:cNvPr>
          <p:cNvSpPr txBox="1"/>
          <p:nvPr/>
        </p:nvSpPr>
        <p:spPr>
          <a:xfrm>
            <a:off x="6238240" y="5525516"/>
            <a:ext cx="2481427" cy="59842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900" b="1" spc="150">
                <a:solidFill>
                  <a:srgbClr val="94A3B8"/>
                </a:solidFill>
                <a:latin typeface="Calibri" panose="020F0502020204030204" pitchFamily="34" charset="0"/>
              </a:rPr>
              <a:t>ANTES</a:t>
            </a:r>
          </a:p>
          <a:p>
            <a:pPr>
              <a:spcBef>
                <a:spcPts val="300"/>
              </a:spcBef>
            </a:pPr>
            <a:r>
              <a:rPr lang="es-ES" sz="1050">
                <a:solidFill>
                  <a:srgbClr val="CBD5E1"/>
                </a:solidFill>
                <a:latin typeface="Calibri" panose="020F0502020204030204" pitchFamily="34" charset="0"/>
              </a:rPr>
              <a:t>El GPS solo conocía la placa y las unidades nuevas quedaban sin registrar.</a:t>
            </a:r>
            <a:endParaRPr lang="en-US" sz="1050">
              <a:solidFill>
                <a:srgbClr val="CBD5E1"/>
              </a:solidFill>
              <a:latin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94AAE-C397-14A3-4299-61D4E1D63A78}"/>
              </a:ext>
            </a:extLst>
          </p:cNvPr>
          <p:cNvSpPr txBox="1"/>
          <p:nvPr/>
        </p:nvSpPr>
        <p:spPr>
          <a:xfrm>
            <a:off x="9049868" y="5525516"/>
            <a:ext cx="2481427" cy="598424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900" b="1" spc="150">
                <a:solidFill>
                  <a:srgbClr val="E9C46A"/>
                </a:solidFill>
                <a:latin typeface="Calibri" panose="020F0502020204030204" pitchFamily="34" charset="0"/>
              </a:rPr>
              <a:t>AHORA</a:t>
            </a:r>
          </a:p>
          <a:p>
            <a:pPr>
              <a:spcBef>
                <a:spcPts val="300"/>
              </a:spcBef>
            </a:pPr>
            <a:r>
              <a:rPr lang="es-ES" sz="1050" b="1">
                <a:solidFill>
                  <a:srgbClr val="FFFFFF"/>
                </a:solidFill>
                <a:latin typeface="Calibri" panose="020F0502020204030204" pitchFamily="34" charset="0"/>
              </a:rPr>
              <a:t>Cada placa tiene código, conductor y flota, y las nuevas se registran solas.</a:t>
            </a:r>
            <a:endParaRPr lang="en-US" sz="105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D865D2-E3DF-0EB5-C6E4-1F13E4779541}"/>
              </a:ext>
            </a:extLst>
          </p:cNvPr>
          <p:cNvSpPr txBox="1"/>
          <p:nvPr/>
        </p:nvSpPr>
        <p:spPr>
          <a:xfrm>
            <a:off x="8719668" y="5525516"/>
            <a:ext cx="208390" cy="598424"/>
          </a:xfrm>
          <a:prstGeom prst="rect">
            <a:avLst/>
          </a:prstGeom>
          <a:noFill/>
        </p:spPr>
        <p:txBody>
          <a:bodyPr vert="horz" wrap="none" lIns="0" rIns="0" rtlCol="0" anchor="ctr">
            <a:noAutofit/>
          </a:bodyPr>
          <a:lstStyle/>
          <a:p>
            <a:pPr algn="ctr"/>
            <a:r>
              <a:rPr lang="en-US" b="1">
                <a:solidFill>
                  <a:srgbClr val="E9C46A"/>
                </a:solidFill>
                <a:latin typeface="Calibri" panose="020F0502020204030204" pitchFamily="34" charset="0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770755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nque de Gasoi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41928D-41F0-5A02-6265-456804A5F5F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9768"/>
            <a:ext cx="219456" cy="219456"/>
          </a:xfrm>
          <a:prstGeom prst="rect">
            <a:avLst/>
          </a:prstGeom>
        </p:spPr>
      </p:pic>
      <p:sp>
        <p:nvSpPr>
          <p:cNvPr id="103" name="Text"/>
          <p:cNvSpPr txBox="1"/>
          <p:nvPr/>
        </p:nvSpPr>
        <p:spPr>
          <a:xfrm>
            <a:off x="1005840" y="2560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5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 GPS · Mapa en Vivo y Recorridos</a:t>
            </a:r>
            <a:endParaRPr lang="es-VE" sz="25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104" name="Shape"/>
          <p:cNvSpPr/>
          <p:nvPr/>
        </p:nvSpPr>
        <p:spPr>
          <a:xfrm>
            <a:off x="9997135" y="3657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F1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"/>
          <p:cNvSpPr txBox="1"/>
          <p:nvPr/>
        </p:nvSpPr>
        <p:spPr>
          <a:xfrm>
            <a:off x="9997135" y="365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 04</a:t>
            </a:r>
            <a:endParaRPr lang="es-VE" sz="1000" b="1" dirty="0">
              <a:solidFill>
                <a:srgbClr val="0E24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6" name="Line"/>
          <p:cNvSpPr/>
          <p:nvPr/>
        </p:nvSpPr>
        <p:spPr>
          <a:xfrm>
            <a:off x="457200" y="896112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"/>
          <p:cNvSpPr txBox="1"/>
          <p:nvPr/>
        </p:nvSpPr>
        <p:spPr>
          <a:xfrm>
            <a:off x="7874000" y="4038600"/>
            <a:ext cx="386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DEL MAPA</a:t>
            </a:r>
            <a:endParaRPr lang="es-VE" sz="1050" b="1" spc="150" dirty="0">
              <a:solidFill>
                <a:srgbClr val="D99B0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3" name="Text"/>
          <p:cNvSpPr txBox="1"/>
          <p:nvPr/>
        </p:nvSpPr>
        <p:spPr>
          <a:xfrm>
            <a:off x="7874000" y="1092200"/>
            <a:ext cx="386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</a:p>
        </p:txBody>
      </p:sp>
      <p:sp>
        <p:nvSpPr>
          <p:cNvPr id="124" name="Shape"/>
          <p:cNvSpPr/>
          <p:nvPr/>
        </p:nvSpPr>
        <p:spPr>
          <a:xfrm>
            <a:off x="7874000" y="1397000"/>
            <a:ext cx="3860800" cy="76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5" name="Shape"/>
          <p:cNvSpPr/>
          <p:nvPr/>
        </p:nvSpPr>
        <p:spPr>
          <a:xfrm>
            <a:off x="8039100" y="1593850"/>
            <a:ext cx="365760" cy="365760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"/>
          <p:cNvSpPr txBox="1"/>
          <p:nvPr/>
        </p:nvSpPr>
        <p:spPr>
          <a:xfrm>
            <a:off x="8039100" y="159385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27" name="Text"/>
          <p:cNvSpPr txBox="1"/>
          <p:nvPr/>
        </p:nvSpPr>
        <p:spPr>
          <a:xfrm>
            <a:off x="8585200" y="1473200"/>
            <a:ext cx="2997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 en el punto</a:t>
            </a:r>
            <a:endParaRPr lang="es-VE" sz="13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s-ES" sz="10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mapa, o elegir la unidad en el selector.</a:t>
            </a:r>
            <a:endParaRPr lang="es-VE" sz="10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8" name="Shape"/>
          <p:cNvSpPr/>
          <p:nvPr/>
        </p:nvSpPr>
        <p:spPr>
          <a:xfrm>
            <a:off x="7874000" y="2235200"/>
            <a:ext cx="3860800" cy="76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9" name="Shape"/>
          <p:cNvSpPr/>
          <p:nvPr/>
        </p:nvSpPr>
        <p:spPr>
          <a:xfrm>
            <a:off x="8039100" y="2432050"/>
            <a:ext cx="365760" cy="365760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Text"/>
          <p:cNvSpPr txBox="1"/>
          <p:nvPr/>
        </p:nvSpPr>
        <p:spPr>
          <a:xfrm>
            <a:off x="8039100" y="243205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31" name="Text"/>
          <p:cNvSpPr txBox="1"/>
          <p:nvPr/>
        </p:nvSpPr>
        <p:spPr>
          <a:xfrm>
            <a:off x="8585200" y="2311400"/>
            <a:ext cx="2997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Recorridos del día</a:t>
            </a:r>
            <a:endParaRPr lang="es-VE" sz="13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s-ES" sz="10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Viajes, km, horas en movimiento y estacionado.</a:t>
            </a:r>
            <a:endParaRPr lang="es-VE" sz="10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2" name="Shape"/>
          <p:cNvSpPr/>
          <p:nvPr/>
        </p:nvSpPr>
        <p:spPr>
          <a:xfrm>
            <a:off x="7874000" y="3073400"/>
            <a:ext cx="3860800" cy="762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3" name="Shape"/>
          <p:cNvSpPr/>
          <p:nvPr/>
        </p:nvSpPr>
        <p:spPr>
          <a:xfrm>
            <a:off x="8039100" y="3270250"/>
            <a:ext cx="365760" cy="365760"/>
          </a:xfrm>
          <a:prstGeom prst="ellipse">
            <a:avLst/>
          </a:prstGeom>
          <a:solidFill>
            <a:srgbClr val="D99B0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4" name="Text"/>
          <p:cNvSpPr txBox="1"/>
          <p:nvPr/>
        </p:nvSpPr>
        <p:spPr>
          <a:xfrm>
            <a:off x="8039100" y="327025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35" name="Text"/>
          <p:cNvSpPr txBox="1"/>
          <p:nvPr/>
        </p:nvSpPr>
        <p:spPr>
          <a:xfrm>
            <a:off x="8585200" y="3149600"/>
            <a:ext cx="29972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3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 ruta</a:t>
            </a:r>
            <a:endParaRPr lang="es-VE" sz="13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buNone/>
            </a:pPr>
            <a:r>
              <a:rPr lang="es-ES" sz="10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 el viaje real sobre el mapa y lo encuadra.</a:t>
            </a:r>
            <a:endParaRPr lang="es-VE" sz="10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4" name="Shape"/>
          <p:cNvSpPr/>
          <p:nvPr/>
        </p:nvSpPr>
        <p:spPr>
          <a:xfrm>
            <a:off x="7874000" y="5080000"/>
            <a:ext cx="3860800" cy="1397000"/>
          </a:xfrm>
          <a:prstGeom prst="roundRect">
            <a:avLst>
              <a:gd name="adj" fmla="val 7000"/>
            </a:avLst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5" name="Text"/>
          <p:cNvSpPr txBox="1"/>
          <p:nvPr/>
        </p:nvSpPr>
        <p:spPr>
          <a:xfrm>
            <a:off x="8102600" y="5232400"/>
            <a:ext cx="3403600" cy="1092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s-VE" sz="900" b="1" spc="12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SUPERVISIÓN</a:t>
            </a:r>
            <a:endParaRPr lang="es-VE" sz="900" b="1" spc="120" dirty="0">
              <a:solidFill>
                <a:srgbClr val="E9C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s-E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cada unidad y por dónde pasó. Desde una alerta, el recorrido se abre a la hora del aviso.</a:t>
            </a:r>
            <a:endParaRPr lang="es-VE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17A237FD-3DF8-7A51-FDF6-CC0A8B71B876}"/>
              </a:ext>
            </a:extLst>
          </p:cNvPr>
          <p:cNvSpPr/>
          <p:nvPr/>
        </p:nvSpPr>
        <p:spPr>
          <a:xfrm>
            <a:off x="457200" y="1117600"/>
            <a:ext cx="7112000" cy="2971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396041B9-5617-47FD-28FA-D1E22A9ABDE3}"/>
              </a:ext>
            </a:extLst>
          </p:cNvPr>
          <p:cNvSpPr/>
          <p:nvPr/>
        </p:nvSpPr>
        <p:spPr>
          <a:xfrm>
            <a:off x="457200" y="4216400"/>
            <a:ext cx="7112000" cy="2260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1E98ED-DEFA-3748-D328-8F74CE46552D}"/>
              </a:ext>
            </a:extLst>
          </p:cNvPr>
          <p:cNvPicPr>
            <a:picLocks/>
          </p:cNvPicPr>
          <p:nvPr/>
        </p:nvPicPr>
        <p:blipFill>
          <a:blip r:embed="rId3"/>
          <a:srcRect l="3014" t="7701" b="6301"/>
          <a:stretch>
            <a:fillRect/>
          </a:stretch>
        </p:blipFill>
        <p:spPr>
          <a:xfrm>
            <a:off x="533400" y="1193800"/>
            <a:ext cx="6959600" cy="2819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27DBFD-4042-FEBC-49D0-6D2047FC2B49}"/>
              </a:ext>
            </a:extLst>
          </p:cNvPr>
          <p:cNvPicPr>
            <a:picLocks/>
          </p:cNvPicPr>
          <p:nvPr/>
        </p:nvPicPr>
        <p:blipFill>
          <a:blip r:embed="rId4"/>
          <a:srcRect l="187" r="187"/>
          <a:stretch>
            <a:fillRect/>
          </a:stretch>
        </p:blipFill>
        <p:spPr>
          <a:xfrm>
            <a:off x="533400" y="4292600"/>
            <a:ext cx="6959600" cy="2108200"/>
          </a:xfrm>
          <a:prstGeom prst="rect">
            <a:avLst/>
          </a:prstGeom>
        </p:spPr>
      </p:pic>
      <p:sp>
        <p:nvSpPr>
          <p:cNvPr id="111" name="Shape"/>
          <p:cNvSpPr/>
          <p:nvPr/>
        </p:nvSpPr>
        <p:spPr>
          <a:xfrm>
            <a:off x="5664200" y="1219200"/>
            <a:ext cx="310896" cy="310896"/>
          </a:xfrm>
          <a:prstGeom prst="ellipse">
            <a:avLst/>
          </a:prstGeom>
          <a:solidFill>
            <a:srgbClr val="D99B0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"/>
          <p:cNvSpPr txBox="1"/>
          <p:nvPr/>
        </p:nvSpPr>
        <p:spPr>
          <a:xfrm>
            <a:off x="5664200" y="12192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13" name="Shape"/>
          <p:cNvSpPr/>
          <p:nvPr/>
        </p:nvSpPr>
        <p:spPr>
          <a:xfrm>
            <a:off x="304800" y="4851400"/>
            <a:ext cx="310896" cy="310896"/>
          </a:xfrm>
          <a:prstGeom prst="ellipse">
            <a:avLst/>
          </a:prstGeom>
          <a:solidFill>
            <a:srgbClr val="D99B0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"/>
          <p:cNvSpPr txBox="1"/>
          <p:nvPr/>
        </p:nvSpPr>
        <p:spPr>
          <a:xfrm>
            <a:off x="304800" y="48514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15" name="Shape"/>
          <p:cNvSpPr/>
          <p:nvPr/>
        </p:nvSpPr>
        <p:spPr>
          <a:xfrm>
            <a:off x="7416800" y="5715000"/>
            <a:ext cx="310896" cy="310896"/>
          </a:xfrm>
          <a:prstGeom prst="ellipse">
            <a:avLst/>
          </a:prstGeom>
          <a:solidFill>
            <a:srgbClr val="D99B0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Text"/>
          <p:cNvSpPr txBox="1"/>
          <p:nvPr/>
        </p:nvSpPr>
        <p:spPr>
          <a:xfrm>
            <a:off x="7416800" y="571500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574C2AD-A13B-6794-D877-6419F922D70F}"/>
              </a:ext>
            </a:extLst>
          </p:cNvPr>
          <p:cNvSpPr/>
          <p:nvPr/>
        </p:nvSpPr>
        <p:spPr>
          <a:xfrm>
            <a:off x="7874000" y="4394200"/>
            <a:ext cx="127000" cy="127000"/>
          </a:xfrm>
          <a:prstGeom prst="ellipse">
            <a:avLst/>
          </a:prstGeom>
          <a:solidFill>
            <a:srgbClr val="10B981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EF6DAA-5F26-C065-9E27-E5ECCBEFFAD1}"/>
              </a:ext>
            </a:extLst>
          </p:cNvPr>
          <p:cNvSpPr txBox="1"/>
          <p:nvPr/>
        </p:nvSpPr>
        <p:spPr>
          <a:xfrm>
            <a:off x="8064500" y="4356100"/>
            <a:ext cx="336631" cy="16158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1050">
                <a:solidFill>
                  <a:srgbClr val="334A5C"/>
                </a:solidFill>
                <a:latin typeface="Calibri" panose="020F0502020204030204" pitchFamily="34" charset="0"/>
              </a:rPr>
              <a:t>Activa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9A67DA-64D7-A5DE-F7BF-48272CBBE3C8}"/>
              </a:ext>
            </a:extLst>
          </p:cNvPr>
          <p:cNvSpPr/>
          <p:nvPr/>
        </p:nvSpPr>
        <p:spPr>
          <a:xfrm>
            <a:off x="8737600" y="4394200"/>
            <a:ext cx="127000" cy="127000"/>
          </a:xfrm>
          <a:prstGeom prst="ellipse">
            <a:avLst/>
          </a:prstGeom>
          <a:solidFill>
            <a:srgbClr val="EF4444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6D6D1A-6308-DDE4-0E87-F2CBE76B3CB6}"/>
              </a:ext>
            </a:extLst>
          </p:cNvPr>
          <p:cNvSpPr txBox="1"/>
          <p:nvPr/>
        </p:nvSpPr>
        <p:spPr>
          <a:xfrm>
            <a:off x="8928100" y="4356100"/>
            <a:ext cx="655629" cy="16158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1050">
                <a:solidFill>
                  <a:srgbClr val="334A5C"/>
                </a:solidFill>
                <a:latin typeface="Calibri" panose="020F0502020204030204" pitchFamily="34" charset="0"/>
              </a:rPr>
              <a:t>Estacionada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93EB355-ED50-7A7C-A4AC-83E2332AD38B}"/>
              </a:ext>
            </a:extLst>
          </p:cNvPr>
          <p:cNvSpPr/>
          <p:nvPr/>
        </p:nvSpPr>
        <p:spPr>
          <a:xfrm>
            <a:off x="9931400" y="4394200"/>
            <a:ext cx="127000" cy="127000"/>
          </a:xfrm>
          <a:prstGeom prst="ellipse">
            <a:avLst/>
          </a:prstGeom>
          <a:solidFill>
            <a:srgbClr val="F59E0B"/>
          </a:solidFill>
          <a:ln w="1587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1ECF8-8685-DD57-63EB-4EC9C56E9613}"/>
              </a:ext>
            </a:extLst>
          </p:cNvPr>
          <p:cNvSpPr txBox="1"/>
          <p:nvPr/>
        </p:nvSpPr>
        <p:spPr>
          <a:xfrm>
            <a:off x="10121900" y="4356100"/>
            <a:ext cx="479298" cy="16158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sz="1050">
                <a:solidFill>
                  <a:srgbClr val="334A5C"/>
                </a:solidFill>
                <a:latin typeface="Calibri" panose="020F0502020204030204" pitchFamily="34" charset="0"/>
              </a:rPr>
              <a:t>Sin señal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C0F6274-1773-3ED5-5711-4568977584C5}"/>
              </a:ext>
            </a:extLst>
          </p:cNvPr>
          <p:cNvCxnSpPr/>
          <p:nvPr/>
        </p:nvCxnSpPr>
        <p:spPr>
          <a:xfrm>
            <a:off x="7874000" y="4737100"/>
            <a:ext cx="279400" cy="0"/>
          </a:xfrm>
          <a:prstGeom prst="line">
            <a:avLst/>
          </a:prstGeom>
          <a:ln w="38100">
            <a:solidFill>
              <a:srgbClr val="1447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E475757-D7E8-BD53-620E-F3B0D5C03807}"/>
              </a:ext>
            </a:extLst>
          </p:cNvPr>
          <p:cNvSpPr txBox="1"/>
          <p:nvPr/>
        </p:nvSpPr>
        <p:spPr>
          <a:xfrm>
            <a:off x="8255000" y="4648200"/>
            <a:ext cx="2510303" cy="16158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s-ES" sz="1050">
                <a:solidFill>
                  <a:srgbClr val="334A5C"/>
                </a:solidFill>
                <a:latin typeface="Calibri" panose="020F0502020204030204" pitchFamily="34" charset="0"/>
              </a:rPr>
              <a:t>Ruta: el camino que marcó el GPS en ese viaje</a:t>
            </a:r>
            <a:endParaRPr lang="en-US" sz="1050">
              <a:solidFill>
                <a:srgbClr val="334A5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8101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portes Combusti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92F574-9E14-530D-CA23-D88B7B553F3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9768"/>
            <a:ext cx="219456" cy="219456"/>
          </a:xfrm>
          <a:prstGeom prst="rect">
            <a:avLst/>
          </a:prstGeom>
        </p:spPr>
      </p:pic>
      <p:sp>
        <p:nvSpPr>
          <p:cNvPr id="103" name="Text"/>
          <p:cNvSpPr txBox="1"/>
          <p:nvPr/>
        </p:nvSpPr>
        <p:spPr>
          <a:xfrm>
            <a:off x="1005840" y="2560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25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 GPS · Alertas</a:t>
            </a:r>
            <a:endParaRPr lang="es-VE" sz="25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104" name="Shape"/>
          <p:cNvSpPr/>
          <p:nvPr/>
        </p:nvSpPr>
        <p:spPr>
          <a:xfrm>
            <a:off x="9997135" y="3657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F1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"/>
          <p:cNvSpPr txBox="1"/>
          <p:nvPr/>
        </p:nvSpPr>
        <p:spPr>
          <a:xfrm>
            <a:off x="9997135" y="365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 04</a:t>
            </a:r>
            <a:endParaRPr lang="es-VE" sz="1000" b="1" dirty="0">
              <a:solidFill>
                <a:srgbClr val="0E24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6" name="Line"/>
          <p:cNvSpPr/>
          <p:nvPr/>
        </p:nvSpPr>
        <p:spPr>
          <a:xfrm>
            <a:off x="457200" y="896112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"/>
          <p:cNvSpPr/>
          <p:nvPr/>
        </p:nvSpPr>
        <p:spPr>
          <a:xfrm>
            <a:off x="457200" y="1143000"/>
            <a:ext cx="6903720" cy="445743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A93C4D-8F91-6225-DC88-0EAD5C3FD1EB}"/>
              </a:ext>
            </a:extLst>
          </p:cNvPr>
          <p:cNvPicPr>
            <a:picLocks/>
          </p:cNvPicPr>
          <p:nvPr/>
        </p:nvPicPr>
        <p:blipFill>
          <a:blip r:embed="rId3"/>
          <a:srcRect r="48"/>
          <a:stretch>
            <a:fillRect/>
          </a:stretch>
        </p:blipFill>
        <p:spPr>
          <a:xfrm>
            <a:off x="530352" y="1216153"/>
            <a:ext cx="6757416" cy="4311127"/>
          </a:xfrm>
          <a:prstGeom prst="rect">
            <a:avLst/>
          </a:prstGeom>
        </p:spPr>
      </p:pic>
      <p:sp>
        <p:nvSpPr>
          <p:cNvPr id="109" name="Text"/>
          <p:cNvSpPr txBox="1"/>
          <p:nvPr/>
        </p:nvSpPr>
        <p:spPr>
          <a:xfrm>
            <a:off x="530352" y="5691871"/>
            <a:ext cx="69037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050" b="1" spc="10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· ALARMAS</a:t>
            </a:r>
            <a:r>
              <a:rPr lang="es-ES" sz="1050" spc="10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alerta real del 24/09/2026</a:t>
            </a:r>
            <a:endParaRPr lang="es-VE" sz="1050" spc="100" dirty="0">
              <a:solidFill>
                <a:srgbClr val="D99B0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0" name="Text"/>
          <p:cNvSpPr txBox="1"/>
          <p:nvPr/>
        </p:nvSpPr>
        <p:spPr>
          <a:xfrm>
            <a:off x="7726680" y="1143000"/>
            <a:ext cx="400781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</a:t>
            </a:r>
          </a:p>
        </p:txBody>
      </p:sp>
      <p:sp>
        <p:nvSpPr>
          <p:cNvPr id="111" name="Text"/>
          <p:cNvSpPr txBox="1"/>
          <p:nvPr/>
        </p:nvSpPr>
        <p:spPr>
          <a:xfrm>
            <a:off x="7726680" y="1472184"/>
            <a:ext cx="4007815" cy="2194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8000"/>
              </a:lnSpc>
              <a:spcAft>
                <a:spcPts val="600"/>
              </a:spcAft>
              <a:buClr>
                <a:srgbClr val="0E2438"/>
              </a:buClr>
              <a:buSzPct val="100000"/>
              <a:buChar char="•"/>
            </a:pPr>
            <a:r>
              <a:rPr lang="es-ES" sz="11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alerta con su mensaje completo y si llegó a Telegram.</a:t>
            </a:r>
            <a:endParaRPr lang="es-VE" sz="115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 algn="l">
              <a:lnSpc>
                <a:spcPct val="108000"/>
              </a:lnSpc>
              <a:spcAft>
                <a:spcPts val="600"/>
              </a:spcAft>
              <a:buClr>
                <a:srgbClr val="0E2438"/>
              </a:buClr>
              <a:buSzPct val="100000"/>
              <a:buChar char="•"/>
            </a:pPr>
            <a:r>
              <a:rPr lang="es-ES" sz="11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día: entradas y salidas de geocerca, según GEvolution.</a:t>
            </a:r>
            <a:endParaRPr lang="es-VE" sz="115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 algn="l">
              <a:lnSpc>
                <a:spcPct val="108000"/>
              </a:lnSpc>
              <a:spcAft>
                <a:spcPts val="600"/>
              </a:spcAft>
              <a:buClr>
                <a:srgbClr val="0E2438"/>
              </a:buClr>
              <a:buSzPct val="100000"/>
              <a:buChar char="•"/>
            </a:pPr>
            <a:r>
              <a:rPr lang="es-ES" sz="11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noche: fuera de horario a las 8:00, 8:30 y 9:00 pm.</a:t>
            </a:r>
            <a:endParaRPr lang="es-VE" sz="115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2" name="Text"/>
          <p:cNvSpPr txBox="1"/>
          <p:nvPr/>
        </p:nvSpPr>
        <p:spPr>
          <a:xfrm>
            <a:off x="7726680" y="2944368"/>
            <a:ext cx="400781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DE LECTURA</a:t>
            </a:r>
          </a:p>
        </p:txBody>
      </p:sp>
      <p:sp>
        <p:nvSpPr>
          <p:cNvPr id="113" name="Shape"/>
          <p:cNvSpPr/>
          <p:nvPr/>
        </p:nvSpPr>
        <p:spPr>
          <a:xfrm>
            <a:off x="7726680" y="3264408"/>
            <a:ext cx="4007815" cy="73152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"/>
          <p:cNvSpPr/>
          <p:nvPr/>
        </p:nvSpPr>
        <p:spPr>
          <a:xfrm>
            <a:off x="7863840" y="3401568"/>
            <a:ext cx="292608" cy="292608"/>
          </a:xfrm>
          <a:prstGeom prst="ellipse">
            <a:avLst/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5" name="Image" descr="No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3456432"/>
            <a:ext cx="182880" cy="182880"/>
          </a:xfrm>
          <a:prstGeom prst="rect">
            <a:avLst/>
          </a:prstGeom>
        </p:spPr>
      </p:pic>
      <p:sp>
        <p:nvSpPr>
          <p:cNvPr id="116" name="Text"/>
          <p:cNvSpPr txBox="1"/>
          <p:nvPr/>
        </p:nvSpPr>
        <p:spPr>
          <a:xfrm>
            <a:off x="8275320" y="3355848"/>
            <a:ext cx="332201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15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ALARMA o ATENCIÓN</a:t>
            </a:r>
            <a:endParaRPr lang="es-VE" sz="115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ES" sz="9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geocerca es crítica en GEvolution llega como ALARMA; si no, como ATENCIÓN.</a:t>
            </a:r>
            <a:endParaRPr lang="es-VE" sz="9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7" name="Shape"/>
          <p:cNvSpPr/>
          <p:nvPr/>
        </p:nvSpPr>
        <p:spPr>
          <a:xfrm>
            <a:off x="7726680" y="4069080"/>
            <a:ext cx="4007815" cy="73152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"/>
          <p:cNvSpPr/>
          <p:nvPr/>
        </p:nvSpPr>
        <p:spPr>
          <a:xfrm>
            <a:off x="7863840" y="4206240"/>
            <a:ext cx="292608" cy="292608"/>
          </a:xfrm>
          <a:prstGeom prst="ellipse">
            <a:avLst/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9" name="Image" descr="Not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4" y="4261104"/>
            <a:ext cx="182880" cy="182880"/>
          </a:xfrm>
          <a:prstGeom prst="rect">
            <a:avLst/>
          </a:prstGeom>
        </p:spPr>
      </p:pic>
      <p:sp>
        <p:nvSpPr>
          <p:cNvPr id="120" name="Text"/>
          <p:cNvSpPr txBox="1"/>
          <p:nvPr/>
        </p:nvSpPr>
        <p:spPr>
          <a:xfrm>
            <a:off x="8275320" y="4160520"/>
            <a:ext cx="332201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15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avisos repetidos</a:t>
            </a:r>
            <a:endParaRPr lang="es-VE" sz="115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ES" sz="9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evento se avisa una sola vez, sin repetir mensajes.</a:t>
            </a:r>
            <a:endParaRPr lang="es-VE" sz="9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1" name="Shape"/>
          <p:cNvSpPr/>
          <p:nvPr/>
        </p:nvSpPr>
        <p:spPr>
          <a:xfrm>
            <a:off x="7726680" y="4937760"/>
            <a:ext cx="4007815" cy="991855"/>
          </a:xfrm>
          <a:prstGeom prst="roundRect">
            <a:avLst>
              <a:gd name="adj" fmla="val 7000"/>
            </a:avLst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Text"/>
          <p:cNvSpPr txBox="1"/>
          <p:nvPr/>
        </p:nvSpPr>
        <p:spPr>
          <a:xfrm>
            <a:off x="7927848" y="5010912"/>
            <a:ext cx="3605479" cy="8455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s-VE" sz="900" b="1" spc="12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SUPERVISIÓN</a:t>
            </a:r>
            <a:endParaRPr lang="es-VE" sz="900" b="1" spc="120" dirty="0">
              <a:solidFill>
                <a:srgbClr val="E9C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E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los avisos que importan: nada de mensajes continuos, y el historial se borra solo a los 8 días.</a:t>
            </a:r>
            <a:endParaRPr lang="es-VE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1832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portes Combusti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E3519C-5F47-7C5C-8956-301AE280066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9768"/>
            <a:ext cx="219456" cy="219456"/>
          </a:xfrm>
          <a:prstGeom prst="rect">
            <a:avLst/>
          </a:prstGeom>
        </p:spPr>
      </p:pic>
      <p:sp>
        <p:nvSpPr>
          <p:cNvPr id="103" name="Text"/>
          <p:cNvSpPr txBox="1"/>
          <p:nvPr/>
        </p:nvSpPr>
        <p:spPr>
          <a:xfrm>
            <a:off x="1005840" y="2560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25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 GPS · Telegram: Mensajes y Acceso</a:t>
            </a:r>
            <a:endParaRPr lang="es-VE" sz="25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104" name="Shape"/>
          <p:cNvSpPr/>
          <p:nvPr/>
        </p:nvSpPr>
        <p:spPr>
          <a:xfrm>
            <a:off x="9997135" y="3657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F1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"/>
          <p:cNvSpPr txBox="1"/>
          <p:nvPr/>
        </p:nvSpPr>
        <p:spPr>
          <a:xfrm>
            <a:off x="9997135" y="365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 04</a:t>
            </a:r>
            <a:endParaRPr lang="es-VE" sz="1000" b="1" dirty="0">
              <a:solidFill>
                <a:srgbClr val="0E24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6" name="Line"/>
          <p:cNvSpPr/>
          <p:nvPr/>
        </p:nvSpPr>
        <p:spPr>
          <a:xfrm>
            <a:off x="457200" y="896112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"/>
          <p:cNvSpPr/>
          <p:nvPr/>
        </p:nvSpPr>
        <p:spPr>
          <a:xfrm>
            <a:off x="3251200" y="1117600"/>
            <a:ext cx="4572000" cy="213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47013B1-5B16-1216-56C2-F80F01D0990E}"/>
              </a:ext>
            </a:extLst>
          </p:cNvPr>
          <p:cNvPicPr>
            <a:picLocks/>
          </p:cNvPicPr>
          <p:nvPr/>
        </p:nvPicPr>
        <p:blipFill>
          <a:blip r:embed="rId3"/>
          <a:srcRect b="844"/>
          <a:stretch>
            <a:fillRect/>
          </a:stretch>
        </p:blipFill>
        <p:spPr>
          <a:xfrm>
            <a:off x="3327400" y="1193800"/>
            <a:ext cx="4419600" cy="1981200"/>
          </a:xfrm>
          <a:prstGeom prst="rect">
            <a:avLst/>
          </a:prstGeom>
        </p:spPr>
      </p:pic>
      <p:sp>
        <p:nvSpPr>
          <p:cNvPr id="109" name="Text"/>
          <p:cNvSpPr txBox="1"/>
          <p:nvPr/>
        </p:nvSpPr>
        <p:spPr>
          <a:xfrm>
            <a:off x="3327400" y="330200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050" b="1" spc="10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ENVIADO A TELEGRAM</a:t>
            </a:r>
            <a:r>
              <a:rPr lang="es-ES" sz="1050" spc="10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cada envío con su PDF</a:t>
            </a:r>
            <a:endParaRPr lang="es-VE" sz="1050" spc="100" dirty="0">
              <a:solidFill>
                <a:srgbClr val="D99B0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0" name="Text"/>
          <p:cNvSpPr txBox="1"/>
          <p:nvPr/>
        </p:nvSpPr>
        <p:spPr>
          <a:xfrm>
            <a:off x="8077200" y="1092200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Y SEGURIDAD</a:t>
            </a:r>
            <a:endParaRPr lang="es-VE" sz="1050" b="1" spc="150" dirty="0">
              <a:solidFill>
                <a:srgbClr val="D99B0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3" name="Shape"/>
          <p:cNvSpPr/>
          <p:nvPr/>
        </p:nvSpPr>
        <p:spPr>
          <a:xfrm>
            <a:off x="8077200" y="1397000"/>
            <a:ext cx="3657600" cy="7366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Shape"/>
          <p:cNvSpPr/>
          <p:nvPr/>
        </p:nvSpPr>
        <p:spPr>
          <a:xfrm>
            <a:off x="8216900" y="1536700"/>
            <a:ext cx="292608" cy="292608"/>
          </a:xfrm>
          <a:prstGeom prst="ellipse">
            <a:avLst/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2BEC6A6-BC93-BCB4-26D4-71588ABAD5B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8280400" y="1593850"/>
            <a:ext cx="182880" cy="182880"/>
          </a:xfrm>
          <a:prstGeom prst="rect">
            <a:avLst/>
          </a:prstGeom>
        </p:spPr>
      </p:pic>
      <p:sp>
        <p:nvSpPr>
          <p:cNvPr id="116" name="Text"/>
          <p:cNvSpPr txBox="1"/>
          <p:nvPr/>
        </p:nvSpPr>
        <p:spPr>
          <a:xfrm>
            <a:off x="8636000" y="1485900"/>
            <a:ext cx="29718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15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personas aprobadas</a:t>
            </a:r>
            <a:endParaRPr lang="es-VE" sz="115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ES" sz="9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escribe al bot queda pendiente hasta que se aprueba.</a:t>
            </a:r>
            <a:endParaRPr lang="es-VE" sz="9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7" name="Shape"/>
          <p:cNvSpPr/>
          <p:nvPr/>
        </p:nvSpPr>
        <p:spPr>
          <a:xfrm>
            <a:off x="8077200" y="2209800"/>
            <a:ext cx="3657600" cy="7366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"/>
          <p:cNvSpPr/>
          <p:nvPr/>
        </p:nvSpPr>
        <p:spPr>
          <a:xfrm>
            <a:off x="8216900" y="2349500"/>
            <a:ext cx="292608" cy="292608"/>
          </a:xfrm>
          <a:prstGeom prst="ellipse">
            <a:avLst/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1BB2263-AE08-5070-C10A-6F79FBFED67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80400" y="2406650"/>
            <a:ext cx="182880" cy="182880"/>
          </a:xfrm>
          <a:prstGeom prst="rect">
            <a:avLst/>
          </a:prstGeom>
        </p:spPr>
      </p:pic>
      <p:sp>
        <p:nvSpPr>
          <p:cNvPr id="120" name="Text"/>
          <p:cNvSpPr txBox="1"/>
          <p:nvPr/>
        </p:nvSpPr>
        <p:spPr>
          <a:xfrm>
            <a:off x="8636000" y="2298700"/>
            <a:ext cx="29718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15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envío queda registrado</a:t>
            </a:r>
            <a:endParaRPr lang="es-VE" sz="115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ES" sz="9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reportes enviados, con fecha, turno y PDF.</a:t>
            </a:r>
            <a:endParaRPr lang="es-VE" sz="9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1" name="Shape"/>
          <p:cNvSpPr/>
          <p:nvPr/>
        </p:nvSpPr>
        <p:spPr>
          <a:xfrm>
            <a:off x="8077200" y="4698999"/>
            <a:ext cx="3657600" cy="1371600"/>
          </a:xfrm>
          <a:prstGeom prst="roundRect">
            <a:avLst>
              <a:gd name="adj" fmla="val 7000"/>
            </a:avLst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60B3CF-C445-33C4-ED0D-52BADEF3A747}"/>
              </a:ext>
            </a:extLst>
          </p:cNvPr>
          <p:cNvSpPr/>
          <p:nvPr/>
        </p:nvSpPr>
        <p:spPr>
          <a:xfrm>
            <a:off x="457200" y="1117600"/>
            <a:ext cx="2590800" cy="4953000"/>
          </a:xfrm>
          <a:prstGeom prst="roundRect">
            <a:avLst>
              <a:gd name="adj" fmla="val 9000"/>
            </a:avLst>
          </a:prstGeom>
          <a:solidFill>
            <a:srgbClr val="0E24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B28A2C-04B7-74F4-5076-98D8B24B43D3}"/>
              </a:ext>
            </a:extLst>
          </p:cNvPr>
          <p:cNvPicPr>
            <a:picLocks/>
          </p:cNvPicPr>
          <p:nvPr/>
        </p:nvPicPr>
        <p:blipFill>
          <a:blip r:embed="rId6"/>
          <a:srcRect b="46"/>
          <a:stretch>
            <a:fillRect/>
          </a:stretch>
        </p:blipFill>
        <p:spPr>
          <a:xfrm>
            <a:off x="558800" y="1244600"/>
            <a:ext cx="2387600" cy="4699000"/>
          </a:xfrm>
          <a:prstGeom prst="rect">
            <a:avLst/>
          </a:prstGeom>
        </p:spPr>
      </p:pic>
      <p:sp>
        <p:nvSpPr>
          <p:cNvPr id="8" name="Text">
            <a:extLst>
              <a:ext uri="{FF2B5EF4-FFF2-40B4-BE49-F238E27FC236}">
                <a16:creationId xmlns:a16="http://schemas.microsoft.com/office/drawing/2014/main" id="{0EDDA15A-F42E-AAC6-AD59-5DBBC25F2ED5}"/>
              </a:ext>
            </a:extLst>
          </p:cNvPr>
          <p:cNvSpPr txBox="1"/>
          <p:nvPr/>
        </p:nvSpPr>
        <p:spPr>
          <a:xfrm>
            <a:off x="457200" y="6172200"/>
            <a:ext cx="2794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050" b="1" spc="10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CHAT</a:t>
            </a:r>
            <a:r>
              <a:rPr lang="es-ES" sz="1050" spc="10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alerta y reporte reales</a:t>
            </a:r>
            <a:endParaRPr lang="es-VE" sz="1050" spc="100" dirty="0">
              <a:solidFill>
                <a:srgbClr val="D99B0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8CD37CBF-4DAE-304A-15C2-62953FC5F694}"/>
              </a:ext>
            </a:extLst>
          </p:cNvPr>
          <p:cNvSpPr/>
          <p:nvPr/>
        </p:nvSpPr>
        <p:spPr>
          <a:xfrm>
            <a:off x="3251200" y="3683000"/>
            <a:ext cx="4572000" cy="2133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CDF5F0C-04CB-7717-A601-BCB5EEB59BD1}"/>
              </a:ext>
            </a:extLst>
          </p:cNvPr>
          <p:cNvPicPr>
            <a:picLocks/>
          </p:cNvPicPr>
          <p:nvPr/>
        </p:nvPicPr>
        <p:blipFill>
          <a:blip r:embed="rId7"/>
          <a:srcRect b="844"/>
          <a:stretch>
            <a:fillRect/>
          </a:stretch>
        </p:blipFill>
        <p:spPr>
          <a:xfrm>
            <a:off x="3327400" y="3759200"/>
            <a:ext cx="4419600" cy="1981200"/>
          </a:xfrm>
          <a:prstGeom prst="rect">
            <a:avLst/>
          </a:prstGeom>
        </p:spPr>
      </p:pic>
      <p:sp>
        <p:nvSpPr>
          <p:cNvPr id="15" name="Text">
            <a:extLst>
              <a:ext uri="{FF2B5EF4-FFF2-40B4-BE49-F238E27FC236}">
                <a16:creationId xmlns:a16="http://schemas.microsoft.com/office/drawing/2014/main" id="{0786754E-1291-3C88-313F-DD03506B4DC2}"/>
              </a:ext>
            </a:extLst>
          </p:cNvPr>
          <p:cNvSpPr txBox="1"/>
          <p:nvPr/>
        </p:nvSpPr>
        <p:spPr>
          <a:xfrm>
            <a:off x="3327400" y="5867400"/>
            <a:ext cx="4572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ES" sz="1050" b="1" spc="10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SUSCRIPTORES DE TELEGRAM</a:t>
            </a:r>
            <a:r>
              <a:rPr lang="es-ES" sz="1050" spc="10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acceso con aprobación</a:t>
            </a:r>
            <a:endParaRPr lang="es-VE" sz="1050" spc="100" dirty="0">
              <a:solidFill>
                <a:srgbClr val="D99B0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">
            <a:extLst>
              <a:ext uri="{FF2B5EF4-FFF2-40B4-BE49-F238E27FC236}">
                <a16:creationId xmlns:a16="http://schemas.microsoft.com/office/drawing/2014/main" id="{0DEE6B3A-63FA-5822-C8EF-E096F505D1A4}"/>
              </a:ext>
            </a:extLst>
          </p:cNvPr>
          <p:cNvSpPr/>
          <p:nvPr/>
        </p:nvSpPr>
        <p:spPr>
          <a:xfrm>
            <a:off x="8077200" y="3022600"/>
            <a:ext cx="3657600" cy="7366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">
            <a:extLst>
              <a:ext uri="{FF2B5EF4-FFF2-40B4-BE49-F238E27FC236}">
                <a16:creationId xmlns:a16="http://schemas.microsoft.com/office/drawing/2014/main" id="{9CB7041F-FB9B-5088-62E4-CF622C825F68}"/>
              </a:ext>
            </a:extLst>
          </p:cNvPr>
          <p:cNvSpPr/>
          <p:nvPr/>
        </p:nvSpPr>
        <p:spPr>
          <a:xfrm>
            <a:off x="8216900" y="3162300"/>
            <a:ext cx="292608" cy="292608"/>
          </a:xfrm>
          <a:prstGeom prst="ellipse">
            <a:avLst/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70F7E51C-2633-0AB9-2496-30BC5FA2E8B3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280400" y="3219450"/>
            <a:ext cx="182880" cy="182880"/>
          </a:xfrm>
          <a:prstGeom prst="rect">
            <a:avLst/>
          </a:prstGeom>
        </p:spPr>
      </p:pic>
      <p:sp>
        <p:nvSpPr>
          <p:cNvPr id="19" name="Text">
            <a:extLst>
              <a:ext uri="{FF2B5EF4-FFF2-40B4-BE49-F238E27FC236}">
                <a16:creationId xmlns:a16="http://schemas.microsoft.com/office/drawing/2014/main" id="{D064A10A-2B04-7676-F80B-7AF1D61E7658}"/>
              </a:ext>
            </a:extLst>
          </p:cNvPr>
          <p:cNvSpPr txBox="1"/>
          <p:nvPr/>
        </p:nvSpPr>
        <p:spPr>
          <a:xfrm>
            <a:off x="8636000" y="3111500"/>
            <a:ext cx="29718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15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que se retira</a:t>
            </a:r>
            <a:endParaRPr lang="es-VE" sz="115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ES" sz="9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"Quitar acceso" lo corta al instante y no se reactiva solo.</a:t>
            </a:r>
            <a:endParaRPr lang="es-VE" sz="9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5FB2960D-12FE-4090-76B5-EA651029DA44}"/>
              </a:ext>
            </a:extLst>
          </p:cNvPr>
          <p:cNvSpPr/>
          <p:nvPr/>
        </p:nvSpPr>
        <p:spPr>
          <a:xfrm>
            <a:off x="8077200" y="3835400"/>
            <a:ext cx="3657600" cy="7366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">
            <a:extLst>
              <a:ext uri="{FF2B5EF4-FFF2-40B4-BE49-F238E27FC236}">
                <a16:creationId xmlns:a16="http://schemas.microsoft.com/office/drawing/2014/main" id="{C903EACB-2189-FFEF-4717-D5753BD3FA7A}"/>
              </a:ext>
            </a:extLst>
          </p:cNvPr>
          <p:cNvSpPr/>
          <p:nvPr/>
        </p:nvSpPr>
        <p:spPr>
          <a:xfrm>
            <a:off x="8216900" y="3975100"/>
            <a:ext cx="292608" cy="292608"/>
          </a:xfrm>
          <a:prstGeom prst="ellipse">
            <a:avLst/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30B0B64-09C7-DCB3-481A-B3077B587D97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8280400" y="4032250"/>
            <a:ext cx="182880" cy="182880"/>
          </a:xfrm>
          <a:prstGeom prst="rect">
            <a:avLst/>
          </a:prstGeom>
        </p:spPr>
      </p:pic>
      <p:sp>
        <p:nvSpPr>
          <p:cNvPr id="23" name="Text">
            <a:extLst>
              <a:ext uri="{FF2B5EF4-FFF2-40B4-BE49-F238E27FC236}">
                <a16:creationId xmlns:a16="http://schemas.microsoft.com/office/drawing/2014/main" id="{DE096D1F-B58D-F6A2-E416-EA92C07D4F84}"/>
              </a:ext>
            </a:extLst>
          </p:cNvPr>
          <p:cNvSpPr txBox="1"/>
          <p:nvPr/>
        </p:nvSpPr>
        <p:spPr>
          <a:xfrm>
            <a:off x="8636000" y="3924300"/>
            <a:ext cx="2971800" cy="55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15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Aviso de cada solicitud</a:t>
            </a:r>
            <a:endParaRPr lang="es-VE" sz="115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ES" sz="95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nuevo pide acceso, llega un aviso al chat.</a:t>
            </a:r>
            <a:endParaRPr lang="es-VE" sz="95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C8848D-4548-4382-A7AB-0C2CA9BED3B6}"/>
              </a:ext>
            </a:extLst>
          </p:cNvPr>
          <p:cNvSpPr txBox="1"/>
          <p:nvPr/>
        </p:nvSpPr>
        <p:spPr>
          <a:xfrm>
            <a:off x="8216900" y="4838699"/>
            <a:ext cx="3314700" cy="1092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900" b="1" spc="150" dirty="0">
                <a:solidFill>
                  <a:srgbClr val="E9C46A"/>
                </a:solidFill>
                <a:latin typeface="Calibri" panose="020F0502020204030204" pitchFamily="34" charset="0"/>
              </a:rPr>
              <a:t>IMPORTANTE:</a:t>
            </a:r>
          </a:p>
          <a:p>
            <a:pPr>
              <a:spcBef>
                <a:spcPts val="300"/>
              </a:spcBef>
            </a:pPr>
            <a:r>
              <a:rPr lang="es-ES" sz="1050" b="1" dirty="0">
                <a:solidFill>
                  <a:srgbClr val="FFFFFF"/>
                </a:solidFill>
                <a:latin typeface="Calibri" panose="020F0502020204030204" pitchFamily="34" charset="0"/>
              </a:rPr>
              <a:t>Solo recibe quien se aprueba, y cada envío queda registrado.</a:t>
            </a:r>
            <a:endParaRPr lang="en-US" sz="105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1050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busti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"/>
          <p:cNvSpPr/>
          <p:nvPr/>
        </p:nvSpPr>
        <p:spPr>
          <a:xfrm>
            <a:off x="457200" y="329184"/>
            <a:ext cx="420624" cy="420624"/>
          </a:xfrm>
          <a:prstGeom prst="roundRect">
            <a:avLst>
              <a:gd name="adj" fmla="val 26000"/>
            </a:avLst>
          </a:prstGeom>
          <a:solidFill>
            <a:srgbClr val="1E4D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106445-5F49-CADC-2A70-C03B6CD444C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429768"/>
            <a:ext cx="219456" cy="219456"/>
          </a:xfrm>
          <a:prstGeom prst="rect">
            <a:avLst/>
          </a:prstGeom>
        </p:spPr>
      </p:pic>
      <p:sp>
        <p:nvSpPr>
          <p:cNvPr id="103" name="Text"/>
          <p:cNvSpPr txBox="1"/>
          <p:nvPr/>
        </p:nvSpPr>
        <p:spPr>
          <a:xfrm>
            <a:off x="1005840" y="256032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25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 GPS · Reportes de Turno</a:t>
            </a:r>
            <a:endParaRPr lang="es-VE" sz="25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104" name="Shape"/>
          <p:cNvSpPr/>
          <p:nvPr/>
        </p:nvSpPr>
        <p:spPr>
          <a:xfrm>
            <a:off x="9997135" y="36576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EDF1F5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"/>
          <p:cNvSpPr txBox="1"/>
          <p:nvPr/>
        </p:nvSpPr>
        <p:spPr>
          <a:xfrm>
            <a:off x="9997135" y="36576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VE" sz="1000" b="1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· Módulo 04</a:t>
            </a:r>
            <a:endParaRPr lang="es-VE" sz="1000" b="1" dirty="0">
              <a:solidFill>
                <a:srgbClr val="0E24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6" name="Line"/>
          <p:cNvSpPr/>
          <p:nvPr/>
        </p:nvSpPr>
        <p:spPr>
          <a:xfrm>
            <a:off x="457200" y="896112"/>
            <a:ext cx="11277295" cy="0"/>
          </a:xfrm>
          <a:prstGeom prst="line">
            <a:avLst/>
          </a:prstGeom>
          <a:noFill/>
          <a:ln w="12700">
            <a:solidFill>
              <a:srgbClr val="DDE3E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Shape"/>
          <p:cNvSpPr/>
          <p:nvPr/>
        </p:nvSpPr>
        <p:spPr>
          <a:xfrm>
            <a:off x="457200" y="1143000"/>
            <a:ext cx="7589520" cy="373216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27000" dist="38100" dir="5400000" algn="bl" rotWithShape="0">
              <a:srgbClr val="0E2438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2A3540-BF33-E4AD-5D0B-7372B952B3B0}"/>
              </a:ext>
            </a:extLst>
          </p:cNvPr>
          <p:cNvPicPr>
            <a:picLocks/>
          </p:cNvPicPr>
          <p:nvPr/>
        </p:nvPicPr>
        <p:blipFill>
          <a:blip r:embed="rId3"/>
          <a:srcRect r="50"/>
          <a:stretch>
            <a:fillRect/>
          </a:stretch>
        </p:blipFill>
        <p:spPr>
          <a:xfrm>
            <a:off x="530352" y="1216153"/>
            <a:ext cx="7443216" cy="3585865"/>
          </a:xfrm>
          <a:prstGeom prst="rect">
            <a:avLst/>
          </a:prstGeom>
        </p:spPr>
      </p:pic>
      <p:sp>
        <p:nvSpPr>
          <p:cNvPr id="109" name="Text"/>
          <p:cNvSpPr txBox="1"/>
          <p:nvPr/>
        </p:nvSpPr>
        <p:spPr>
          <a:xfrm>
            <a:off x="530352" y="4966609"/>
            <a:ext cx="7589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0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TURNO</a:t>
            </a:r>
            <a:r>
              <a:rPr lang="es-VE" sz="1050" spc="10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cada reporte queda guardado en el apartado de su turno</a:t>
            </a:r>
            <a:endParaRPr lang="es-VE" sz="1050" spc="100" dirty="0">
              <a:solidFill>
                <a:srgbClr val="D99B0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0" name="Shape"/>
          <p:cNvSpPr/>
          <p:nvPr/>
        </p:nvSpPr>
        <p:spPr>
          <a:xfrm>
            <a:off x="457200" y="5378089"/>
            <a:ext cx="243840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"/>
          <p:cNvSpPr/>
          <p:nvPr/>
        </p:nvSpPr>
        <p:spPr>
          <a:xfrm>
            <a:off x="594360" y="5688985"/>
            <a:ext cx="384048" cy="384048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63EFB3-CD62-9701-4B01-6CB3D04037DA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771281"/>
            <a:ext cx="219456" cy="219456"/>
          </a:xfrm>
          <a:prstGeom prst="rect">
            <a:avLst/>
          </a:prstGeom>
        </p:spPr>
      </p:pic>
      <p:sp>
        <p:nvSpPr>
          <p:cNvPr id="113" name="Text"/>
          <p:cNvSpPr txBox="1"/>
          <p:nvPr/>
        </p:nvSpPr>
        <p:spPr>
          <a:xfrm>
            <a:off x="1097280" y="5451241"/>
            <a:ext cx="170688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2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apartado por turno</a:t>
            </a:r>
            <a:endParaRPr lang="es-VE" sz="12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ES" sz="100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Matutino, Vespertino y Nocturno, cada uno aparte.</a:t>
            </a:r>
            <a:endParaRPr lang="es-VE" sz="100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4" name="Shape"/>
          <p:cNvSpPr/>
          <p:nvPr/>
        </p:nvSpPr>
        <p:spPr>
          <a:xfrm>
            <a:off x="3032760" y="5378089"/>
            <a:ext cx="243840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"/>
          <p:cNvSpPr/>
          <p:nvPr/>
        </p:nvSpPr>
        <p:spPr>
          <a:xfrm>
            <a:off x="3169920" y="5688985"/>
            <a:ext cx="384048" cy="384048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9C0EC2-DEA3-00D4-C215-AF7291590C8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252216" y="5771281"/>
            <a:ext cx="219456" cy="219456"/>
          </a:xfrm>
          <a:prstGeom prst="rect">
            <a:avLst/>
          </a:prstGeom>
        </p:spPr>
      </p:pic>
      <p:sp>
        <p:nvSpPr>
          <p:cNvPr id="117" name="Text"/>
          <p:cNvSpPr txBox="1"/>
          <p:nvPr/>
        </p:nvSpPr>
        <p:spPr>
          <a:xfrm>
            <a:off x="3672840" y="5451241"/>
            <a:ext cx="170688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2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· PDF · Imagen</a:t>
            </a:r>
            <a:endParaRPr lang="es-VE" sz="12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ES" sz="100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reporte en tres formatos, listo para descargar.</a:t>
            </a:r>
            <a:endParaRPr lang="es-VE" sz="100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8" name="Shape"/>
          <p:cNvSpPr/>
          <p:nvPr/>
        </p:nvSpPr>
        <p:spPr>
          <a:xfrm>
            <a:off x="5608320" y="5378089"/>
            <a:ext cx="2438400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"/>
          <p:cNvSpPr/>
          <p:nvPr/>
        </p:nvSpPr>
        <p:spPr>
          <a:xfrm>
            <a:off x="5745480" y="5688985"/>
            <a:ext cx="384048" cy="384048"/>
          </a:xfrm>
          <a:prstGeom prst="ellipse">
            <a:avLst/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20F449E-431D-E1B8-A71B-0792BD14CDE5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827776" y="5771281"/>
            <a:ext cx="219456" cy="219456"/>
          </a:xfrm>
          <a:prstGeom prst="rect">
            <a:avLst/>
          </a:prstGeom>
        </p:spPr>
      </p:pic>
      <p:sp>
        <p:nvSpPr>
          <p:cNvPr id="121" name="Text"/>
          <p:cNvSpPr txBox="1"/>
          <p:nvPr/>
        </p:nvSpPr>
        <p:spPr>
          <a:xfrm>
            <a:off x="6248400" y="5451241"/>
            <a:ext cx="1706880" cy="8595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00"/>
              </a:spcAft>
              <a:buNone/>
            </a:pPr>
            <a:r>
              <a:rPr lang="es-VE" sz="1200" b="1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Llega a Telegram</a:t>
            </a:r>
            <a:endParaRPr lang="es-VE" sz="1200" b="1" dirty="0">
              <a:solidFill>
                <a:srgbClr val="0E2438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s-ES" sz="100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PDF se envía solo al cerrar cada turno.</a:t>
            </a:r>
            <a:endParaRPr lang="es-VE" sz="1000" dirty="0">
              <a:solidFill>
                <a:srgbClr val="7C8B9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2" name="Text"/>
          <p:cNvSpPr txBox="1"/>
          <p:nvPr/>
        </p:nvSpPr>
        <p:spPr>
          <a:xfrm>
            <a:off x="8366760" y="1143000"/>
            <a:ext cx="336773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</a:t>
            </a:r>
          </a:p>
        </p:txBody>
      </p:sp>
      <p:sp>
        <p:nvSpPr>
          <p:cNvPr id="123" name="Text"/>
          <p:cNvSpPr txBox="1"/>
          <p:nvPr/>
        </p:nvSpPr>
        <p:spPr>
          <a:xfrm>
            <a:off x="8366760" y="1472184"/>
            <a:ext cx="3367735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ES" sz="11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fecha: total, activas y estacionadas (suman el total) y cuántas sin señal.</a:t>
            </a:r>
            <a:endParaRPr lang="es-VE" sz="115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ES" sz="11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hora en que se generó y si llegó a Telegram.</a:t>
            </a:r>
            <a:endParaRPr lang="es-VE" sz="115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ES" sz="11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para descargar el Excel, el PDF o la imagen.</a:t>
            </a:r>
            <a:endParaRPr lang="es-VE" sz="115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4" name="Text"/>
          <p:cNvSpPr txBox="1"/>
          <p:nvPr/>
        </p:nvSpPr>
        <p:spPr>
          <a:xfrm>
            <a:off x="8366760" y="3017520"/>
            <a:ext cx="3367735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VE" sz="1050" b="1" spc="15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s-VE" sz="1050" b="1" spc="150" dirty="0">
              <a:solidFill>
                <a:srgbClr val="D99B0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5" name="Text"/>
          <p:cNvSpPr txBox="1"/>
          <p:nvPr/>
        </p:nvSpPr>
        <p:spPr>
          <a:xfrm>
            <a:off x="8366760" y="3346704"/>
            <a:ext cx="3367735" cy="2103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ES" sz="11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solo a las 9:05 am, 2:05 pm y 9:05 pm, en la pestaña de su turno.</a:t>
            </a:r>
            <a:endParaRPr lang="es-VE" sz="115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ES" sz="11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"Generar ahora" lo crea a cualquier hora.</a:t>
            </a:r>
            <a:endParaRPr lang="es-VE" sz="115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 algn="l">
              <a:lnSpc>
                <a:spcPct val="110000"/>
              </a:lnSpc>
              <a:spcAft>
                <a:spcPts val="700"/>
              </a:spcAft>
              <a:buClr>
                <a:srgbClr val="0E2438"/>
              </a:buClr>
              <a:buSzPct val="100000"/>
              <a:buChar char="•"/>
            </a:pPr>
            <a:r>
              <a:rPr lang="es-ES" sz="1150">
                <a:solidFill>
                  <a:srgbClr val="15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descarga como el modelo interno, en Excel y PDF.</a:t>
            </a:r>
            <a:endParaRPr lang="es-VE" sz="1150" dirty="0">
              <a:solidFill>
                <a:srgbClr val="1532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6" name="Shape"/>
          <p:cNvSpPr/>
          <p:nvPr/>
        </p:nvSpPr>
        <p:spPr>
          <a:xfrm>
            <a:off x="8366760" y="5378089"/>
            <a:ext cx="3367735" cy="1005840"/>
          </a:xfrm>
          <a:prstGeom prst="roundRect">
            <a:avLst>
              <a:gd name="adj" fmla="val 7000"/>
            </a:avLst>
          </a:prstGeom>
          <a:solidFill>
            <a:srgbClr val="0E243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"/>
          <p:cNvSpPr txBox="1"/>
          <p:nvPr/>
        </p:nvSpPr>
        <p:spPr>
          <a:xfrm>
            <a:off x="8549640" y="5469529"/>
            <a:ext cx="300197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s-VE" sz="900" b="1" spc="12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GERENCIA</a:t>
            </a:r>
            <a:endParaRPr lang="es-VE" sz="900" b="1" spc="120" dirty="0">
              <a:solidFill>
                <a:srgbClr val="E9C4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s-E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flota en cada cambio de turno, con las unidades sin señal y su motivo, sin armar reportes a mano.</a:t>
            </a:r>
            <a:endParaRPr lang="es-VE" sz="10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86616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2563</Words>
  <Application>Microsoft Office PowerPoint</Application>
  <PresentationFormat>Widescreen</PresentationFormat>
  <Paragraphs>357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ANALISTA TI-TRACKER</cp:lastModifiedBy>
  <cp:revision>5</cp:revision>
  <dcterms:created xsi:type="dcterms:W3CDTF">2026-09-18T20:59:00Z</dcterms:created>
  <dcterms:modified xsi:type="dcterms:W3CDTF">2026-09-30T19:17:40Z</dcterms:modified>
</cp:coreProperties>
</file>