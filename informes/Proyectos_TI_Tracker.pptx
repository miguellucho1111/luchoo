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62" r:id="rId2"/>
    <p:sldId id="263" r:id="rId3"/>
    <p:sldId id="264" r:id="rId4"/>
    <p:sldId id="265" r:id="rId5"/>
    <p:sldId id="266" r:id="rId6"/>
    <p:sldId id="267" r:id="rId7"/>
    <p:sldId id="268" r:id="rId8"/>
    <p:sldId id="269" r:id="rId9"/>
    <p:sldId id="270" r:id="rId10"/>
    <p:sldId id="271" r:id="rId11"/>
    <p:sldId id="272" r:id="rId12"/>
    <p:sldId id="273" r:id="rId13"/>
    <p:sldId id="274" r:id="rId14"/>
    <p:sldId id="275" r:id="rId15"/>
    <p:sldId id="276" r:id="rId16"/>
    <p:sldId id="277" r:id="rId17"/>
    <p:sldId id="278" r:id="rId18"/>
    <p:sldId id="279" r:id="rId19"/>
    <p:sldId id="280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78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61F212-34D7-4399-BCE0-06D8D6F55547}" type="datetimeFigureOut">
              <a:rPr lang="en-US" smtClean="0"/>
              <a:t>9/24/2026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C2CC79-3E46-4CF4-B2B0-99208C8548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1992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5" Type="http://schemas.openxmlformats.org/officeDocument/2006/relationships/image" Target="../media/image57.png"/><Relationship Id="rId4" Type="http://schemas.openxmlformats.org/officeDocument/2006/relationships/image" Target="../media/image5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2011680"/>
            <a:ext cx="5943600" cy="5943600"/>
          </a:xfrm>
          <a:prstGeom prst="ellipse">
            <a:avLst/>
          </a:prstGeom>
          <a:ln w="38100">
            <a:solidFill>
              <a:srgbClr val="FBF3D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10607040" y="-1097280"/>
            <a:ext cx="4114800" cy="4114800"/>
          </a:xfrm>
          <a:prstGeom prst="ellipse">
            <a:avLst/>
          </a:prstGeom>
          <a:ln w="25400">
            <a:solidFill>
              <a:srgbClr val="EDF1F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assets/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457200"/>
            <a:ext cx="1554480" cy="506675"/>
          </a:xfrm>
          <a:prstGeom prst="rect">
            <a:avLst/>
          </a:prstGeom>
        </p:spPr>
      </p:pic>
      <p:sp>
        <p:nvSpPr>
          <p:cNvPr id="5" name="Kicker"/>
          <p:cNvSpPr txBox="1"/>
          <p:nvPr/>
        </p:nvSpPr>
        <p:spPr>
          <a:xfrm>
            <a:off x="0" y="1325880"/>
            <a:ext cx="121920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VE" sz="120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FULLPETRO · TECNOLOGÍA DE INFORMACIÓN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0" y="1600200"/>
            <a:ext cx="12192000" cy="10058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VE" sz="4600" b="1" spc="100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PROYECTOS TI</a:t>
            </a:r>
          </a:p>
        </p:txBody>
      </p:sp>
      <p:pic>
        <p:nvPicPr>
          <p:cNvPr id="7" name="Logos proyectos" descr="Logos de los proyectos NEXUS, CENIT y VISO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120" y="2880360"/>
            <a:ext cx="9509760" cy="2971800"/>
          </a:xfrm>
          <a:prstGeom prst="rect">
            <a:avLst/>
          </a:prstGeom>
        </p:spPr>
      </p:pic>
      <p:sp>
        <p:nvSpPr>
          <p:cNvPr id="8" name="Footer"/>
          <p:cNvSpPr txBox="1"/>
          <p:nvPr/>
        </p:nvSpPr>
        <p:spPr>
          <a:xfrm>
            <a:off x="0" y="6172200"/>
            <a:ext cx="121920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VE" sz="11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Fecha: </a:t>
            </a:r>
            <a:r>
              <a:rPr lang="es-VE" sz="11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de septiembre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NEXUS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Logo NEXUS" descr="Logo NEXU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1321385" cy="960120"/>
          </a:xfrm>
          <a:prstGeom prst="rect">
            <a:avLst/>
          </a:prstGeom>
        </p:spPr>
      </p:pic>
      <p:sp>
        <p:nvSpPr>
          <p:cNvPr id="102" name="Text"/>
          <p:cNvSpPr txBox="1"/>
          <p:nvPr/>
        </p:nvSpPr>
        <p:spPr>
          <a:xfrm>
            <a:off x="2098625" y="411480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20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TI · PLATAFORMA CENTRAL</a:t>
            </a:r>
          </a:p>
        </p:txBody>
      </p:sp>
      <p:sp>
        <p:nvSpPr>
          <p:cNvPr id="103" name="Text"/>
          <p:cNvSpPr txBox="1"/>
          <p:nvPr/>
        </p:nvSpPr>
        <p:spPr>
          <a:xfrm>
            <a:off x="2098625" y="658368"/>
            <a:ext cx="827981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30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NEXUS · Sistema Centralizado de Operaciones</a:t>
            </a:r>
          </a:p>
        </p:txBody>
      </p:sp>
      <p:sp>
        <p:nvSpPr>
          <p:cNvPr id="104" name="Text"/>
          <p:cNvSpPr txBox="1"/>
          <p:nvPr/>
        </p:nvSpPr>
        <p:spPr>
          <a:xfrm>
            <a:off x="2098625" y="1152144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250" i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plataforma central de la operación de FullPetro</a:t>
            </a:r>
          </a:p>
        </p:txBody>
      </p:sp>
      <p:sp>
        <p:nvSpPr>
          <p:cNvPr id="105" name="Line"/>
          <p:cNvSpPr/>
          <p:nvPr/>
        </p:nvSpPr>
        <p:spPr>
          <a:xfrm>
            <a:off x="457200" y="1572768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6" name="Text"/>
          <p:cNvSpPr txBox="1"/>
          <p:nvPr/>
        </p:nvSpPr>
        <p:spPr>
          <a:xfrm>
            <a:off x="502920" y="1783080"/>
            <a:ext cx="52578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10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</a:t>
            </a:r>
          </a:p>
        </p:txBody>
      </p:sp>
      <p:sp>
        <p:nvSpPr>
          <p:cNvPr id="107" name="Text"/>
          <p:cNvSpPr txBox="1"/>
          <p:nvPr/>
        </p:nvSpPr>
        <p:spPr>
          <a:xfrm>
            <a:off x="502920" y="2084832"/>
            <a:ext cx="5257800" cy="10058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s-VE" sz="12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Reúne en un solo sistema lo que hoy está repartido entre Excel, portales de proveedores y reportes manuales: </a:t>
            </a:r>
            <a:r>
              <a:rPr lang="es-VE" sz="125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combustible, flota GPS, horas de equipos y reportes para gerencia.</a:t>
            </a:r>
          </a:p>
        </p:txBody>
      </p:sp>
      <p:sp>
        <p:nvSpPr>
          <p:cNvPr id="108" name="Text"/>
          <p:cNvSpPr txBox="1"/>
          <p:nvPr/>
        </p:nvSpPr>
        <p:spPr>
          <a:xfrm>
            <a:off x="502920" y="2907792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100" i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Pensada para crecer:</a:t>
            </a:r>
          </a:p>
        </p:txBody>
      </p:sp>
      <p:sp>
        <p:nvSpPr>
          <p:cNvPr id="109" name="Shape"/>
          <p:cNvSpPr/>
          <p:nvPr/>
        </p:nvSpPr>
        <p:spPr>
          <a:xfrm>
            <a:off x="502920" y="3200400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BF3DD"/>
          </a:solidFill>
          <a:ln w="9525">
            <a:solidFill>
              <a:srgbClr val="E9C46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0" name="Text"/>
          <p:cNvSpPr txBox="1"/>
          <p:nvPr/>
        </p:nvSpPr>
        <p:spPr>
          <a:xfrm>
            <a:off x="502920" y="3200400"/>
            <a:ext cx="96012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50" b="1" dirty="0">
                <a:solidFill>
                  <a:srgbClr val="9A69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Inventario</a:t>
            </a:r>
          </a:p>
        </p:txBody>
      </p:sp>
      <p:sp>
        <p:nvSpPr>
          <p:cNvPr id="111" name="Shape"/>
          <p:cNvSpPr/>
          <p:nvPr/>
        </p:nvSpPr>
        <p:spPr>
          <a:xfrm>
            <a:off x="1572768" y="3200400"/>
            <a:ext cx="1193292" cy="310896"/>
          </a:xfrm>
          <a:prstGeom prst="roundRect">
            <a:avLst>
              <a:gd name="adj" fmla="val 50000"/>
            </a:avLst>
          </a:prstGeom>
          <a:solidFill>
            <a:srgbClr val="FBF3DD"/>
          </a:solidFill>
          <a:ln w="9525">
            <a:solidFill>
              <a:srgbClr val="E9C46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2" name="Text"/>
          <p:cNvSpPr txBox="1"/>
          <p:nvPr/>
        </p:nvSpPr>
        <p:spPr>
          <a:xfrm>
            <a:off x="1572768" y="3200400"/>
            <a:ext cx="1193292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50" b="1" dirty="0">
                <a:solidFill>
                  <a:srgbClr val="9A69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Mantenimiento</a:t>
            </a:r>
          </a:p>
        </p:txBody>
      </p:sp>
      <p:sp>
        <p:nvSpPr>
          <p:cNvPr id="113" name="Shape"/>
          <p:cNvSpPr/>
          <p:nvPr/>
        </p:nvSpPr>
        <p:spPr>
          <a:xfrm>
            <a:off x="2875788" y="3200400"/>
            <a:ext cx="1037844" cy="310896"/>
          </a:xfrm>
          <a:prstGeom prst="roundRect">
            <a:avLst>
              <a:gd name="adj" fmla="val 50000"/>
            </a:avLst>
          </a:prstGeom>
          <a:solidFill>
            <a:srgbClr val="FBF3DD"/>
          </a:solidFill>
          <a:ln w="9525">
            <a:solidFill>
              <a:srgbClr val="E9C46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4" name="Text"/>
          <p:cNvSpPr txBox="1"/>
          <p:nvPr/>
        </p:nvSpPr>
        <p:spPr>
          <a:xfrm>
            <a:off x="2875788" y="3200400"/>
            <a:ext cx="1037844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50" b="1" dirty="0">
                <a:solidFill>
                  <a:srgbClr val="9A69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Operaciones</a:t>
            </a:r>
          </a:p>
        </p:txBody>
      </p:sp>
      <p:sp>
        <p:nvSpPr>
          <p:cNvPr id="115" name="Shape"/>
          <p:cNvSpPr/>
          <p:nvPr/>
        </p:nvSpPr>
        <p:spPr>
          <a:xfrm>
            <a:off x="4023360" y="3200400"/>
            <a:ext cx="1037844" cy="310896"/>
          </a:xfrm>
          <a:prstGeom prst="roundRect">
            <a:avLst>
              <a:gd name="adj" fmla="val 50000"/>
            </a:avLst>
          </a:prstGeom>
          <a:solidFill>
            <a:srgbClr val="FBF3DD"/>
          </a:solidFill>
          <a:ln w="9525">
            <a:solidFill>
              <a:srgbClr val="E9C46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6" name="Text"/>
          <p:cNvSpPr txBox="1"/>
          <p:nvPr/>
        </p:nvSpPr>
        <p:spPr>
          <a:xfrm>
            <a:off x="4023360" y="3200400"/>
            <a:ext cx="1037844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50" b="1" dirty="0">
                <a:solidFill>
                  <a:srgbClr val="9A69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Valuaciones</a:t>
            </a:r>
          </a:p>
        </p:txBody>
      </p:sp>
      <p:sp>
        <p:nvSpPr>
          <p:cNvPr id="117" name="Text"/>
          <p:cNvSpPr txBox="1"/>
          <p:nvPr/>
        </p:nvSpPr>
        <p:spPr>
          <a:xfrm>
            <a:off x="502920" y="3730752"/>
            <a:ext cx="52578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10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RESUELVE</a:t>
            </a:r>
          </a:p>
        </p:txBody>
      </p:sp>
      <p:sp>
        <p:nvSpPr>
          <p:cNvPr id="118" name="Text"/>
          <p:cNvSpPr txBox="1"/>
          <p:nvPr/>
        </p:nvSpPr>
        <p:spPr>
          <a:xfrm>
            <a:off x="502920" y="4032504"/>
            <a:ext cx="5257800" cy="1737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0000"/>
              </a:lnSpc>
              <a:spcAft>
                <a:spcPts val="600"/>
              </a:spcAft>
              <a:buClr>
                <a:srgbClr val="C0392B"/>
              </a:buClr>
              <a:buSzPct val="100000"/>
              <a:buChar char="•"/>
            </a:pPr>
            <a:r>
              <a:rPr lang="es-VE" sz="120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información está dispersa en Excel, portales externos y registros a mano.</a:t>
            </a:r>
          </a:p>
          <a:p>
            <a:pPr marL="177800" indent="-177800" algn="l">
              <a:lnSpc>
                <a:spcPct val="110000"/>
              </a:lnSpc>
              <a:spcAft>
                <a:spcPts val="600"/>
              </a:spcAft>
              <a:buClr>
                <a:srgbClr val="C0392B"/>
              </a:buClr>
              <a:buSzPct val="100000"/>
              <a:buChar char="•"/>
            </a:pPr>
            <a:r>
              <a:rPr lang="es-VE" sz="120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mismos equipos y vehículos están registrados varias veces, cada uno de forma distinta.</a:t>
            </a:r>
          </a:p>
          <a:p>
            <a:pPr marL="177800" indent="-177800" algn="l">
              <a:lnSpc>
                <a:spcPct val="110000"/>
              </a:lnSpc>
              <a:spcAft>
                <a:spcPts val="600"/>
              </a:spcAft>
              <a:buClr>
                <a:srgbClr val="C0392B"/>
              </a:buClr>
              <a:buSzPct val="100000"/>
              <a:buChar char="•"/>
            </a:pPr>
            <a:r>
              <a:rPr lang="es-VE" sz="120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reportes y alertas dependen de que alguien los arme o los revise.</a:t>
            </a:r>
          </a:p>
          <a:p>
            <a:pPr marL="177800" indent="-177800" algn="l">
              <a:lnSpc>
                <a:spcPct val="110000"/>
              </a:lnSpc>
              <a:spcAft>
                <a:spcPts val="600"/>
              </a:spcAft>
              <a:buClr>
                <a:srgbClr val="C0392B"/>
              </a:buClr>
              <a:buSzPct val="100000"/>
              <a:buChar char="•"/>
            </a:pPr>
            <a:r>
              <a:rPr lang="es-VE" sz="120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 no tiene una vista consolidada de la operación.</a:t>
            </a:r>
          </a:p>
        </p:txBody>
      </p:sp>
      <p:sp>
        <p:nvSpPr>
          <p:cNvPr id="119" name="Text"/>
          <p:cNvSpPr txBox="1"/>
          <p:nvPr/>
        </p:nvSpPr>
        <p:spPr>
          <a:xfrm>
            <a:off x="6172200" y="1783080"/>
            <a:ext cx="556229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10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BENEFICIOS</a:t>
            </a:r>
          </a:p>
        </p:txBody>
      </p:sp>
      <p:sp>
        <p:nvSpPr>
          <p:cNvPr id="120" name="Shape"/>
          <p:cNvSpPr/>
          <p:nvPr/>
        </p:nvSpPr>
        <p:spPr>
          <a:xfrm>
            <a:off x="6172200" y="2103120"/>
            <a:ext cx="5562295" cy="640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1" name="Shape"/>
          <p:cNvSpPr/>
          <p:nvPr/>
        </p:nvSpPr>
        <p:spPr>
          <a:xfrm>
            <a:off x="6318504" y="2203704"/>
            <a:ext cx="438912" cy="438912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2" name="Text"/>
          <p:cNvSpPr txBox="1"/>
          <p:nvPr/>
        </p:nvSpPr>
        <p:spPr>
          <a:xfrm>
            <a:off x="6318504" y="2203704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500" dirty="0">
                <a:solidFill>
                  <a:srgbClr val="000000"/>
                </a:solidFill>
              </a:rPr>
              <a:t>🗂️</a:t>
            </a:r>
          </a:p>
        </p:txBody>
      </p:sp>
      <p:sp>
        <p:nvSpPr>
          <p:cNvPr id="123" name="Text"/>
          <p:cNvSpPr txBox="1"/>
          <p:nvPr/>
        </p:nvSpPr>
        <p:spPr>
          <a:xfrm>
            <a:off x="6922008" y="2167128"/>
            <a:ext cx="4647895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sola fuente de verdad</a:t>
            </a:r>
          </a:p>
          <a:p>
            <a:pPr marL="0" indent="0" algn="l">
              <a:buNone/>
            </a:pPr>
            <a:r>
              <a:rPr lang="es-VE" sz="10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único de unidades y datos, compartido por todas las áreas.</a:t>
            </a:r>
          </a:p>
        </p:txBody>
      </p:sp>
      <p:sp>
        <p:nvSpPr>
          <p:cNvPr id="124" name="Shape"/>
          <p:cNvSpPr/>
          <p:nvPr/>
        </p:nvSpPr>
        <p:spPr>
          <a:xfrm>
            <a:off x="6172200" y="2825496"/>
            <a:ext cx="5562295" cy="640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5" name="Shape"/>
          <p:cNvSpPr/>
          <p:nvPr/>
        </p:nvSpPr>
        <p:spPr>
          <a:xfrm>
            <a:off x="6318504" y="2926080"/>
            <a:ext cx="438912" cy="438912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6" name="Text"/>
          <p:cNvSpPr txBox="1"/>
          <p:nvPr/>
        </p:nvSpPr>
        <p:spPr>
          <a:xfrm>
            <a:off x="6318504" y="2926080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500" dirty="0">
                <a:solidFill>
                  <a:srgbClr val="000000"/>
                </a:solidFill>
              </a:rPr>
              <a:t>📡</a:t>
            </a:r>
          </a:p>
        </p:txBody>
      </p:sp>
      <p:sp>
        <p:nvSpPr>
          <p:cNvPr id="127" name="Text"/>
          <p:cNvSpPr txBox="1"/>
          <p:nvPr/>
        </p:nvSpPr>
        <p:spPr>
          <a:xfrm>
            <a:off x="6922008" y="2889504"/>
            <a:ext cx="4647895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 en tiempo real</a:t>
            </a:r>
          </a:p>
          <a:p>
            <a:pPr marL="0" indent="0" algn="l">
              <a:buNone/>
            </a:pPr>
            <a:r>
              <a:rPr lang="es-VE" sz="10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 unidades monitoreadas por GPS, con alertas automáticas de geocerca y horario.</a:t>
            </a:r>
          </a:p>
        </p:txBody>
      </p:sp>
      <p:sp>
        <p:nvSpPr>
          <p:cNvPr id="128" name="Shape"/>
          <p:cNvSpPr/>
          <p:nvPr/>
        </p:nvSpPr>
        <p:spPr>
          <a:xfrm>
            <a:off x="6172200" y="3547872"/>
            <a:ext cx="5562295" cy="640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9" name="Shape"/>
          <p:cNvSpPr/>
          <p:nvPr/>
        </p:nvSpPr>
        <p:spPr>
          <a:xfrm>
            <a:off x="6318504" y="3648456"/>
            <a:ext cx="438912" cy="438912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0" name="Text"/>
          <p:cNvSpPr txBox="1"/>
          <p:nvPr/>
        </p:nvSpPr>
        <p:spPr>
          <a:xfrm>
            <a:off x="6318504" y="3648456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500" dirty="0">
                <a:solidFill>
                  <a:srgbClr val="000000"/>
                </a:solidFill>
              </a:rPr>
              <a:t>⚙️</a:t>
            </a:r>
          </a:p>
        </p:txBody>
      </p:sp>
      <p:sp>
        <p:nvSpPr>
          <p:cNvPr id="131" name="Text"/>
          <p:cNvSpPr txBox="1"/>
          <p:nvPr/>
        </p:nvSpPr>
        <p:spPr>
          <a:xfrm>
            <a:off x="6922008" y="3611880"/>
            <a:ext cx="4647895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Automatización</a:t>
            </a:r>
          </a:p>
          <a:p>
            <a:pPr marL="0" indent="0" algn="l">
              <a:buNone/>
            </a:pPr>
            <a:r>
              <a:rPr lang="es-VE" sz="10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de turno solos por Telegram; horas y combustible calculados sin fórmulas manuales.</a:t>
            </a:r>
          </a:p>
        </p:txBody>
      </p:sp>
      <p:sp>
        <p:nvSpPr>
          <p:cNvPr id="132" name="Shape"/>
          <p:cNvSpPr/>
          <p:nvPr/>
        </p:nvSpPr>
        <p:spPr>
          <a:xfrm>
            <a:off x="6172200" y="4270248"/>
            <a:ext cx="5562295" cy="640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3" name="Shape"/>
          <p:cNvSpPr/>
          <p:nvPr/>
        </p:nvSpPr>
        <p:spPr>
          <a:xfrm>
            <a:off x="6318504" y="4370832"/>
            <a:ext cx="438912" cy="438912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4" name="Text"/>
          <p:cNvSpPr txBox="1"/>
          <p:nvPr/>
        </p:nvSpPr>
        <p:spPr>
          <a:xfrm>
            <a:off x="6318504" y="4370832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500" dirty="0">
                <a:solidFill>
                  <a:srgbClr val="000000"/>
                </a:solidFill>
              </a:rPr>
              <a:t>🔒</a:t>
            </a:r>
          </a:p>
        </p:txBody>
      </p:sp>
      <p:sp>
        <p:nvSpPr>
          <p:cNvPr id="135" name="Text"/>
          <p:cNvSpPr txBox="1"/>
          <p:nvPr/>
        </p:nvSpPr>
        <p:spPr>
          <a:xfrm>
            <a:off x="6922008" y="4334256"/>
            <a:ext cx="4647895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Trazabilidad</a:t>
            </a:r>
          </a:p>
          <a:p>
            <a:pPr marL="0" indent="0" algn="l">
              <a:buNone/>
            </a:pPr>
            <a:r>
              <a:rPr lang="es-VE" sz="10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registro guarda quién lo hizo y su respaldo (ej. foto del ticket); cada rol ve solo lo suyo.</a:t>
            </a:r>
          </a:p>
        </p:txBody>
      </p:sp>
      <p:sp>
        <p:nvSpPr>
          <p:cNvPr id="136" name="Shape"/>
          <p:cNvSpPr/>
          <p:nvPr/>
        </p:nvSpPr>
        <p:spPr>
          <a:xfrm>
            <a:off x="6172200" y="4992624"/>
            <a:ext cx="5562295" cy="640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7" name="Shape"/>
          <p:cNvSpPr/>
          <p:nvPr/>
        </p:nvSpPr>
        <p:spPr>
          <a:xfrm>
            <a:off x="6318504" y="5093208"/>
            <a:ext cx="438912" cy="438912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8" name="Text"/>
          <p:cNvSpPr txBox="1"/>
          <p:nvPr/>
        </p:nvSpPr>
        <p:spPr>
          <a:xfrm>
            <a:off x="6318504" y="5093208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500" dirty="0">
                <a:solidFill>
                  <a:srgbClr val="000000"/>
                </a:solidFill>
              </a:rPr>
              <a:t>📈</a:t>
            </a:r>
          </a:p>
        </p:txBody>
      </p:sp>
      <p:sp>
        <p:nvSpPr>
          <p:cNvPr id="139" name="Text"/>
          <p:cNvSpPr txBox="1"/>
          <p:nvPr/>
        </p:nvSpPr>
        <p:spPr>
          <a:xfrm>
            <a:off x="6922008" y="5056632"/>
            <a:ext cx="4647895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para decisiones</a:t>
            </a:r>
          </a:p>
          <a:p>
            <a:pPr marL="0" indent="0" algn="l">
              <a:buNone/>
            </a:pPr>
            <a:r>
              <a:rPr lang="es-VE" sz="10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de consumo, horas y comportamiento de la flota construidos con datos reales.</a:t>
            </a:r>
          </a:p>
        </p:txBody>
      </p:sp>
      <p:sp>
        <p:nvSpPr>
          <p:cNvPr id="140" name="Shape"/>
          <p:cNvSpPr/>
          <p:nvPr/>
        </p:nvSpPr>
        <p:spPr>
          <a:xfrm>
            <a:off x="457200" y="5897880"/>
            <a:ext cx="11277295" cy="658368"/>
          </a:xfrm>
          <a:prstGeom prst="roundRect">
            <a:avLst>
              <a:gd name="adj" fmla="val 12000"/>
            </a:avLst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1" name="Text"/>
          <p:cNvSpPr txBox="1"/>
          <p:nvPr/>
        </p:nvSpPr>
        <p:spPr>
          <a:xfrm>
            <a:off x="685800" y="5971032"/>
            <a:ext cx="137160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s-VE" sz="900" b="1" spc="12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Versión 1 completa</a:t>
            </a:r>
          </a:p>
        </p:txBody>
      </p:sp>
      <p:sp>
        <p:nvSpPr>
          <p:cNvPr id="142" name="Text"/>
          <p:cNvSpPr txBox="1"/>
          <p:nvPr/>
        </p:nvSpPr>
        <p:spPr>
          <a:xfrm>
            <a:off x="2240280" y="5971032"/>
            <a:ext cx="333756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s-VE" sz="900" b="1" spc="12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V1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Combustible · Tracker GPS · Control de Horas · Reportes · Seguridad</a:t>
            </a:r>
          </a:p>
        </p:txBody>
      </p:sp>
      <p:sp>
        <p:nvSpPr>
          <p:cNvPr id="143" name="Text"/>
          <p:cNvSpPr txBox="1"/>
          <p:nvPr/>
        </p:nvSpPr>
        <p:spPr>
          <a:xfrm>
            <a:off x="5760720" y="5971032"/>
            <a:ext cx="256032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s-VE" sz="900" b="1" spc="12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 a producción · App móvil · Tarifas de rentabilidad</a:t>
            </a:r>
          </a:p>
        </p:txBody>
      </p:sp>
      <p:sp>
        <p:nvSpPr>
          <p:cNvPr id="144" name="Text"/>
          <p:cNvSpPr txBox="1"/>
          <p:nvPr/>
        </p:nvSpPr>
        <p:spPr>
          <a:xfrm>
            <a:off x="8503920" y="5971032"/>
            <a:ext cx="28346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s-VE" sz="900" b="1" spc="12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· Node.js · PostgreSQL · GPS Foresight/GEvolution · Telegram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NEXUS modulos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"/>
          <p:cNvSpPr txBox="1"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20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MÓDULOS DE LA VERSIÓN 1</a:t>
            </a:r>
          </a:p>
        </p:txBody>
      </p:sp>
      <p:sp>
        <p:nvSpPr>
          <p:cNvPr id="102" name="Text"/>
          <p:cNvSpPr txBox="1"/>
          <p:nvPr/>
        </p:nvSpPr>
        <p:spPr>
          <a:xfrm>
            <a:off x="457200" y="658368"/>
            <a:ext cx="9144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30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solo sistema, cinco módulos</a:t>
            </a:r>
          </a:p>
        </p:txBody>
      </p:sp>
      <p:sp>
        <p:nvSpPr>
          <p:cNvPr id="103" name="Text"/>
          <p:cNvSpPr txBox="1"/>
          <p:nvPr/>
        </p:nvSpPr>
        <p:spPr>
          <a:xfrm>
            <a:off x="457200" y="1152144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250" i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 de inicio del sistema web: cada módulo a un clic desde el panel de FullPetro</a:t>
            </a:r>
          </a:p>
        </p:txBody>
      </p:sp>
      <p:pic>
        <p:nvPicPr>
          <p:cNvPr id="104" name="Image" descr="Logo NEXU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8956" y="384048"/>
            <a:ext cx="1195539" cy="868680"/>
          </a:xfrm>
          <a:prstGeom prst="rect">
            <a:avLst/>
          </a:prstGeom>
        </p:spPr>
      </p:pic>
      <p:sp>
        <p:nvSpPr>
          <p:cNvPr id="105" name="Line"/>
          <p:cNvSpPr/>
          <p:nvPr/>
        </p:nvSpPr>
        <p:spPr>
          <a:xfrm>
            <a:off x="457200" y="1572768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"/>
          <p:cNvSpPr/>
          <p:nvPr/>
        </p:nvSpPr>
        <p:spPr>
          <a:xfrm>
            <a:off x="457200" y="1810512"/>
            <a:ext cx="6858000" cy="2464157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7" name="Image" descr="Pantalla de inicio de NEXU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883664"/>
            <a:ext cx="6711696" cy="2317853"/>
          </a:xfrm>
          <a:prstGeom prst="rect">
            <a:avLst/>
          </a:prstGeom>
        </p:spPr>
      </p:pic>
      <p:sp>
        <p:nvSpPr>
          <p:cNvPr id="108" name="Text"/>
          <p:cNvSpPr txBox="1"/>
          <p:nvPr/>
        </p:nvSpPr>
        <p:spPr>
          <a:xfrm>
            <a:off x="530352" y="4366109"/>
            <a:ext cx="68580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0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INICIO</a:t>
            </a:r>
            <a:r>
              <a:rPr lang="es-VE" sz="1050" spc="10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vista del usuario administrador</a:t>
            </a:r>
          </a:p>
        </p:txBody>
      </p:sp>
      <p:sp>
        <p:nvSpPr>
          <p:cNvPr id="109" name="Text"/>
          <p:cNvSpPr txBox="1"/>
          <p:nvPr/>
        </p:nvSpPr>
        <p:spPr>
          <a:xfrm>
            <a:off x="530352" y="4777589"/>
            <a:ext cx="68580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10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COMPARTEN TODOS LOS MÓDULOS</a:t>
            </a:r>
          </a:p>
        </p:txBody>
      </p:sp>
      <p:sp>
        <p:nvSpPr>
          <p:cNvPr id="110" name="Shape"/>
          <p:cNvSpPr/>
          <p:nvPr/>
        </p:nvSpPr>
        <p:spPr>
          <a:xfrm>
            <a:off x="457200" y="5106773"/>
            <a:ext cx="2194560" cy="1166011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"/>
          <p:cNvSpPr/>
          <p:nvPr/>
        </p:nvSpPr>
        <p:spPr>
          <a:xfrm>
            <a:off x="594360" y="5243933"/>
            <a:ext cx="329184" cy="329184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2" name="Image" descr="Registro únic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5307941"/>
            <a:ext cx="201168" cy="201168"/>
          </a:xfrm>
          <a:prstGeom prst="rect">
            <a:avLst/>
          </a:prstGeom>
        </p:spPr>
      </p:pic>
      <p:sp>
        <p:nvSpPr>
          <p:cNvPr id="113" name="Text"/>
          <p:cNvSpPr txBox="1"/>
          <p:nvPr/>
        </p:nvSpPr>
        <p:spPr>
          <a:xfrm>
            <a:off x="1005840" y="5243933"/>
            <a:ext cx="15544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2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Registro único</a:t>
            </a:r>
          </a:p>
        </p:txBody>
      </p:sp>
      <p:sp>
        <p:nvSpPr>
          <p:cNvPr id="114" name="Text"/>
          <p:cNvSpPr txBox="1"/>
          <p:nvPr/>
        </p:nvSpPr>
        <p:spPr>
          <a:xfrm>
            <a:off x="594360" y="5655413"/>
            <a:ext cx="1920240" cy="52593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s-VE" sz="10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Unidades y equipos se registran una sola vez para todo el sistema.</a:t>
            </a:r>
          </a:p>
        </p:txBody>
      </p:sp>
      <p:sp>
        <p:nvSpPr>
          <p:cNvPr id="115" name="Shape"/>
          <p:cNvSpPr/>
          <p:nvPr/>
        </p:nvSpPr>
        <p:spPr>
          <a:xfrm>
            <a:off x="2788920" y="5106773"/>
            <a:ext cx="2194560" cy="1166011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Shape"/>
          <p:cNvSpPr/>
          <p:nvPr/>
        </p:nvSpPr>
        <p:spPr>
          <a:xfrm>
            <a:off x="2926080" y="5243933"/>
            <a:ext cx="329184" cy="329184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7" name="Image" descr="Acceso por rol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0088" y="5307941"/>
            <a:ext cx="201168" cy="201168"/>
          </a:xfrm>
          <a:prstGeom prst="rect">
            <a:avLst/>
          </a:prstGeom>
        </p:spPr>
      </p:pic>
      <p:sp>
        <p:nvSpPr>
          <p:cNvPr id="118" name="Text"/>
          <p:cNvSpPr txBox="1"/>
          <p:nvPr/>
        </p:nvSpPr>
        <p:spPr>
          <a:xfrm>
            <a:off x="3337560" y="5243933"/>
            <a:ext cx="15544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2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Acceso por rol</a:t>
            </a:r>
          </a:p>
        </p:txBody>
      </p:sp>
      <p:sp>
        <p:nvSpPr>
          <p:cNvPr id="119" name="Text"/>
          <p:cNvSpPr txBox="1"/>
          <p:nvPr/>
        </p:nvSpPr>
        <p:spPr>
          <a:xfrm>
            <a:off x="2926080" y="5655413"/>
            <a:ext cx="1920240" cy="52593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s-VE" sz="10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perfil ve solo los módulos y datos que le corresponden.</a:t>
            </a:r>
          </a:p>
        </p:txBody>
      </p:sp>
      <p:sp>
        <p:nvSpPr>
          <p:cNvPr id="120" name="Shape"/>
          <p:cNvSpPr/>
          <p:nvPr/>
        </p:nvSpPr>
        <p:spPr>
          <a:xfrm>
            <a:off x="5120640" y="5106773"/>
            <a:ext cx="2194560" cy="1166011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Shape"/>
          <p:cNvSpPr/>
          <p:nvPr/>
        </p:nvSpPr>
        <p:spPr>
          <a:xfrm>
            <a:off x="5257800" y="5243933"/>
            <a:ext cx="329184" cy="329184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22" name="Image" descr="Indicadores comune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21808" y="5307941"/>
            <a:ext cx="201168" cy="201168"/>
          </a:xfrm>
          <a:prstGeom prst="rect">
            <a:avLst/>
          </a:prstGeom>
        </p:spPr>
      </p:pic>
      <p:sp>
        <p:nvSpPr>
          <p:cNvPr id="123" name="Text"/>
          <p:cNvSpPr txBox="1"/>
          <p:nvPr/>
        </p:nvSpPr>
        <p:spPr>
          <a:xfrm>
            <a:off x="5669280" y="5243933"/>
            <a:ext cx="1554480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2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Indicadores comunes</a:t>
            </a:r>
          </a:p>
        </p:txBody>
      </p:sp>
      <p:sp>
        <p:nvSpPr>
          <p:cNvPr id="124" name="Text"/>
          <p:cNvSpPr txBox="1"/>
          <p:nvPr/>
        </p:nvSpPr>
        <p:spPr>
          <a:xfrm>
            <a:off x="5257800" y="5655413"/>
            <a:ext cx="1920240" cy="525931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s-VE" sz="10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Consumo, horas y flota calculados sobre los mismos datos.</a:t>
            </a:r>
          </a:p>
        </p:txBody>
      </p:sp>
      <p:sp>
        <p:nvSpPr>
          <p:cNvPr id="125" name="Text"/>
          <p:cNvSpPr txBox="1"/>
          <p:nvPr/>
        </p:nvSpPr>
        <p:spPr>
          <a:xfrm>
            <a:off x="7635240" y="1810512"/>
            <a:ext cx="4099255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10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</a:t>
            </a:r>
          </a:p>
        </p:txBody>
      </p:sp>
      <p:sp>
        <p:nvSpPr>
          <p:cNvPr id="126" name="Shape"/>
          <p:cNvSpPr/>
          <p:nvPr/>
        </p:nvSpPr>
        <p:spPr>
          <a:xfrm>
            <a:off x="7635240" y="2121408"/>
            <a:ext cx="4099255" cy="7772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7" name="Shape"/>
          <p:cNvSpPr/>
          <p:nvPr/>
        </p:nvSpPr>
        <p:spPr>
          <a:xfrm>
            <a:off x="7781544" y="2272284"/>
            <a:ext cx="475488" cy="475488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28" name="Image" descr="Combustibl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00416" y="2391156"/>
            <a:ext cx="237744" cy="237744"/>
          </a:xfrm>
          <a:prstGeom prst="rect">
            <a:avLst/>
          </a:prstGeom>
        </p:spPr>
      </p:pic>
      <p:sp>
        <p:nvSpPr>
          <p:cNvPr id="129" name="Text"/>
          <p:cNvSpPr txBox="1"/>
          <p:nvPr/>
        </p:nvSpPr>
        <p:spPr>
          <a:xfrm>
            <a:off x="8403336" y="2194560"/>
            <a:ext cx="3184855" cy="6309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Combustible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Llenados, tanque de gasoil y unidades, con respaldo de cada registro.</a:t>
            </a:r>
          </a:p>
        </p:txBody>
      </p:sp>
      <p:sp>
        <p:nvSpPr>
          <p:cNvPr id="130" name="Shape"/>
          <p:cNvSpPr/>
          <p:nvPr/>
        </p:nvSpPr>
        <p:spPr>
          <a:xfrm>
            <a:off x="7635240" y="2980944"/>
            <a:ext cx="4099255" cy="7772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1" name="Shape"/>
          <p:cNvSpPr/>
          <p:nvPr/>
        </p:nvSpPr>
        <p:spPr>
          <a:xfrm>
            <a:off x="7781544" y="3131820"/>
            <a:ext cx="475488" cy="475488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32" name="Image" descr="Tracker GPS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00416" y="3250692"/>
            <a:ext cx="237744" cy="237744"/>
          </a:xfrm>
          <a:prstGeom prst="rect">
            <a:avLst/>
          </a:prstGeom>
        </p:spPr>
      </p:pic>
      <p:sp>
        <p:nvSpPr>
          <p:cNvPr id="133" name="Text"/>
          <p:cNvSpPr txBox="1"/>
          <p:nvPr/>
        </p:nvSpPr>
        <p:spPr>
          <a:xfrm>
            <a:off x="8403336" y="3054096"/>
            <a:ext cx="3184855" cy="6309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Tracker GPS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flota, alertas y mapa en vivo; reportes de turno por Telegram.</a:t>
            </a:r>
          </a:p>
        </p:txBody>
      </p:sp>
      <p:sp>
        <p:nvSpPr>
          <p:cNvPr id="134" name="Shape"/>
          <p:cNvSpPr/>
          <p:nvPr/>
        </p:nvSpPr>
        <p:spPr>
          <a:xfrm>
            <a:off x="7635240" y="3840480"/>
            <a:ext cx="4099255" cy="7772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5" name="Shape"/>
          <p:cNvSpPr/>
          <p:nvPr/>
        </p:nvSpPr>
        <p:spPr>
          <a:xfrm>
            <a:off x="7781544" y="3991356"/>
            <a:ext cx="475488" cy="475488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36" name="Image" descr="Control de Horas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900416" y="4110228"/>
            <a:ext cx="237744" cy="237744"/>
          </a:xfrm>
          <a:prstGeom prst="rect">
            <a:avLst/>
          </a:prstGeom>
        </p:spPr>
      </p:pic>
      <p:sp>
        <p:nvSpPr>
          <p:cNvPr id="137" name="Text"/>
          <p:cNvSpPr txBox="1"/>
          <p:nvPr/>
        </p:nvSpPr>
        <p:spPr>
          <a:xfrm>
            <a:off x="8403336" y="3913632"/>
            <a:ext cx="3184855" cy="6309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 de Horas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diario por proyecto y equipo, sin fórmulas manuales.</a:t>
            </a:r>
          </a:p>
        </p:txBody>
      </p:sp>
      <p:sp>
        <p:nvSpPr>
          <p:cNvPr id="138" name="Shape"/>
          <p:cNvSpPr/>
          <p:nvPr/>
        </p:nvSpPr>
        <p:spPr>
          <a:xfrm>
            <a:off x="7635240" y="4700016"/>
            <a:ext cx="4099255" cy="7772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9" name="Shape"/>
          <p:cNvSpPr/>
          <p:nvPr/>
        </p:nvSpPr>
        <p:spPr>
          <a:xfrm>
            <a:off x="7781544" y="4850892"/>
            <a:ext cx="475488" cy="475488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40" name="Image" descr="Reportes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00416" y="4969764"/>
            <a:ext cx="237744" cy="237744"/>
          </a:xfrm>
          <a:prstGeom prst="rect">
            <a:avLst/>
          </a:prstGeom>
        </p:spPr>
      </p:pic>
      <p:sp>
        <p:nvSpPr>
          <p:cNvPr id="141" name="Text"/>
          <p:cNvSpPr txBox="1"/>
          <p:nvPr/>
        </p:nvSpPr>
        <p:spPr>
          <a:xfrm>
            <a:off x="8403336" y="4773168"/>
            <a:ext cx="3184855" cy="6309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Reportes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de combustible y horas trabajadas para gerencia.</a:t>
            </a:r>
          </a:p>
        </p:txBody>
      </p:sp>
      <p:sp>
        <p:nvSpPr>
          <p:cNvPr id="142" name="Shape"/>
          <p:cNvSpPr/>
          <p:nvPr/>
        </p:nvSpPr>
        <p:spPr>
          <a:xfrm>
            <a:off x="7635240" y="5559552"/>
            <a:ext cx="4099255" cy="7772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3" name="Shape"/>
          <p:cNvSpPr/>
          <p:nvPr/>
        </p:nvSpPr>
        <p:spPr>
          <a:xfrm>
            <a:off x="7781544" y="5710428"/>
            <a:ext cx="475488" cy="475488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44" name="Image" descr="Seguridad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900416" y="5829300"/>
            <a:ext cx="237744" cy="237744"/>
          </a:xfrm>
          <a:prstGeom prst="rect">
            <a:avLst/>
          </a:prstGeom>
        </p:spPr>
      </p:pic>
      <p:sp>
        <p:nvSpPr>
          <p:cNvPr id="145" name="Text"/>
          <p:cNvSpPr txBox="1"/>
          <p:nvPr/>
        </p:nvSpPr>
        <p:spPr>
          <a:xfrm>
            <a:off x="8403336" y="5632704"/>
            <a:ext cx="3184855" cy="6309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Seguridad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Usuarios, roles y permisos: quién entra y qué puede ver.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mbusti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"/>
          <p:cNvSpPr/>
          <p:nvPr/>
        </p:nvSpPr>
        <p:spPr>
          <a:xfrm>
            <a:off x="457200" y="32918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02" name="Image" descr="Combustib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9768"/>
            <a:ext cx="219456" cy="219456"/>
          </a:xfrm>
          <a:prstGeom prst="rect">
            <a:avLst/>
          </a:prstGeom>
        </p:spPr>
      </p:pic>
      <p:sp>
        <p:nvSpPr>
          <p:cNvPr id="103" name="Text"/>
          <p:cNvSpPr txBox="1"/>
          <p:nvPr/>
        </p:nvSpPr>
        <p:spPr>
          <a:xfrm>
            <a:off x="1005840" y="256032"/>
            <a:ext cx="8412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25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Combustible · Flota Liviana</a:t>
            </a:r>
          </a:p>
        </p:txBody>
      </p:sp>
      <p:sp>
        <p:nvSpPr>
          <p:cNvPr id="104" name="Shape"/>
          <p:cNvSpPr/>
          <p:nvPr/>
        </p:nvSpPr>
        <p:spPr>
          <a:xfrm>
            <a:off x="9997135" y="36576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"/>
          <p:cNvSpPr txBox="1"/>
          <p:nvPr/>
        </p:nvSpPr>
        <p:spPr>
          <a:xfrm>
            <a:off x="9997135" y="36576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 01</a:t>
            </a:r>
          </a:p>
        </p:txBody>
      </p:sp>
      <p:sp>
        <p:nvSpPr>
          <p:cNvPr id="106" name="Line"/>
          <p:cNvSpPr/>
          <p:nvPr/>
        </p:nvSpPr>
        <p:spPr>
          <a:xfrm>
            <a:off x="457200" y="896112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"/>
          <p:cNvSpPr/>
          <p:nvPr/>
        </p:nvSpPr>
        <p:spPr>
          <a:xfrm>
            <a:off x="457200" y="1143000"/>
            <a:ext cx="7589520" cy="3732169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8" name="Image" descr="Pantalla del módulo Combustib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16152"/>
            <a:ext cx="7443216" cy="3585865"/>
          </a:xfrm>
          <a:prstGeom prst="rect">
            <a:avLst/>
          </a:prstGeom>
        </p:spPr>
      </p:pic>
      <p:sp>
        <p:nvSpPr>
          <p:cNvPr id="109" name="Text"/>
          <p:cNvSpPr txBox="1"/>
          <p:nvPr/>
        </p:nvSpPr>
        <p:spPr>
          <a:xfrm>
            <a:off x="530352" y="4966609"/>
            <a:ext cx="758952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0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LLENADOS</a:t>
            </a:r>
            <a:r>
              <a:rPr lang="es-VE" sz="1050" spc="10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filtros, totales y respaldo de cada carga</a:t>
            </a:r>
          </a:p>
        </p:txBody>
      </p:sp>
      <p:sp>
        <p:nvSpPr>
          <p:cNvPr id="110" name="Shape"/>
          <p:cNvSpPr/>
          <p:nvPr/>
        </p:nvSpPr>
        <p:spPr>
          <a:xfrm>
            <a:off x="457200" y="5378089"/>
            <a:ext cx="243840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"/>
          <p:cNvSpPr/>
          <p:nvPr/>
        </p:nvSpPr>
        <p:spPr>
          <a:xfrm>
            <a:off x="594360" y="5688985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2" name="Image" descr="Respaldo con fo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5771281"/>
            <a:ext cx="219456" cy="219456"/>
          </a:xfrm>
          <a:prstGeom prst="rect">
            <a:avLst/>
          </a:prstGeom>
        </p:spPr>
      </p:pic>
      <p:sp>
        <p:nvSpPr>
          <p:cNvPr id="113" name="Text"/>
          <p:cNvSpPr txBox="1"/>
          <p:nvPr/>
        </p:nvSpPr>
        <p:spPr>
          <a:xfrm>
            <a:off x="1097280" y="5451241"/>
            <a:ext cx="1706880" cy="8595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Respaldo con foto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llenado guarda la foto del ticket.</a:t>
            </a:r>
          </a:p>
        </p:txBody>
      </p:sp>
      <p:sp>
        <p:nvSpPr>
          <p:cNvPr id="114" name="Shape"/>
          <p:cNvSpPr/>
          <p:nvPr/>
        </p:nvSpPr>
        <p:spPr>
          <a:xfrm>
            <a:off x="3032760" y="5378089"/>
            <a:ext cx="243840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"/>
          <p:cNvSpPr/>
          <p:nvPr/>
        </p:nvSpPr>
        <p:spPr>
          <a:xfrm>
            <a:off x="3169920" y="5688985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6" name="Image" descr="Totales al instant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2216" y="5771281"/>
            <a:ext cx="219456" cy="219456"/>
          </a:xfrm>
          <a:prstGeom prst="rect">
            <a:avLst/>
          </a:prstGeom>
        </p:spPr>
      </p:pic>
      <p:sp>
        <p:nvSpPr>
          <p:cNvPr id="117" name="Text"/>
          <p:cNvSpPr txBox="1"/>
          <p:nvPr/>
        </p:nvSpPr>
        <p:spPr>
          <a:xfrm>
            <a:off x="3672840" y="5451241"/>
            <a:ext cx="1706880" cy="8595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Totales al instante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Litros y monto se suman solos según el filtro.</a:t>
            </a:r>
          </a:p>
        </p:txBody>
      </p:sp>
      <p:sp>
        <p:nvSpPr>
          <p:cNvPr id="118" name="Shape"/>
          <p:cNvSpPr/>
          <p:nvPr/>
        </p:nvSpPr>
        <p:spPr>
          <a:xfrm>
            <a:off x="5608320" y="5378089"/>
            <a:ext cx="243840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"/>
          <p:cNvSpPr/>
          <p:nvPr/>
        </p:nvSpPr>
        <p:spPr>
          <a:xfrm>
            <a:off x="5745480" y="5688985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20" name="Image" descr="Exportabl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7776" y="5771281"/>
            <a:ext cx="219456" cy="219456"/>
          </a:xfrm>
          <a:prstGeom prst="rect">
            <a:avLst/>
          </a:prstGeom>
        </p:spPr>
      </p:pic>
      <p:sp>
        <p:nvSpPr>
          <p:cNvPr id="121" name="Text"/>
          <p:cNvSpPr txBox="1"/>
          <p:nvPr/>
        </p:nvSpPr>
        <p:spPr>
          <a:xfrm>
            <a:off x="6248400" y="5451241"/>
            <a:ext cx="1706880" cy="8595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Exportable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filtrado se descarga en Excel con un clic.</a:t>
            </a:r>
          </a:p>
        </p:txBody>
      </p:sp>
      <p:sp>
        <p:nvSpPr>
          <p:cNvPr id="122" name="Text"/>
          <p:cNvSpPr txBox="1"/>
          <p:nvPr/>
        </p:nvSpPr>
        <p:spPr>
          <a:xfrm>
            <a:off x="8366760" y="1143000"/>
            <a:ext cx="336773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MUESTRA</a:t>
            </a:r>
          </a:p>
        </p:txBody>
      </p:sp>
      <p:sp>
        <p:nvSpPr>
          <p:cNvPr id="123" name="Text"/>
          <p:cNvSpPr txBox="1"/>
          <p:nvPr/>
        </p:nvSpPr>
        <p:spPr>
          <a:xfrm>
            <a:off x="8366760" y="1472184"/>
            <a:ext cx="3367735" cy="21031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llenado con su ID de transacción, fecha, hora, unidad, responsable, tipo de combustible, litros y monto.</a:t>
            </a: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por rango de fechas, unidad y responsable.</a:t>
            </a: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Totales del período filtrado en litros y dólares.</a:t>
            </a:r>
          </a:p>
        </p:txBody>
      </p:sp>
      <p:sp>
        <p:nvSpPr>
          <p:cNvPr id="124" name="Text"/>
          <p:cNvSpPr txBox="1"/>
          <p:nvPr/>
        </p:nvSpPr>
        <p:spPr>
          <a:xfrm>
            <a:off x="8366760" y="3017520"/>
            <a:ext cx="336773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USA</a:t>
            </a:r>
          </a:p>
        </p:txBody>
      </p:sp>
      <p:sp>
        <p:nvSpPr>
          <p:cNvPr id="125" name="Text"/>
          <p:cNvSpPr txBox="1"/>
          <p:nvPr/>
        </p:nvSpPr>
        <p:spPr>
          <a:xfrm>
            <a:off x="8366760" y="3346704"/>
            <a:ext cx="3367735" cy="21031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"Nuevo Llenado" registra la carga y adjunta la foto del ticket.</a:t>
            </a: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registro se puede ver, editar o eliminar desde la misma tabla.</a:t>
            </a: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"Exportar Excel" entrega el reporte listo para compartir.</a:t>
            </a:r>
          </a:p>
        </p:txBody>
      </p:sp>
      <p:sp>
        <p:nvSpPr>
          <p:cNvPr id="126" name="Shape"/>
          <p:cNvSpPr/>
          <p:nvPr/>
        </p:nvSpPr>
        <p:spPr>
          <a:xfrm>
            <a:off x="8366760" y="5378089"/>
            <a:ext cx="3367735" cy="1005840"/>
          </a:xfrm>
          <a:prstGeom prst="roundRect">
            <a:avLst>
              <a:gd name="adj" fmla="val 7000"/>
            </a:avLst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7" name="Text"/>
          <p:cNvSpPr txBox="1"/>
          <p:nvPr/>
        </p:nvSpPr>
        <p:spPr>
          <a:xfrm>
            <a:off x="8549640" y="5469529"/>
            <a:ext cx="3001975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lang="es-VE" sz="900" b="1" spc="12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→ AHORA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es-VE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cargas anotadas a mano y en Excel, a registros con responsable, hora y foto, listos para auditar.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lota Pesa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"/>
          <p:cNvSpPr/>
          <p:nvPr/>
        </p:nvSpPr>
        <p:spPr>
          <a:xfrm>
            <a:off x="457200" y="32918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02" name="Image" descr="Flota Pesad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9768"/>
            <a:ext cx="219456" cy="219456"/>
          </a:xfrm>
          <a:prstGeom prst="rect">
            <a:avLst/>
          </a:prstGeom>
        </p:spPr>
      </p:pic>
      <p:sp>
        <p:nvSpPr>
          <p:cNvPr id="103" name="Text"/>
          <p:cNvSpPr txBox="1"/>
          <p:nvPr/>
        </p:nvSpPr>
        <p:spPr>
          <a:xfrm>
            <a:off x="1005840" y="256032"/>
            <a:ext cx="8412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25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Combustible · Flota Pesada</a:t>
            </a:r>
          </a:p>
        </p:txBody>
      </p:sp>
      <p:sp>
        <p:nvSpPr>
          <p:cNvPr id="104" name="Shape"/>
          <p:cNvSpPr/>
          <p:nvPr/>
        </p:nvSpPr>
        <p:spPr>
          <a:xfrm>
            <a:off x="9997135" y="36576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"/>
          <p:cNvSpPr txBox="1"/>
          <p:nvPr/>
        </p:nvSpPr>
        <p:spPr>
          <a:xfrm>
            <a:off x="9997135" y="36576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 01</a:t>
            </a:r>
          </a:p>
        </p:txBody>
      </p:sp>
      <p:sp>
        <p:nvSpPr>
          <p:cNvPr id="106" name="Line"/>
          <p:cNvSpPr/>
          <p:nvPr/>
        </p:nvSpPr>
        <p:spPr>
          <a:xfrm>
            <a:off x="457200" y="896112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"/>
          <p:cNvSpPr/>
          <p:nvPr/>
        </p:nvSpPr>
        <p:spPr>
          <a:xfrm>
            <a:off x="457200" y="1143000"/>
            <a:ext cx="6949440" cy="378050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8" name="Image" descr="Pantalla de Combustible Flota Pesad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16152"/>
            <a:ext cx="6803136" cy="3634198"/>
          </a:xfrm>
          <a:prstGeom prst="rect">
            <a:avLst/>
          </a:prstGeom>
        </p:spPr>
      </p:pic>
      <p:sp>
        <p:nvSpPr>
          <p:cNvPr id="109" name="Text"/>
          <p:cNvSpPr txBox="1"/>
          <p:nvPr/>
        </p:nvSpPr>
        <p:spPr>
          <a:xfrm>
            <a:off x="530352" y="5014942"/>
            <a:ext cx="694944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0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 CARGAS · PESADA</a:t>
            </a:r>
            <a:r>
              <a:rPr lang="es-VE" sz="1050" spc="10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tanque de gasoil y despachos a equipos</a:t>
            </a:r>
          </a:p>
        </p:txBody>
      </p:sp>
      <p:sp>
        <p:nvSpPr>
          <p:cNvPr id="110" name="Shape"/>
          <p:cNvSpPr/>
          <p:nvPr/>
        </p:nvSpPr>
        <p:spPr>
          <a:xfrm>
            <a:off x="457200" y="5426422"/>
            <a:ext cx="222504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"/>
          <p:cNvSpPr/>
          <p:nvPr/>
        </p:nvSpPr>
        <p:spPr>
          <a:xfrm>
            <a:off x="594360" y="5737318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2" name="Image" descr="Nivel del tanqu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5819614"/>
            <a:ext cx="219456" cy="219456"/>
          </a:xfrm>
          <a:prstGeom prst="rect">
            <a:avLst/>
          </a:prstGeom>
        </p:spPr>
      </p:pic>
      <p:sp>
        <p:nvSpPr>
          <p:cNvPr id="113" name="Text"/>
          <p:cNvSpPr txBox="1"/>
          <p:nvPr/>
        </p:nvSpPr>
        <p:spPr>
          <a:xfrm>
            <a:off x="1097280" y="5499574"/>
            <a:ext cx="1493520" cy="8595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Nivel del tanque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Litros disponibles y % de capacidad, siempre a la vista.</a:t>
            </a:r>
          </a:p>
        </p:txBody>
      </p:sp>
      <p:sp>
        <p:nvSpPr>
          <p:cNvPr id="114" name="Shape"/>
          <p:cNvSpPr/>
          <p:nvPr/>
        </p:nvSpPr>
        <p:spPr>
          <a:xfrm>
            <a:off x="2819400" y="5426422"/>
            <a:ext cx="222504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"/>
          <p:cNvSpPr/>
          <p:nvPr/>
        </p:nvSpPr>
        <p:spPr>
          <a:xfrm>
            <a:off x="2956560" y="5737318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6" name="Image" descr="Galones o litro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8856" y="5819614"/>
            <a:ext cx="219456" cy="219456"/>
          </a:xfrm>
          <a:prstGeom prst="rect">
            <a:avLst/>
          </a:prstGeom>
        </p:spPr>
      </p:pic>
      <p:sp>
        <p:nvSpPr>
          <p:cNvPr id="117" name="Text"/>
          <p:cNvSpPr txBox="1"/>
          <p:nvPr/>
        </p:nvSpPr>
        <p:spPr>
          <a:xfrm>
            <a:off x="3459480" y="5499574"/>
            <a:ext cx="1493520" cy="8595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Galones o litros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misma información en la unidad que se prefiera.</a:t>
            </a:r>
          </a:p>
        </p:txBody>
      </p:sp>
      <p:sp>
        <p:nvSpPr>
          <p:cNvPr id="118" name="Shape"/>
          <p:cNvSpPr/>
          <p:nvPr/>
        </p:nvSpPr>
        <p:spPr>
          <a:xfrm>
            <a:off x="5181600" y="5426422"/>
            <a:ext cx="222504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"/>
          <p:cNvSpPr/>
          <p:nvPr/>
        </p:nvSpPr>
        <p:spPr>
          <a:xfrm>
            <a:off x="5318760" y="5737318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20" name="Image" descr="Horas del equip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1056" y="5819614"/>
            <a:ext cx="219456" cy="219456"/>
          </a:xfrm>
          <a:prstGeom prst="rect">
            <a:avLst/>
          </a:prstGeom>
        </p:spPr>
      </p:pic>
      <p:sp>
        <p:nvSpPr>
          <p:cNvPr id="121" name="Text"/>
          <p:cNvSpPr txBox="1"/>
          <p:nvPr/>
        </p:nvSpPr>
        <p:spPr>
          <a:xfrm>
            <a:off x="5821680" y="5499574"/>
            <a:ext cx="1493520" cy="8595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Horas del equipo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carga registra la medida del horómetro.</a:t>
            </a:r>
          </a:p>
        </p:txBody>
      </p:sp>
      <p:sp>
        <p:nvSpPr>
          <p:cNvPr id="122" name="Text"/>
          <p:cNvSpPr txBox="1"/>
          <p:nvPr/>
        </p:nvSpPr>
        <p:spPr>
          <a:xfrm>
            <a:off x="7726680" y="1143000"/>
            <a:ext cx="400781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MUESTRA</a:t>
            </a:r>
          </a:p>
        </p:txBody>
      </p:sp>
      <p:sp>
        <p:nvSpPr>
          <p:cNvPr id="123" name="Text"/>
          <p:cNvSpPr txBox="1"/>
          <p:nvPr/>
        </p:nvSpPr>
        <p:spPr>
          <a:xfrm>
            <a:off x="7726680" y="1472184"/>
            <a:ext cx="4007815" cy="21031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Tanque principal de gasoil: litros disponibles sobre su capacidad y porcentaje de llenado.</a:t>
            </a: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carga con ID, fecha, hora, solicitante, equipo, medida en horas y galones despachados.</a:t>
            </a: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consumido del período filtrado.</a:t>
            </a:r>
          </a:p>
        </p:txBody>
      </p:sp>
      <p:sp>
        <p:nvSpPr>
          <p:cNvPr id="124" name="Text"/>
          <p:cNvSpPr txBox="1"/>
          <p:nvPr/>
        </p:nvSpPr>
        <p:spPr>
          <a:xfrm>
            <a:off x="7726680" y="3017520"/>
            <a:ext cx="400781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USA</a:t>
            </a:r>
          </a:p>
        </p:txBody>
      </p:sp>
      <p:sp>
        <p:nvSpPr>
          <p:cNvPr id="125" name="Text"/>
          <p:cNvSpPr txBox="1"/>
          <p:nvPr/>
        </p:nvSpPr>
        <p:spPr>
          <a:xfrm>
            <a:off x="7726680" y="3346704"/>
            <a:ext cx="4007815" cy="21031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"Nueva Carga" registra el despacho con su foto de respaldo.</a:t>
            </a: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por fecha, unidad y solicitante; cambio entre galones y litros.</a:t>
            </a: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"Ver Tanque de Gasoil" abre el detalle del tanque y "Exportar Excel" descarga lo filtrado.</a:t>
            </a:r>
          </a:p>
        </p:txBody>
      </p:sp>
      <p:sp>
        <p:nvSpPr>
          <p:cNvPr id="126" name="Shape"/>
          <p:cNvSpPr/>
          <p:nvPr/>
        </p:nvSpPr>
        <p:spPr>
          <a:xfrm>
            <a:off x="7726680" y="5426422"/>
            <a:ext cx="4007815" cy="1005840"/>
          </a:xfrm>
          <a:prstGeom prst="roundRect">
            <a:avLst>
              <a:gd name="adj" fmla="val 7000"/>
            </a:avLst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7" name="Text"/>
          <p:cNvSpPr txBox="1"/>
          <p:nvPr/>
        </p:nvSpPr>
        <p:spPr>
          <a:xfrm>
            <a:off x="7909560" y="5517862"/>
            <a:ext cx="3642055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lang="es-VE" sz="900" b="1" spc="12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es-VE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despacho queda ligado a su solicitante, equipo y horas de uso, con el nivel del tanque siempre a la vista.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anque de Gasoi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"/>
          <p:cNvSpPr/>
          <p:nvPr/>
        </p:nvSpPr>
        <p:spPr>
          <a:xfrm>
            <a:off x="457200" y="32918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02" name="Image" descr="Tanqu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9768"/>
            <a:ext cx="219456" cy="219456"/>
          </a:xfrm>
          <a:prstGeom prst="rect">
            <a:avLst/>
          </a:prstGeom>
        </p:spPr>
      </p:pic>
      <p:sp>
        <p:nvSpPr>
          <p:cNvPr id="103" name="Text"/>
          <p:cNvSpPr txBox="1"/>
          <p:nvPr/>
        </p:nvSpPr>
        <p:spPr>
          <a:xfrm>
            <a:off x="1005840" y="256032"/>
            <a:ext cx="8412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25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Combustible · Tanque de Gasoil</a:t>
            </a:r>
          </a:p>
        </p:txBody>
      </p:sp>
      <p:sp>
        <p:nvSpPr>
          <p:cNvPr id="104" name="Shape"/>
          <p:cNvSpPr/>
          <p:nvPr/>
        </p:nvSpPr>
        <p:spPr>
          <a:xfrm>
            <a:off x="9997135" y="36576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"/>
          <p:cNvSpPr txBox="1"/>
          <p:nvPr/>
        </p:nvSpPr>
        <p:spPr>
          <a:xfrm>
            <a:off x="9997135" y="36576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 01</a:t>
            </a:r>
          </a:p>
        </p:txBody>
      </p:sp>
      <p:sp>
        <p:nvSpPr>
          <p:cNvPr id="106" name="Line"/>
          <p:cNvSpPr/>
          <p:nvPr/>
        </p:nvSpPr>
        <p:spPr>
          <a:xfrm>
            <a:off x="457200" y="896112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"/>
          <p:cNvSpPr/>
          <p:nvPr/>
        </p:nvSpPr>
        <p:spPr>
          <a:xfrm>
            <a:off x="457200" y="1188720"/>
            <a:ext cx="5212080" cy="5074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Text"/>
          <p:cNvSpPr txBox="1"/>
          <p:nvPr/>
        </p:nvSpPr>
        <p:spPr>
          <a:xfrm>
            <a:off x="731520" y="1371600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TANQUES</a:t>
            </a:r>
          </a:p>
        </p:txBody>
      </p:sp>
      <p:sp>
        <p:nvSpPr>
          <p:cNvPr id="109" name="Shape"/>
          <p:cNvSpPr/>
          <p:nvPr/>
        </p:nvSpPr>
        <p:spPr>
          <a:xfrm>
            <a:off x="777240" y="1737360"/>
            <a:ext cx="4572000" cy="340139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10" name="Image" descr="Tarjeta del Tanque Principal de Gasoi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737360"/>
            <a:ext cx="4572000" cy="3401391"/>
          </a:xfrm>
          <a:prstGeom prst="rect">
            <a:avLst/>
          </a:prstGeom>
        </p:spPr>
      </p:pic>
      <p:sp>
        <p:nvSpPr>
          <p:cNvPr id="111" name="Shape"/>
          <p:cNvSpPr/>
          <p:nvPr/>
        </p:nvSpPr>
        <p:spPr>
          <a:xfrm>
            <a:off x="489270" y="1957390"/>
            <a:ext cx="310896" cy="310896"/>
          </a:xfrm>
          <a:prstGeom prst="ellipse">
            <a:avLst/>
          </a:prstGeom>
          <a:solidFill>
            <a:srgbClr val="D99B0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Text"/>
          <p:cNvSpPr txBox="1"/>
          <p:nvPr/>
        </p:nvSpPr>
        <p:spPr>
          <a:xfrm>
            <a:off x="489270" y="195739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113" name="Shape"/>
          <p:cNvSpPr/>
          <p:nvPr/>
        </p:nvSpPr>
        <p:spPr>
          <a:xfrm>
            <a:off x="489270" y="3238434"/>
            <a:ext cx="310896" cy="310896"/>
          </a:xfrm>
          <a:prstGeom prst="ellipse">
            <a:avLst/>
          </a:prstGeom>
          <a:solidFill>
            <a:srgbClr val="D99B0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Text"/>
          <p:cNvSpPr txBox="1"/>
          <p:nvPr/>
        </p:nvSpPr>
        <p:spPr>
          <a:xfrm>
            <a:off x="489270" y="3238434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115" name="Shape"/>
          <p:cNvSpPr/>
          <p:nvPr/>
        </p:nvSpPr>
        <p:spPr>
          <a:xfrm>
            <a:off x="5348401" y="2023651"/>
            <a:ext cx="310896" cy="310896"/>
          </a:xfrm>
          <a:prstGeom prst="ellipse">
            <a:avLst/>
          </a:prstGeom>
          <a:solidFill>
            <a:srgbClr val="D99B0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Text"/>
          <p:cNvSpPr txBox="1"/>
          <p:nvPr/>
        </p:nvSpPr>
        <p:spPr>
          <a:xfrm>
            <a:off x="5348401" y="2023651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117" name="Shape"/>
          <p:cNvSpPr/>
          <p:nvPr/>
        </p:nvSpPr>
        <p:spPr>
          <a:xfrm>
            <a:off x="489270" y="4475303"/>
            <a:ext cx="310896" cy="310896"/>
          </a:xfrm>
          <a:prstGeom prst="ellipse">
            <a:avLst/>
          </a:prstGeom>
          <a:solidFill>
            <a:srgbClr val="D99B0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Text"/>
          <p:cNvSpPr txBox="1"/>
          <p:nvPr/>
        </p:nvSpPr>
        <p:spPr>
          <a:xfrm>
            <a:off x="489270" y="4475303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</a:p>
        </p:txBody>
      </p:sp>
      <p:pic>
        <p:nvPicPr>
          <p:cNvPr id="119" name="Image" descr="Botón Nuevo Tanqu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413071"/>
            <a:ext cx="1554480" cy="391064"/>
          </a:xfrm>
          <a:prstGeom prst="rect">
            <a:avLst/>
          </a:prstGeom>
        </p:spPr>
      </p:pic>
      <p:sp>
        <p:nvSpPr>
          <p:cNvPr id="120" name="Shape"/>
          <p:cNvSpPr/>
          <p:nvPr/>
        </p:nvSpPr>
        <p:spPr>
          <a:xfrm>
            <a:off x="621792" y="5303343"/>
            <a:ext cx="310896" cy="310896"/>
          </a:xfrm>
          <a:prstGeom prst="ellipse">
            <a:avLst/>
          </a:prstGeom>
          <a:solidFill>
            <a:srgbClr val="D99B0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Text"/>
          <p:cNvSpPr txBox="1"/>
          <p:nvPr/>
        </p:nvSpPr>
        <p:spPr>
          <a:xfrm>
            <a:off x="621792" y="5303343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</a:p>
        </p:txBody>
      </p:sp>
      <p:sp>
        <p:nvSpPr>
          <p:cNvPr id="122" name="Text"/>
          <p:cNvSpPr txBox="1"/>
          <p:nvPr/>
        </p:nvSpPr>
        <p:spPr>
          <a:xfrm>
            <a:off x="2514600" y="5413071"/>
            <a:ext cx="2834640" cy="391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i="1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pueden dar de alta más tanques.</a:t>
            </a:r>
          </a:p>
        </p:txBody>
      </p:sp>
      <p:sp>
        <p:nvSpPr>
          <p:cNvPr id="123" name="Text"/>
          <p:cNvSpPr txBox="1"/>
          <p:nvPr/>
        </p:nvSpPr>
        <p:spPr>
          <a:xfrm>
            <a:off x="6035040" y="1188720"/>
            <a:ext cx="5699455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FUNCIONA</a:t>
            </a:r>
          </a:p>
        </p:txBody>
      </p:sp>
      <p:sp>
        <p:nvSpPr>
          <p:cNvPr id="124" name="Shape"/>
          <p:cNvSpPr/>
          <p:nvPr/>
        </p:nvSpPr>
        <p:spPr>
          <a:xfrm>
            <a:off x="6035040" y="1508760"/>
            <a:ext cx="5699455" cy="67665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5" name="Shape"/>
          <p:cNvSpPr/>
          <p:nvPr/>
        </p:nvSpPr>
        <p:spPr>
          <a:xfrm>
            <a:off x="6199632" y="1664208"/>
            <a:ext cx="365760" cy="365760"/>
          </a:xfrm>
          <a:prstGeom prst="ellipse">
            <a:avLst/>
          </a:prstGeom>
          <a:solidFill>
            <a:srgbClr val="D99B0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6" name="Text"/>
          <p:cNvSpPr txBox="1"/>
          <p:nvPr/>
        </p:nvSpPr>
        <p:spPr>
          <a:xfrm>
            <a:off x="6199632" y="1664208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127" name="Text"/>
          <p:cNvSpPr txBox="1"/>
          <p:nvPr/>
        </p:nvSpPr>
        <p:spPr>
          <a:xfrm>
            <a:off x="6748272" y="1563624"/>
            <a:ext cx="4830775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Ficha de cada tanque</a:t>
            </a:r>
          </a:p>
          <a:p>
            <a:pPr marL="0" indent="0" algn="l">
              <a:buNone/>
            </a:pPr>
            <a:r>
              <a:rPr lang="es-VE" sz="10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Código, nombre, tipo de combustible y estado (Activo).</a:t>
            </a:r>
          </a:p>
        </p:txBody>
      </p:sp>
      <p:sp>
        <p:nvSpPr>
          <p:cNvPr id="128" name="Shape"/>
          <p:cNvSpPr/>
          <p:nvPr/>
        </p:nvSpPr>
        <p:spPr>
          <a:xfrm>
            <a:off x="6035040" y="2258568"/>
            <a:ext cx="5699455" cy="67665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9" name="Shape"/>
          <p:cNvSpPr/>
          <p:nvPr/>
        </p:nvSpPr>
        <p:spPr>
          <a:xfrm>
            <a:off x="6199632" y="2414016"/>
            <a:ext cx="365760" cy="365760"/>
          </a:xfrm>
          <a:prstGeom prst="ellipse">
            <a:avLst/>
          </a:prstGeom>
          <a:solidFill>
            <a:srgbClr val="D99B0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0" name="Text"/>
          <p:cNvSpPr txBox="1"/>
          <p:nvPr/>
        </p:nvSpPr>
        <p:spPr>
          <a:xfrm>
            <a:off x="6199632" y="2414016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131" name="Text"/>
          <p:cNvSpPr txBox="1"/>
          <p:nvPr/>
        </p:nvSpPr>
        <p:spPr>
          <a:xfrm>
            <a:off x="6748272" y="2313432"/>
            <a:ext cx="4830775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Nivel a la vista</a:t>
            </a:r>
          </a:p>
          <a:p>
            <a:pPr marL="0" indent="0" algn="l">
              <a:buNone/>
            </a:pPr>
            <a:r>
              <a:rPr lang="es-VE" sz="10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Litros disponibles sobre la capacidad total y porcentaje de llenado.</a:t>
            </a:r>
          </a:p>
        </p:txBody>
      </p:sp>
      <p:sp>
        <p:nvSpPr>
          <p:cNvPr id="132" name="Shape"/>
          <p:cNvSpPr/>
          <p:nvPr/>
        </p:nvSpPr>
        <p:spPr>
          <a:xfrm>
            <a:off x="6035040" y="3008376"/>
            <a:ext cx="5699455" cy="67665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3" name="Shape"/>
          <p:cNvSpPr/>
          <p:nvPr/>
        </p:nvSpPr>
        <p:spPr>
          <a:xfrm>
            <a:off x="6199632" y="3163824"/>
            <a:ext cx="365760" cy="365760"/>
          </a:xfrm>
          <a:prstGeom prst="ellipse">
            <a:avLst/>
          </a:prstGeom>
          <a:solidFill>
            <a:srgbClr val="D99B0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4" name="Text"/>
          <p:cNvSpPr txBox="1"/>
          <p:nvPr/>
        </p:nvSpPr>
        <p:spPr>
          <a:xfrm>
            <a:off x="6199632" y="3163824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135" name="Text"/>
          <p:cNvSpPr txBox="1"/>
          <p:nvPr/>
        </p:nvSpPr>
        <p:spPr>
          <a:xfrm>
            <a:off x="6748272" y="3063240"/>
            <a:ext cx="4830775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Historial y control</a:t>
            </a:r>
          </a:p>
          <a:p>
            <a:pPr marL="0" indent="0" algn="l">
              <a:buNone/>
            </a:pPr>
            <a:r>
              <a:rPr lang="es-VE" sz="10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de movimientos del tanque, edición de sus datos y baja.</a:t>
            </a:r>
          </a:p>
        </p:txBody>
      </p:sp>
      <p:sp>
        <p:nvSpPr>
          <p:cNvPr id="136" name="Shape"/>
          <p:cNvSpPr/>
          <p:nvPr/>
        </p:nvSpPr>
        <p:spPr>
          <a:xfrm>
            <a:off x="6035040" y="3758184"/>
            <a:ext cx="5699455" cy="67665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7" name="Shape"/>
          <p:cNvSpPr/>
          <p:nvPr/>
        </p:nvSpPr>
        <p:spPr>
          <a:xfrm>
            <a:off x="6199632" y="3913632"/>
            <a:ext cx="365760" cy="365760"/>
          </a:xfrm>
          <a:prstGeom prst="ellipse">
            <a:avLst/>
          </a:prstGeom>
          <a:solidFill>
            <a:srgbClr val="D99B0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8" name="Text"/>
          <p:cNvSpPr txBox="1"/>
          <p:nvPr/>
        </p:nvSpPr>
        <p:spPr>
          <a:xfrm>
            <a:off x="6199632" y="3913632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</a:p>
        </p:txBody>
      </p:sp>
      <p:sp>
        <p:nvSpPr>
          <p:cNvPr id="139" name="Text"/>
          <p:cNvSpPr txBox="1"/>
          <p:nvPr/>
        </p:nvSpPr>
        <p:spPr>
          <a:xfrm>
            <a:off x="6748272" y="3813048"/>
            <a:ext cx="4830775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Registrar movimiento</a:t>
            </a:r>
          </a:p>
          <a:p>
            <a:pPr marL="0" indent="0" algn="l">
              <a:buNone/>
            </a:pPr>
            <a:r>
              <a:rPr lang="es-VE" sz="10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movimiento de gasoil se registra para mantener el nivel al día.</a:t>
            </a:r>
          </a:p>
        </p:txBody>
      </p:sp>
      <p:sp>
        <p:nvSpPr>
          <p:cNvPr id="140" name="Shape"/>
          <p:cNvSpPr/>
          <p:nvPr/>
        </p:nvSpPr>
        <p:spPr>
          <a:xfrm>
            <a:off x="6035040" y="4507992"/>
            <a:ext cx="5699455" cy="67665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1" name="Shape"/>
          <p:cNvSpPr/>
          <p:nvPr/>
        </p:nvSpPr>
        <p:spPr>
          <a:xfrm>
            <a:off x="6199632" y="4663440"/>
            <a:ext cx="365760" cy="365760"/>
          </a:xfrm>
          <a:prstGeom prst="ellipse">
            <a:avLst/>
          </a:prstGeom>
          <a:solidFill>
            <a:srgbClr val="D99B0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2" name="Text"/>
          <p:cNvSpPr txBox="1"/>
          <p:nvPr/>
        </p:nvSpPr>
        <p:spPr>
          <a:xfrm>
            <a:off x="6199632" y="466344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</a:p>
        </p:txBody>
      </p:sp>
      <p:sp>
        <p:nvSpPr>
          <p:cNvPr id="143" name="Text"/>
          <p:cNvSpPr txBox="1"/>
          <p:nvPr/>
        </p:nvSpPr>
        <p:spPr>
          <a:xfrm>
            <a:off x="6748272" y="4562856"/>
            <a:ext cx="4830775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Nuevo Tanque</a:t>
            </a:r>
          </a:p>
          <a:p>
            <a:pPr marL="0" indent="0" algn="l">
              <a:buNone/>
            </a:pPr>
            <a:r>
              <a:rPr lang="es-VE" sz="10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operación puede sumar tanques sin cambiar el sistema.</a:t>
            </a:r>
          </a:p>
        </p:txBody>
      </p:sp>
      <p:sp>
        <p:nvSpPr>
          <p:cNvPr id="144" name="Shape"/>
          <p:cNvSpPr/>
          <p:nvPr/>
        </p:nvSpPr>
        <p:spPr>
          <a:xfrm>
            <a:off x="6035040" y="5385816"/>
            <a:ext cx="5699455" cy="877824"/>
          </a:xfrm>
          <a:prstGeom prst="roundRect">
            <a:avLst>
              <a:gd name="adj" fmla="val 7000"/>
            </a:avLst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5" name="Text"/>
          <p:cNvSpPr txBox="1"/>
          <p:nvPr/>
        </p:nvSpPr>
        <p:spPr>
          <a:xfrm>
            <a:off x="6263640" y="5477256"/>
            <a:ext cx="5242255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lang="es-VE" sz="900" b="1" spc="12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→ AHORA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es-VE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nivel del tanque ya no depende de mediciones y cálculos a mano: se ve en el sistema y se conecta con las cargas de Flota Pesada.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ntrol de Hor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"/>
          <p:cNvSpPr/>
          <p:nvPr/>
        </p:nvSpPr>
        <p:spPr>
          <a:xfrm>
            <a:off x="457200" y="32918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02" name="Image" descr="Control de Hora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9768"/>
            <a:ext cx="219456" cy="219456"/>
          </a:xfrm>
          <a:prstGeom prst="rect">
            <a:avLst/>
          </a:prstGeom>
        </p:spPr>
      </p:pic>
      <p:sp>
        <p:nvSpPr>
          <p:cNvPr id="103" name="Text"/>
          <p:cNvSpPr txBox="1"/>
          <p:nvPr/>
        </p:nvSpPr>
        <p:spPr>
          <a:xfrm>
            <a:off x="1005840" y="256032"/>
            <a:ext cx="8412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25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 de Horas</a:t>
            </a:r>
          </a:p>
        </p:txBody>
      </p:sp>
      <p:sp>
        <p:nvSpPr>
          <p:cNvPr id="104" name="Shape"/>
          <p:cNvSpPr/>
          <p:nvPr/>
        </p:nvSpPr>
        <p:spPr>
          <a:xfrm>
            <a:off x="9997135" y="36576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"/>
          <p:cNvSpPr txBox="1"/>
          <p:nvPr/>
        </p:nvSpPr>
        <p:spPr>
          <a:xfrm>
            <a:off x="9997135" y="36576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 02</a:t>
            </a:r>
          </a:p>
        </p:txBody>
      </p:sp>
      <p:sp>
        <p:nvSpPr>
          <p:cNvPr id="106" name="Line"/>
          <p:cNvSpPr/>
          <p:nvPr/>
        </p:nvSpPr>
        <p:spPr>
          <a:xfrm>
            <a:off x="457200" y="896112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"/>
          <p:cNvSpPr/>
          <p:nvPr/>
        </p:nvSpPr>
        <p:spPr>
          <a:xfrm>
            <a:off x="457200" y="1143000"/>
            <a:ext cx="7589520" cy="371392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8" name="Image" descr="Filtros de empresa, proyecto y fech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16152"/>
            <a:ext cx="7443216" cy="535818"/>
          </a:xfrm>
          <a:prstGeom prst="rect">
            <a:avLst/>
          </a:prstGeom>
        </p:spPr>
      </p:pic>
      <p:sp>
        <p:nvSpPr>
          <p:cNvPr id="109" name="Line"/>
          <p:cNvSpPr/>
          <p:nvPr/>
        </p:nvSpPr>
        <p:spPr>
          <a:xfrm>
            <a:off x="530352" y="1788546"/>
            <a:ext cx="7443216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110" name="Image" descr="Tabla de horas por equip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" y="1825122"/>
            <a:ext cx="7443216" cy="2958649"/>
          </a:xfrm>
          <a:prstGeom prst="rect">
            <a:avLst/>
          </a:prstGeom>
        </p:spPr>
      </p:pic>
      <p:sp>
        <p:nvSpPr>
          <p:cNvPr id="111" name="Text"/>
          <p:cNvSpPr txBox="1"/>
          <p:nvPr/>
        </p:nvSpPr>
        <p:spPr>
          <a:xfrm>
            <a:off x="530352" y="4948364"/>
            <a:ext cx="758952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0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DIARIO</a:t>
            </a:r>
            <a:r>
              <a:rPr lang="es-VE" sz="1050" spc="10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ejemplo: Chevron · Izamiento, 4 equipos</a:t>
            </a:r>
          </a:p>
        </p:txBody>
      </p:sp>
      <p:sp>
        <p:nvSpPr>
          <p:cNvPr id="112" name="Shape"/>
          <p:cNvSpPr/>
          <p:nvPr/>
        </p:nvSpPr>
        <p:spPr>
          <a:xfrm>
            <a:off x="457200" y="5314124"/>
            <a:ext cx="2438400" cy="104095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"/>
          <p:cNvSpPr/>
          <p:nvPr/>
        </p:nvSpPr>
        <p:spPr>
          <a:xfrm>
            <a:off x="594360" y="5642578"/>
            <a:ext cx="384048" cy="384048"/>
          </a:xfrm>
          <a:prstGeom prst="ellipse">
            <a:avLst/>
          </a:prstGeom>
          <a:solidFill>
            <a:srgbClr val="D99B0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4" name="Text"/>
          <p:cNvSpPr txBox="1"/>
          <p:nvPr/>
        </p:nvSpPr>
        <p:spPr>
          <a:xfrm>
            <a:off x="594360" y="564257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115" name="Text"/>
          <p:cNvSpPr txBox="1"/>
          <p:nvPr/>
        </p:nvSpPr>
        <p:spPr>
          <a:xfrm>
            <a:off x="1097280" y="5387276"/>
            <a:ext cx="1706880" cy="8946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Empresa y proyecto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elige el cliente, el proyecto y la fecha.</a:t>
            </a:r>
          </a:p>
        </p:txBody>
      </p:sp>
      <p:sp>
        <p:nvSpPr>
          <p:cNvPr id="116" name="Shape"/>
          <p:cNvSpPr/>
          <p:nvPr/>
        </p:nvSpPr>
        <p:spPr>
          <a:xfrm>
            <a:off x="3032760" y="5314124"/>
            <a:ext cx="2438400" cy="104095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7" name="Shape"/>
          <p:cNvSpPr/>
          <p:nvPr/>
        </p:nvSpPr>
        <p:spPr>
          <a:xfrm>
            <a:off x="3169920" y="5642578"/>
            <a:ext cx="384048" cy="384048"/>
          </a:xfrm>
          <a:prstGeom prst="ellipse">
            <a:avLst/>
          </a:prstGeom>
          <a:solidFill>
            <a:srgbClr val="D99B0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8" name="Text"/>
          <p:cNvSpPr txBox="1"/>
          <p:nvPr/>
        </p:nvSpPr>
        <p:spPr>
          <a:xfrm>
            <a:off x="3169920" y="564257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119" name="Text"/>
          <p:cNvSpPr txBox="1"/>
          <p:nvPr/>
        </p:nvSpPr>
        <p:spPr>
          <a:xfrm>
            <a:off x="3672840" y="5387276"/>
            <a:ext cx="1706880" cy="8946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Equipos del día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marcan los equipos que trabajan esa jornada.</a:t>
            </a:r>
          </a:p>
        </p:txBody>
      </p:sp>
      <p:sp>
        <p:nvSpPr>
          <p:cNvPr id="120" name="Shape"/>
          <p:cNvSpPr/>
          <p:nvPr/>
        </p:nvSpPr>
        <p:spPr>
          <a:xfrm>
            <a:off x="5608320" y="5314124"/>
            <a:ext cx="2438400" cy="104095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Shape"/>
          <p:cNvSpPr/>
          <p:nvPr/>
        </p:nvSpPr>
        <p:spPr>
          <a:xfrm>
            <a:off x="5745480" y="5642578"/>
            <a:ext cx="384048" cy="384048"/>
          </a:xfrm>
          <a:prstGeom prst="ellipse">
            <a:avLst/>
          </a:prstGeom>
          <a:solidFill>
            <a:srgbClr val="D99B0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2" name="Text"/>
          <p:cNvSpPr txBox="1"/>
          <p:nvPr/>
        </p:nvSpPr>
        <p:spPr>
          <a:xfrm>
            <a:off x="5745480" y="564257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123" name="Text"/>
          <p:cNvSpPr txBox="1"/>
          <p:nvPr/>
        </p:nvSpPr>
        <p:spPr>
          <a:xfrm>
            <a:off x="6248400" y="5387276"/>
            <a:ext cx="1706880" cy="8946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Carga de horas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Totales, acumulados y % se calculan solos.</a:t>
            </a:r>
          </a:p>
        </p:txBody>
      </p:sp>
      <p:sp>
        <p:nvSpPr>
          <p:cNvPr id="124" name="Text"/>
          <p:cNvSpPr txBox="1"/>
          <p:nvPr/>
        </p:nvSpPr>
        <p:spPr>
          <a:xfrm>
            <a:off x="8366760" y="1143000"/>
            <a:ext cx="336773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REGISTRA Y CALCULA</a:t>
            </a:r>
          </a:p>
        </p:txBody>
      </p:sp>
      <p:sp>
        <p:nvSpPr>
          <p:cNvPr id="125" name="Text"/>
          <p:cNvSpPr txBox="1"/>
          <p:nvPr/>
        </p:nvSpPr>
        <p:spPr>
          <a:xfrm>
            <a:off x="8366760" y="1472184"/>
            <a:ext cx="3367735" cy="29260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equipo y por día: horas ejecutadas, disponibles y stand-by, con nota opcional.</a:t>
            </a: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Acumulado del mes por equipo: horas de cobro completo y de stand-by.</a:t>
            </a: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Porcentaje de stand-by y de ejecución + disponibilidad.</a:t>
            </a: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Totales del día y del mes para todo el proyecto, listos para facturar y reportar.</a:t>
            </a:r>
          </a:p>
        </p:txBody>
      </p:sp>
      <p:sp>
        <p:nvSpPr>
          <p:cNvPr id="126" name="Text"/>
          <p:cNvSpPr txBox="1"/>
          <p:nvPr/>
        </p:nvSpPr>
        <p:spPr>
          <a:xfrm>
            <a:off x="8366760" y="3931920"/>
            <a:ext cx="3367735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SIRVE PARA</a:t>
            </a:r>
          </a:p>
        </p:txBody>
      </p:sp>
      <p:sp>
        <p:nvSpPr>
          <p:cNvPr id="127" name="Shape"/>
          <p:cNvSpPr/>
          <p:nvPr/>
        </p:nvSpPr>
        <p:spPr>
          <a:xfrm>
            <a:off x="8366760" y="4251960"/>
            <a:ext cx="886968" cy="310896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 w="9525">
            <a:solidFill>
              <a:srgbClr val="8BC79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8" name="Text"/>
          <p:cNvSpPr txBox="1"/>
          <p:nvPr/>
        </p:nvSpPr>
        <p:spPr>
          <a:xfrm>
            <a:off x="8366760" y="4251960"/>
            <a:ext cx="886968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 dirty="0">
                <a:solidFill>
                  <a:srgbClr val="1E7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Izamiento</a:t>
            </a:r>
          </a:p>
        </p:txBody>
      </p:sp>
      <p:sp>
        <p:nvSpPr>
          <p:cNvPr id="129" name="Shape"/>
          <p:cNvSpPr/>
          <p:nvPr/>
        </p:nvSpPr>
        <p:spPr>
          <a:xfrm>
            <a:off x="9345168" y="4251960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EDF1F5"/>
          </a:solidFill>
          <a:ln w="9525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0" name="Text"/>
          <p:cNvSpPr txBox="1"/>
          <p:nvPr/>
        </p:nvSpPr>
        <p:spPr>
          <a:xfrm>
            <a:off x="9345168" y="4251960"/>
            <a:ext cx="132588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Otros proyectos</a:t>
            </a:r>
          </a:p>
        </p:txBody>
      </p:sp>
      <p:sp>
        <p:nvSpPr>
          <p:cNvPr id="131" name="Shape"/>
          <p:cNvSpPr/>
          <p:nvPr/>
        </p:nvSpPr>
        <p:spPr>
          <a:xfrm>
            <a:off x="10762488" y="4251960"/>
            <a:ext cx="740664" cy="310896"/>
          </a:xfrm>
          <a:prstGeom prst="roundRect">
            <a:avLst>
              <a:gd name="adj" fmla="val 50000"/>
            </a:avLst>
          </a:prstGeom>
          <a:solidFill>
            <a:srgbClr val="FBF3DD"/>
          </a:solidFill>
          <a:ln w="9525">
            <a:solidFill>
              <a:srgbClr val="E9C46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2" name="Text"/>
          <p:cNvSpPr txBox="1"/>
          <p:nvPr/>
        </p:nvSpPr>
        <p:spPr>
          <a:xfrm>
            <a:off x="10762488" y="4251960"/>
            <a:ext cx="740664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 dirty="0">
                <a:solidFill>
                  <a:srgbClr val="9A69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Futuros</a:t>
            </a:r>
          </a:p>
        </p:txBody>
      </p:sp>
      <p:sp>
        <p:nvSpPr>
          <p:cNvPr id="133" name="Shape"/>
          <p:cNvSpPr/>
          <p:nvPr/>
        </p:nvSpPr>
        <p:spPr>
          <a:xfrm>
            <a:off x="8366760" y="5314124"/>
            <a:ext cx="3367735" cy="1040956"/>
          </a:xfrm>
          <a:prstGeom prst="roundRect">
            <a:avLst>
              <a:gd name="adj" fmla="val 7000"/>
            </a:avLst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4" name="Text"/>
          <p:cNvSpPr txBox="1"/>
          <p:nvPr/>
        </p:nvSpPr>
        <p:spPr>
          <a:xfrm>
            <a:off x="8567928" y="5405564"/>
            <a:ext cx="2965399" cy="85807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lang="es-VE" sz="900" b="1" spc="12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MÓDULO PARA TODOS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es-VE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se usa en Izamiento; cualquier proyecto actual o nuevo se agrega eligiendo empresa y proyecto.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portes Combusti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"/>
          <p:cNvSpPr/>
          <p:nvPr/>
        </p:nvSpPr>
        <p:spPr>
          <a:xfrm>
            <a:off x="457200" y="32918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02" name="Image" descr="Report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9768"/>
            <a:ext cx="219456" cy="219456"/>
          </a:xfrm>
          <a:prstGeom prst="rect">
            <a:avLst/>
          </a:prstGeom>
        </p:spPr>
      </p:pic>
      <p:sp>
        <p:nvSpPr>
          <p:cNvPr id="103" name="Text"/>
          <p:cNvSpPr txBox="1"/>
          <p:nvPr/>
        </p:nvSpPr>
        <p:spPr>
          <a:xfrm>
            <a:off x="1005840" y="256032"/>
            <a:ext cx="8412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25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Reportes · Combustible</a:t>
            </a:r>
          </a:p>
        </p:txBody>
      </p:sp>
      <p:sp>
        <p:nvSpPr>
          <p:cNvPr id="104" name="Shape"/>
          <p:cNvSpPr/>
          <p:nvPr/>
        </p:nvSpPr>
        <p:spPr>
          <a:xfrm>
            <a:off x="9997135" y="36576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"/>
          <p:cNvSpPr txBox="1"/>
          <p:nvPr/>
        </p:nvSpPr>
        <p:spPr>
          <a:xfrm>
            <a:off x="9997135" y="36576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 03</a:t>
            </a:r>
          </a:p>
        </p:txBody>
      </p:sp>
      <p:sp>
        <p:nvSpPr>
          <p:cNvPr id="106" name="Line"/>
          <p:cNvSpPr/>
          <p:nvPr/>
        </p:nvSpPr>
        <p:spPr>
          <a:xfrm>
            <a:off x="457200" y="896112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"/>
          <p:cNvSpPr/>
          <p:nvPr/>
        </p:nvSpPr>
        <p:spPr>
          <a:xfrm>
            <a:off x="457200" y="1143000"/>
            <a:ext cx="6903720" cy="445743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8" name="Image" descr="Reporte de combustib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16152"/>
            <a:ext cx="6757416" cy="4311127"/>
          </a:xfrm>
          <a:prstGeom prst="rect">
            <a:avLst/>
          </a:prstGeom>
        </p:spPr>
      </p:pic>
      <p:sp>
        <p:nvSpPr>
          <p:cNvPr id="109" name="Text"/>
          <p:cNvSpPr txBox="1"/>
          <p:nvPr/>
        </p:nvSpPr>
        <p:spPr>
          <a:xfrm>
            <a:off x="530352" y="5691871"/>
            <a:ext cx="690372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0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DE COMBUSTIBLE</a:t>
            </a:r>
            <a:r>
              <a:rPr lang="es-VE" sz="1050" spc="10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últimos 30 días, ambas flotas</a:t>
            </a:r>
          </a:p>
        </p:txBody>
      </p:sp>
      <p:sp>
        <p:nvSpPr>
          <p:cNvPr id="110" name="Text"/>
          <p:cNvSpPr txBox="1"/>
          <p:nvPr/>
        </p:nvSpPr>
        <p:spPr>
          <a:xfrm>
            <a:off x="7726680" y="1143000"/>
            <a:ext cx="400781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MUESTRA</a:t>
            </a:r>
          </a:p>
        </p:txBody>
      </p:sp>
      <p:sp>
        <p:nvSpPr>
          <p:cNvPr id="111" name="Text"/>
          <p:cNvSpPr txBox="1"/>
          <p:nvPr/>
        </p:nvSpPr>
        <p:spPr>
          <a:xfrm>
            <a:off x="7726680" y="1472184"/>
            <a:ext cx="4007815" cy="21945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8000"/>
              </a:lnSpc>
              <a:spcAft>
                <a:spcPts val="6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Rango de fechas a elección (por ejemplo, últimos 30 días).</a:t>
            </a:r>
          </a:p>
          <a:p>
            <a:pPr marL="177800" indent="-177800" algn="l">
              <a:lnSpc>
                <a:spcPct val="108000"/>
              </a:lnSpc>
              <a:spcAft>
                <a:spcPts val="6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Combustible por flota: Liviana y Pesada en la misma escala de litros.</a:t>
            </a:r>
          </a:p>
          <a:p>
            <a:pPr marL="177800" indent="-177800" algn="l">
              <a:lnSpc>
                <a:spcPct val="108000"/>
              </a:lnSpc>
              <a:spcAft>
                <a:spcPts val="6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 en USD por vehículo de Flota Liviana.</a:t>
            </a:r>
          </a:p>
          <a:p>
            <a:pPr marL="177800" indent="-177800" algn="l">
              <a:lnSpc>
                <a:spcPct val="108000"/>
              </a:lnSpc>
              <a:spcAft>
                <a:spcPts val="6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por unidad: litros o galones, gasto y número de llenados.</a:t>
            </a:r>
          </a:p>
        </p:txBody>
      </p:sp>
      <p:sp>
        <p:nvSpPr>
          <p:cNvPr id="112" name="Text"/>
          <p:cNvSpPr txBox="1"/>
          <p:nvPr/>
        </p:nvSpPr>
        <p:spPr>
          <a:xfrm>
            <a:off x="7726680" y="2944368"/>
            <a:ext cx="400781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CLAVES DE LECTURA</a:t>
            </a:r>
          </a:p>
        </p:txBody>
      </p:sp>
      <p:sp>
        <p:nvSpPr>
          <p:cNvPr id="113" name="Shape"/>
          <p:cNvSpPr/>
          <p:nvPr/>
        </p:nvSpPr>
        <p:spPr>
          <a:xfrm>
            <a:off x="7726680" y="3264408"/>
            <a:ext cx="4007815" cy="731520"/>
          </a:xfrm>
          <a:prstGeom prst="roundRect">
            <a:avLst>
              <a:gd name="adj" fmla="val 8000"/>
            </a:avLst>
          </a:prstGeom>
          <a:solidFill>
            <a:srgbClr val="F7FAFC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"/>
          <p:cNvSpPr/>
          <p:nvPr/>
        </p:nvSpPr>
        <p:spPr>
          <a:xfrm>
            <a:off x="7863840" y="3401568"/>
            <a:ext cx="292608" cy="292608"/>
          </a:xfrm>
          <a:prstGeom prst="ellipse">
            <a:avLst/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5" name="Image" descr="Not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8704" y="3456432"/>
            <a:ext cx="182880" cy="182880"/>
          </a:xfrm>
          <a:prstGeom prst="rect">
            <a:avLst/>
          </a:prstGeom>
        </p:spPr>
      </p:pic>
      <p:sp>
        <p:nvSpPr>
          <p:cNvPr id="116" name="Text"/>
          <p:cNvSpPr txBox="1"/>
          <p:nvPr/>
        </p:nvSpPr>
        <p:spPr>
          <a:xfrm>
            <a:off x="8275320" y="3355848"/>
            <a:ext cx="332201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15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galones a litros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9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Flota Pesada se mide en galones y se convierte (1 gal = 3,78541 L) para compararla con la Liviana.</a:t>
            </a:r>
          </a:p>
        </p:txBody>
      </p:sp>
      <p:sp>
        <p:nvSpPr>
          <p:cNvPr id="117" name="Shape"/>
          <p:cNvSpPr/>
          <p:nvPr/>
        </p:nvSpPr>
        <p:spPr>
          <a:xfrm>
            <a:off x="7726680" y="4069080"/>
            <a:ext cx="4007815" cy="731520"/>
          </a:xfrm>
          <a:prstGeom prst="roundRect">
            <a:avLst>
              <a:gd name="adj" fmla="val 8000"/>
            </a:avLst>
          </a:prstGeom>
          <a:solidFill>
            <a:srgbClr val="F7FAFC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Shape"/>
          <p:cNvSpPr/>
          <p:nvPr/>
        </p:nvSpPr>
        <p:spPr>
          <a:xfrm>
            <a:off x="7863840" y="4206240"/>
            <a:ext cx="292608" cy="292608"/>
          </a:xfrm>
          <a:prstGeom prst="ellipse">
            <a:avLst/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9" name="Image" descr="Not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8704" y="4261104"/>
            <a:ext cx="182880" cy="182880"/>
          </a:xfrm>
          <a:prstGeom prst="rect">
            <a:avLst/>
          </a:prstGeom>
        </p:spPr>
      </p:pic>
      <p:sp>
        <p:nvSpPr>
          <p:cNvPr id="120" name="Text"/>
          <p:cNvSpPr txBox="1"/>
          <p:nvPr/>
        </p:nvSpPr>
        <p:spPr>
          <a:xfrm>
            <a:off x="8275320" y="4160520"/>
            <a:ext cx="332201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15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Gasto solo en Liviana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9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Liviana compra por transacción en estación; la Pesada descuenta del tanque propio, sin costo por carga.</a:t>
            </a:r>
          </a:p>
        </p:txBody>
      </p:sp>
      <p:sp>
        <p:nvSpPr>
          <p:cNvPr id="121" name="Shape"/>
          <p:cNvSpPr/>
          <p:nvPr/>
        </p:nvSpPr>
        <p:spPr>
          <a:xfrm>
            <a:off x="7726680" y="4937760"/>
            <a:ext cx="4007815" cy="991855"/>
          </a:xfrm>
          <a:prstGeom prst="roundRect">
            <a:avLst>
              <a:gd name="adj" fmla="val 7000"/>
            </a:avLst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2" name="Text"/>
          <p:cNvSpPr txBox="1"/>
          <p:nvPr/>
        </p:nvSpPr>
        <p:spPr>
          <a:xfrm>
            <a:off x="7927848" y="5010912"/>
            <a:ext cx="3605479" cy="8455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s-VE" sz="900" b="1" spc="12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GERENCIA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Consumo y gasto de ambas flotas en una sola vista, sin armar reportes a mano.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portes Hora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"/>
          <p:cNvSpPr/>
          <p:nvPr/>
        </p:nvSpPr>
        <p:spPr>
          <a:xfrm>
            <a:off x="457200" y="32918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02" name="Image" descr="Report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9768"/>
            <a:ext cx="219456" cy="219456"/>
          </a:xfrm>
          <a:prstGeom prst="rect">
            <a:avLst/>
          </a:prstGeom>
        </p:spPr>
      </p:pic>
      <p:sp>
        <p:nvSpPr>
          <p:cNvPr id="103" name="Text"/>
          <p:cNvSpPr txBox="1"/>
          <p:nvPr/>
        </p:nvSpPr>
        <p:spPr>
          <a:xfrm>
            <a:off x="1005840" y="256032"/>
            <a:ext cx="8412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25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Reportes · Control de Horas</a:t>
            </a:r>
          </a:p>
        </p:txBody>
      </p:sp>
      <p:sp>
        <p:nvSpPr>
          <p:cNvPr id="104" name="Shape"/>
          <p:cNvSpPr/>
          <p:nvPr/>
        </p:nvSpPr>
        <p:spPr>
          <a:xfrm>
            <a:off x="9997135" y="36576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"/>
          <p:cNvSpPr txBox="1"/>
          <p:nvPr/>
        </p:nvSpPr>
        <p:spPr>
          <a:xfrm>
            <a:off x="9997135" y="36576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 03</a:t>
            </a:r>
          </a:p>
        </p:txBody>
      </p:sp>
      <p:sp>
        <p:nvSpPr>
          <p:cNvPr id="106" name="Line"/>
          <p:cNvSpPr/>
          <p:nvPr/>
        </p:nvSpPr>
        <p:spPr>
          <a:xfrm>
            <a:off x="457200" y="896112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"/>
          <p:cNvSpPr/>
          <p:nvPr/>
        </p:nvSpPr>
        <p:spPr>
          <a:xfrm>
            <a:off x="457200" y="1143000"/>
            <a:ext cx="7315200" cy="422219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8" name="Image" descr="Reporte de Control de Hor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216152"/>
            <a:ext cx="7168896" cy="4075887"/>
          </a:xfrm>
          <a:prstGeom prst="rect">
            <a:avLst/>
          </a:prstGeom>
        </p:spPr>
      </p:pic>
      <p:sp>
        <p:nvSpPr>
          <p:cNvPr id="109" name="Text"/>
          <p:cNvSpPr txBox="1"/>
          <p:nvPr/>
        </p:nvSpPr>
        <p:spPr>
          <a:xfrm>
            <a:off x="530352" y="5456631"/>
            <a:ext cx="73152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0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DE HORAS</a:t>
            </a:r>
            <a:r>
              <a:rPr lang="es-VE" sz="1050" spc="10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ejemplo: Izamiento (Chevron), 4 equipos</a:t>
            </a:r>
          </a:p>
        </p:txBody>
      </p:sp>
      <p:sp>
        <p:nvSpPr>
          <p:cNvPr id="110" name="Text"/>
          <p:cNvSpPr txBox="1"/>
          <p:nvPr/>
        </p:nvSpPr>
        <p:spPr>
          <a:xfrm>
            <a:off x="8092440" y="1143000"/>
            <a:ext cx="364205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MUESTRA</a:t>
            </a:r>
          </a:p>
        </p:txBody>
      </p:sp>
      <p:sp>
        <p:nvSpPr>
          <p:cNvPr id="111" name="Text"/>
          <p:cNvSpPr txBox="1"/>
          <p:nvPr/>
        </p:nvSpPr>
        <p:spPr>
          <a:xfrm>
            <a:off x="8092440" y="1472184"/>
            <a:ext cx="3642055" cy="21945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8000"/>
              </a:lnSpc>
              <a:spcAft>
                <a:spcPts val="6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de cobro completo frente a horas de stand-by en el período.</a:t>
            </a:r>
          </a:p>
          <a:p>
            <a:pPr marL="177800" indent="-177800" algn="l">
              <a:lnSpc>
                <a:spcPct val="108000"/>
              </a:lnSpc>
              <a:spcAft>
                <a:spcPts val="6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por proyecto, con su empresa y el porcentaje de stand-by.</a:t>
            </a:r>
          </a:p>
          <a:p>
            <a:pPr marL="177800" indent="-177800" algn="l">
              <a:lnSpc>
                <a:spcPct val="108000"/>
              </a:lnSpc>
              <a:spcAft>
                <a:spcPts val="6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por equipo: cobro completo, stand-by, % de stand-by y días registrados.</a:t>
            </a:r>
          </a:p>
        </p:txBody>
      </p:sp>
      <p:sp>
        <p:nvSpPr>
          <p:cNvPr id="112" name="Text"/>
          <p:cNvSpPr txBox="1"/>
          <p:nvPr/>
        </p:nvSpPr>
        <p:spPr>
          <a:xfrm>
            <a:off x="8092440" y="2944368"/>
            <a:ext cx="364205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CLAVES DE LECTURA</a:t>
            </a:r>
          </a:p>
        </p:txBody>
      </p:sp>
      <p:sp>
        <p:nvSpPr>
          <p:cNvPr id="113" name="Shape"/>
          <p:cNvSpPr/>
          <p:nvPr/>
        </p:nvSpPr>
        <p:spPr>
          <a:xfrm>
            <a:off x="8092440" y="3264408"/>
            <a:ext cx="3642055" cy="731520"/>
          </a:xfrm>
          <a:prstGeom prst="roundRect">
            <a:avLst>
              <a:gd name="adj" fmla="val 8000"/>
            </a:avLst>
          </a:prstGeom>
          <a:solidFill>
            <a:srgbClr val="F7FAFC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"/>
          <p:cNvSpPr/>
          <p:nvPr/>
        </p:nvSpPr>
        <p:spPr>
          <a:xfrm>
            <a:off x="8229600" y="3401568"/>
            <a:ext cx="292608" cy="292608"/>
          </a:xfrm>
          <a:prstGeom prst="ellipse">
            <a:avLst/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5" name="Image" descr="Not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4464" y="3456432"/>
            <a:ext cx="182880" cy="182880"/>
          </a:xfrm>
          <a:prstGeom prst="rect">
            <a:avLst/>
          </a:prstGeom>
        </p:spPr>
      </p:pic>
      <p:sp>
        <p:nvSpPr>
          <p:cNvPr id="116" name="Text"/>
          <p:cNvSpPr txBox="1"/>
          <p:nvPr/>
        </p:nvSpPr>
        <p:spPr>
          <a:xfrm>
            <a:off x="8641080" y="3355848"/>
            <a:ext cx="295625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15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Todos los proyectos juntos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9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gráfico suma todos los proyectos de Control de Horas del período; las tablas los separan.</a:t>
            </a:r>
          </a:p>
        </p:txBody>
      </p:sp>
      <p:sp>
        <p:nvSpPr>
          <p:cNvPr id="117" name="Shape"/>
          <p:cNvSpPr/>
          <p:nvPr/>
        </p:nvSpPr>
        <p:spPr>
          <a:xfrm>
            <a:off x="8092440" y="4069080"/>
            <a:ext cx="3642055" cy="731520"/>
          </a:xfrm>
          <a:prstGeom prst="roundRect">
            <a:avLst>
              <a:gd name="adj" fmla="val 8000"/>
            </a:avLst>
          </a:prstGeom>
          <a:solidFill>
            <a:srgbClr val="F7FAFC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Shape"/>
          <p:cNvSpPr/>
          <p:nvPr/>
        </p:nvSpPr>
        <p:spPr>
          <a:xfrm>
            <a:off x="8229600" y="4206240"/>
            <a:ext cx="292608" cy="292608"/>
          </a:xfrm>
          <a:prstGeom prst="ellipse">
            <a:avLst/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9" name="Image" descr="Not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4464" y="4261104"/>
            <a:ext cx="182880" cy="182880"/>
          </a:xfrm>
          <a:prstGeom prst="rect">
            <a:avLst/>
          </a:prstGeom>
        </p:spPr>
      </p:pic>
      <p:sp>
        <p:nvSpPr>
          <p:cNvPr id="120" name="Text"/>
          <p:cNvSpPr txBox="1"/>
          <p:nvPr/>
        </p:nvSpPr>
        <p:spPr>
          <a:xfrm>
            <a:off x="8641080" y="4160520"/>
            <a:ext cx="295625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15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Crece con cada proyecto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95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proyecto nuevo aparece como una fila más, sin configurar reportes aparte.</a:t>
            </a:r>
          </a:p>
        </p:txBody>
      </p:sp>
      <p:sp>
        <p:nvSpPr>
          <p:cNvPr id="121" name="Shape"/>
          <p:cNvSpPr/>
          <p:nvPr/>
        </p:nvSpPr>
        <p:spPr>
          <a:xfrm>
            <a:off x="8092440" y="4937760"/>
            <a:ext cx="3642055" cy="914400"/>
          </a:xfrm>
          <a:prstGeom prst="roundRect">
            <a:avLst>
              <a:gd name="adj" fmla="val 7000"/>
            </a:avLst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2" name="Text"/>
          <p:cNvSpPr txBox="1"/>
          <p:nvPr/>
        </p:nvSpPr>
        <p:spPr>
          <a:xfrm>
            <a:off x="8293608" y="5010912"/>
            <a:ext cx="3239719" cy="7680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s-VE" sz="900" b="1" spc="12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GERENCIA</a:t>
            </a: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Cuánto se cobra y cuánto queda en stand-by, por proyecto y por equipo, sin armar reportes a mano.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portes Di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"/>
          <p:cNvSpPr/>
          <p:nvPr/>
        </p:nvSpPr>
        <p:spPr>
          <a:xfrm>
            <a:off x="457200" y="32918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02" name="Image" descr="Report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9768"/>
            <a:ext cx="219456" cy="219456"/>
          </a:xfrm>
          <a:prstGeom prst="rect">
            <a:avLst/>
          </a:prstGeom>
        </p:spPr>
      </p:pic>
      <p:sp>
        <p:nvSpPr>
          <p:cNvPr id="103" name="Text"/>
          <p:cNvSpPr txBox="1"/>
          <p:nvPr/>
        </p:nvSpPr>
        <p:spPr>
          <a:xfrm>
            <a:off x="1005840" y="256032"/>
            <a:ext cx="8412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25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Reportes · Detalle de un Día</a:t>
            </a:r>
          </a:p>
        </p:txBody>
      </p:sp>
      <p:sp>
        <p:nvSpPr>
          <p:cNvPr id="104" name="Shape"/>
          <p:cNvSpPr/>
          <p:nvPr/>
        </p:nvSpPr>
        <p:spPr>
          <a:xfrm>
            <a:off x="9997135" y="36576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"/>
          <p:cNvSpPr txBox="1"/>
          <p:nvPr/>
        </p:nvSpPr>
        <p:spPr>
          <a:xfrm>
            <a:off x="9997135" y="36576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 03</a:t>
            </a:r>
          </a:p>
        </p:txBody>
      </p:sp>
      <p:sp>
        <p:nvSpPr>
          <p:cNvPr id="106" name="Line"/>
          <p:cNvSpPr/>
          <p:nvPr/>
        </p:nvSpPr>
        <p:spPr>
          <a:xfrm>
            <a:off x="457200" y="896112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"/>
          <p:cNvSpPr/>
          <p:nvPr/>
        </p:nvSpPr>
        <p:spPr>
          <a:xfrm>
            <a:off x="457200" y="1234440"/>
            <a:ext cx="11277295" cy="2637035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8" name="Image" descr="Detalle de un día de Control de Hor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307592"/>
            <a:ext cx="11130991" cy="2490731"/>
          </a:xfrm>
          <a:prstGeom prst="rect">
            <a:avLst/>
          </a:prstGeom>
        </p:spPr>
      </p:pic>
      <p:sp>
        <p:nvSpPr>
          <p:cNvPr id="109" name="Text"/>
          <p:cNvSpPr txBox="1"/>
          <p:nvPr/>
        </p:nvSpPr>
        <p:spPr>
          <a:xfrm>
            <a:off x="530352" y="3962915"/>
            <a:ext cx="11277295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0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HORAS — DETALLE DE UN DÍA</a:t>
            </a:r>
            <a:r>
              <a:rPr lang="es-VE" sz="1050" spc="10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ejemplo: Chevron · Izamiento, 19/09/2026</a:t>
            </a:r>
          </a:p>
        </p:txBody>
      </p:sp>
      <p:sp>
        <p:nvSpPr>
          <p:cNvPr id="110" name="Shape"/>
          <p:cNvSpPr/>
          <p:nvPr/>
        </p:nvSpPr>
        <p:spPr>
          <a:xfrm>
            <a:off x="457200" y="4420115"/>
            <a:ext cx="2716454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1" name="Shape"/>
          <p:cNvSpPr/>
          <p:nvPr/>
        </p:nvSpPr>
        <p:spPr>
          <a:xfrm>
            <a:off x="640080" y="4602995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2" name="Image" descr="Cualquier dí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4685291"/>
            <a:ext cx="219456" cy="219456"/>
          </a:xfrm>
          <a:prstGeom prst="rect">
            <a:avLst/>
          </a:prstGeom>
        </p:spPr>
      </p:pic>
      <p:sp>
        <p:nvSpPr>
          <p:cNvPr id="113" name="Text"/>
          <p:cNvSpPr txBox="1"/>
          <p:nvPr/>
        </p:nvSpPr>
        <p:spPr>
          <a:xfrm>
            <a:off x="1143000" y="4602995"/>
            <a:ext cx="1893494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Cualquier día</a:t>
            </a:r>
          </a:p>
        </p:txBody>
      </p:sp>
      <p:sp>
        <p:nvSpPr>
          <p:cNvPr id="114" name="Text"/>
          <p:cNvSpPr txBox="1"/>
          <p:nvPr/>
        </p:nvSpPr>
        <p:spPr>
          <a:xfrm>
            <a:off x="640080" y="5151635"/>
            <a:ext cx="2350694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spcAft>
                <a:spcPts val="400"/>
              </a:spcAft>
              <a:buNone/>
            </a:pPr>
            <a:r>
              <a:rPr lang="es-VE" sz="12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elige empresa, proyecto y fecha para revisar la jornada completa.</a:t>
            </a:r>
          </a:p>
        </p:txBody>
      </p:sp>
      <p:sp>
        <p:nvSpPr>
          <p:cNvPr id="115" name="Shape"/>
          <p:cNvSpPr/>
          <p:nvPr/>
        </p:nvSpPr>
        <p:spPr>
          <a:xfrm>
            <a:off x="3310814" y="4420115"/>
            <a:ext cx="2716454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6" name="Shape"/>
          <p:cNvSpPr/>
          <p:nvPr/>
        </p:nvSpPr>
        <p:spPr>
          <a:xfrm>
            <a:off x="3493694" y="4602995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7" name="Image" descr="Horas por equipo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5990" y="4685291"/>
            <a:ext cx="219456" cy="219456"/>
          </a:xfrm>
          <a:prstGeom prst="rect">
            <a:avLst/>
          </a:prstGeom>
        </p:spPr>
      </p:pic>
      <p:sp>
        <p:nvSpPr>
          <p:cNvPr id="118" name="Text"/>
          <p:cNvSpPr txBox="1"/>
          <p:nvPr/>
        </p:nvSpPr>
        <p:spPr>
          <a:xfrm>
            <a:off x="3996614" y="4602995"/>
            <a:ext cx="1893494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Horas por equipo</a:t>
            </a:r>
          </a:p>
        </p:txBody>
      </p:sp>
      <p:sp>
        <p:nvSpPr>
          <p:cNvPr id="119" name="Text"/>
          <p:cNvSpPr txBox="1"/>
          <p:nvPr/>
        </p:nvSpPr>
        <p:spPr>
          <a:xfrm>
            <a:off x="3493694" y="5151635"/>
            <a:ext cx="2350694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spcAft>
                <a:spcPts val="400"/>
              </a:spcAft>
              <a:buNone/>
            </a:pPr>
            <a:r>
              <a:rPr lang="es-VE" sz="1200" dirty="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Ejecutadas, disponibles, stand-by y totales de cada equipo ese día.</a:t>
            </a:r>
          </a:p>
        </p:txBody>
      </p:sp>
      <p:sp>
        <p:nvSpPr>
          <p:cNvPr id="120" name="Shape"/>
          <p:cNvSpPr/>
          <p:nvPr/>
        </p:nvSpPr>
        <p:spPr>
          <a:xfrm>
            <a:off x="6164428" y="4420115"/>
            <a:ext cx="2716454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1" name="Shape"/>
          <p:cNvSpPr/>
          <p:nvPr/>
        </p:nvSpPr>
        <p:spPr>
          <a:xfrm>
            <a:off x="6347308" y="4602995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22" name="Image" descr="Cálculo automático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9604" y="4685291"/>
            <a:ext cx="219456" cy="219456"/>
          </a:xfrm>
          <a:prstGeom prst="rect">
            <a:avLst/>
          </a:prstGeom>
        </p:spPr>
      </p:pic>
      <p:sp>
        <p:nvSpPr>
          <p:cNvPr id="123" name="Text"/>
          <p:cNvSpPr txBox="1"/>
          <p:nvPr/>
        </p:nvSpPr>
        <p:spPr>
          <a:xfrm>
            <a:off x="6850228" y="4602995"/>
            <a:ext cx="1893494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3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Cálculo automático</a:t>
            </a:r>
          </a:p>
        </p:txBody>
      </p:sp>
      <p:sp>
        <p:nvSpPr>
          <p:cNvPr id="124" name="Text"/>
          <p:cNvSpPr txBox="1"/>
          <p:nvPr/>
        </p:nvSpPr>
        <p:spPr>
          <a:xfrm>
            <a:off x="6347308" y="5151635"/>
            <a:ext cx="2350694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spcAft>
                <a:spcPts val="400"/>
              </a:spcAft>
              <a:buNone/>
            </a:pPr>
            <a:r>
              <a:rPr lang="es-VE" sz="1200" b="1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Hrs. totales = Total + Stand-by</a:t>
            </a:r>
          </a:p>
          <a:p>
            <a:pPr marL="0" indent="0" algn="l">
              <a:lnSpc>
                <a:spcPct val="110000"/>
              </a:lnSpc>
              <a:spcAft>
                <a:spcPts val="400"/>
              </a:spcAft>
              <a:buNone/>
            </a:pPr>
            <a:r>
              <a:rPr lang="es-VE" sz="1200" b="1" dirty="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Stand-by = Stand-by ÷ Hrs. totales</a:t>
            </a:r>
          </a:p>
        </p:txBody>
      </p:sp>
      <p:sp>
        <p:nvSpPr>
          <p:cNvPr id="125" name="Shape"/>
          <p:cNvSpPr/>
          <p:nvPr/>
        </p:nvSpPr>
        <p:spPr>
          <a:xfrm>
            <a:off x="9018041" y="4420115"/>
            <a:ext cx="2716454" cy="1600200"/>
          </a:xfrm>
          <a:prstGeom prst="roundRect">
            <a:avLst>
              <a:gd name="adj" fmla="val 7000"/>
            </a:avLst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6" name="Text"/>
          <p:cNvSpPr txBox="1"/>
          <p:nvPr/>
        </p:nvSpPr>
        <p:spPr>
          <a:xfrm>
            <a:off x="9219209" y="4557275"/>
            <a:ext cx="2314118" cy="1325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lang="es-VE" sz="900" b="1" spc="12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REVISIÓN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es-VE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validar lo cargado en una jornada específica antes de cerrar el mes.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sumen por di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"/>
          <p:cNvSpPr/>
          <p:nvPr/>
        </p:nvSpPr>
        <p:spPr>
          <a:xfrm>
            <a:off x="457200" y="32918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02" name="Image" descr="Report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9768"/>
            <a:ext cx="219456" cy="219456"/>
          </a:xfrm>
          <a:prstGeom prst="rect">
            <a:avLst/>
          </a:prstGeom>
        </p:spPr>
      </p:pic>
      <p:sp>
        <p:nvSpPr>
          <p:cNvPr id="103" name="Text"/>
          <p:cNvSpPr txBox="1"/>
          <p:nvPr/>
        </p:nvSpPr>
        <p:spPr>
          <a:xfrm>
            <a:off x="1005840" y="256032"/>
            <a:ext cx="8412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2500" b="1" dirty="0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Reportes · Resumen por Día</a:t>
            </a:r>
          </a:p>
        </p:txBody>
      </p:sp>
      <p:sp>
        <p:nvSpPr>
          <p:cNvPr id="104" name="Shape"/>
          <p:cNvSpPr/>
          <p:nvPr/>
        </p:nvSpPr>
        <p:spPr>
          <a:xfrm>
            <a:off x="9997135" y="36576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"/>
          <p:cNvSpPr txBox="1"/>
          <p:nvPr/>
        </p:nvSpPr>
        <p:spPr>
          <a:xfrm>
            <a:off x="9997135" y="36576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 dirty="0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 03</a:t>
            </a:r>
          </a:p>
        </p:txBody>
      </p:sp>
      <p:sp>
        <p:nvSpPr>
          <p:cNvPr id="106" name="Line"/>
          <p:cNvSpPr/>
          <p:nvPr/>
        </p:nvSpPr>
        <p:spPr>
          <a:xfrm>
            <a:off x="457200" y="896112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"/>
          <p:cNvSpPr/>
          <p:nvPr/>
        </p:nvSpPr>
        <p:spPr>
          <a:xfrm>
            <a:off x="2393786" y="1115568"/>
            <a:ext cx="7404124" cy="5129784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8" name="Image" descr="Control de Horas: resumen por dí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6938" y="1188720"/>
            <a:ext cx="7257820" cy="49834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NEXUS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Logo NEXUS" descr="Logo NEXU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"/>
            <a:ext cx="1321385" cy="960120"/>
          </a:xfrm>
          <a:prstGeom prst="rect">
            <a:avLst/>
          </a:prstGeom>
        </p:spPr>
      </p:pic>
      <p:sp>
        <p:nvSpPr>
          <p:cNvPr id="102" name="Text"/>
          <p:cNvSpPr txBox="1"/>
          <p:nvPr/>
        </p:nvSpPr>
        <p:spPr>
          <a:xfrm>
            <a:off x="2098625" y="411480"/>
            <a:ext cx="73152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" sz="1200" b="1" spc="15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 04 · FLOTA EN TIEMPO REAL</a:t>
            </a:r>
            <a:endParaRPr lang="es-VE" sz="1200" b="1" spc="150" dirty="0">
              <a:solidFill>
                <a:srgbClr val="D99B0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3" name="Text"/>
          <p:cNvSpPr txBox="1"/>
          <p:nvPr/>
        </p:nvSpPr>
        <p:spPr>
          <a:xfrm>
            <a:off x="2098625" y="658368"/>
            <a:ext cx="8279815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30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Tracker GPS de Flota</a:t>
            </a:r>
            <a:endParaRPr lang="es-VE" sz="30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104" name="Text"/>
          <p:cNvSpPr txBox="1"/>
          <p:nvPr/>
        </p:nvSpPr>
        <p:spPr>
          <a:xfrm>
            <a:off x="2098625" y="1152144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" sz="1250" i="1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Monitoreo, alertas y reportes de la flota, conectados al GPS y a Telegram</a:t>
            </a:r>
            <a:endParaRPr lang="es-VE" sz="1250" i="1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5" name="Line"/>
          <p:cNvSpPr/>
          <p:nvPr/>
        </p:nvSpPr>
        <p:spPr>
          <a:xfrm>
            <a:off x="457200" y="1572768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6" name="Text"/>
          <p:cNvSpPr txBox="1"/>
          <p:nvPr/>
        </p:nvSpPr>
        <p:spPr>
          <a:xfrm>
            <a:off x="502920" y="1783080"/>
            <a:ext cx="52578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10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</a:t>
            </a:r>
          </a:p>
        </p:txBody>
      </p:sp>
      <p:sp>
        <p:nvSpPr>
          <p:cNvPr id="107" name="Text"/>
          <p:cNvSpPr txBox="1"/>
          <p:nvPr/>
        </p:nvSpPr>
        <p:spPr>
          <a:xfrm>
            <a:off x="502920" y="2084832"/>
            <a:ext cx="5257800" cy="10058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s-ES" sz="12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Vigila </a:t>
            </a:r>
            <a:r>
              <a:rPr lang="es-ES" sz="1250" b="1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75 unidades de la flota</a:t>
            </a:r>
            <a:r>
              <a:rPr lang="es-ES" sz="12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los datos del GPS de GEvolution: dónde está cada una, si está activa o estacionada, qué recorrido hizo y cuándo entra o sale de una geocerca. Y </a:t>
            </a:r>
            <a:r>
              <a:rPr lang="es-ES" sz="1250" b="1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avisa solo por Telegram</a:t>
            </a:r>
            <a:r>
              <a:rPr lang="es-ES" sz="12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s-VE" sz="1250" dirty="0">
              <a:solidFill>
                <a:srgbClr val="0E243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8" name="Text"/>
          <p:cNvSpPr txBox="1"/>
          <p:nvPr/>
        </p:nvSpPr>
        <p:spPr>
          <a:xfrm>
            <a:off x="502920" y="2907792"/>
            <a:ext cx="274320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100" i="1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incluye:</a:t>
            </a:r>
            <a:endParaRPr lang="es-VE" sz="1100" i="1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9" name="Shape"/>
          <p:cNvSpPr/>
          <p:nvPr/>
        </p:nvSpPr>
        <p:spPr>
          <a:xfrm>
            <a:off x="508000" y="3200400"/>
            <a:ext cx="1346200" cy="310896"/>
          </a:xfrm>
          <a:prstGeom prst="roundRect">
            <a:avLst>
              <a:gd name="adj" fmla="val 50000"/>
            </a:avLst>
          </a:prstGeom>
          <a:solidFill>
            <a:srgbClr val="FBF3DD"/>
          </a:solidFill>
          <a:ln w="9525">
            <a:solidFill>
              <a:srgbClr val="E9C46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0" name="Text"/>
          <p:cNvSpPr txBox="1"/>
          <p:nvPr/>
        </p:nvSpPr>
        <p:spPr>
          <a:xfrm>
            <a:off x="508000" y="3200400"/>
            <a:ext cx="13462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50" b="1">
                <a:solidFill>
                  <a:srgbClr val="9A69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flota</a:t>
            </a:r>
            <a:endParaRPr lang="es-VE" sz="1050" b="1" dirty="0">
              <a:solidFill>
                <a:srgbClr val="9A690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1" name="Shape"/>
          <p:cNvSpPr/>
          <p:nvPr/>
        </p:nvSpPr>
        <p:spPr>
          <a:xfrm>
            <a:off x="1955800" y="3200400"/>
            <a:ext cx="1485900" cy="310896"/>
          </a:xfrm>
          <a:prstGeom prst="roundRect">
            <a:avLst>
              <a:gd name="adj" fmla="val 50000"/>
            </a:avLst>
          </a:prstGeom>
          <a:solidFill>
            <a:srgbClr val="FBF3DD"/>
          </a:solidFill>
          <a:ln w="9525">
            <a:solidFill>
              <a:srgbClr val="E9C46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2" name="Text"/>
          <p:cNvSpPr txBox="1"/>
          <p:nvPr/>
        </p:nvSpPr>
        <p:spPr>
          <a:xfrm>
            <a:off x="1955800" y="3200400"/>
            <a:ext cx="14859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50" b="1">
                <a:solidFill>
                  <a:srgbClr val="9A69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y recorridos</a:t>
            </a:r>
            <a:endParaRPr lang="es-VE" sz="1050" b="1" dirty="0">
              <a:solidFill>
                <a:srgbClr val="9A690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3" name="Shape"/>
          <p:cNvSpPr/>
          <p:nvPr/>
        </p:nvSpPr>
        <p:spPr>
          <a:xfrm>
            <a:off x="3543300" y="3200400"/>
            <a:ext cx="774700" cy="310896"/>
          </a:xfrm>
          <a:prstGeom prst="roundRect">
            <a:avLst>
              <a:gd name="adj" fmla="val 50000"/>
            </a:avLst>
          </a:prstGeom>
          <a:solidFill>
            <a:srgbClr val="FBF3DD"/>
          </a:solidFill>
          <a:ln w="9525">
            <a:solidFill>
              <a:srgbClr val="E9C46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4" name="Text"/>
          <p:cNvSpPr txBox="1"/>
          <p:nvPr/>
        </p:nvSpPr>
        <p:spPr>
          <a:xfrm>
            <a:off x="3543300" y="3200400"/>
            <a:ext cx="7747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50" b="1">
                <a:solidFill>
                  <a:srgbClr val="9A69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</a:t>
            </a:r>
            <a:endParaRPr lang="es-VE" sz="1050" b="1" dirty="0">
              <a:solidFill>
                <a:srgbClr val="9A690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5" name="Shape"/>
          <p:cNvSpPr/>
          <p:nvPr/>
        </p:nvSpPr>
        <p:spPr>
          <a:xfrm>
            <a:off x="4419600" y="3200400"/>
            <a:ext cx="1485900" cy="310896"/>
          </a:xfrm>
          <a:prstGeom prst="roundRect">
            <a:avLst>
              <a:gd name="adj" fmla="val 50000"/>
            </a:avLst>
          </a:prstGeom>
          <a:solidFill>
            <a:srgbClr val="FBF3DD"/>
          </a:solidFill>
          <a:ln w="9525">
            <a:solidFill>
              <a:srgbClr val="E9C46A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6" name="Text"/>
          <p:cNvSpPr txBox="1"/>
          <p:nvPr/>
        </p:nvSpPr>
        <p:spPr>
          <a:xfrm>
            <a:off x="4419600" y="3200400"/>
            <a:ext cx="148590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50" b="1">
                <a:solidFill>
                  <a:srgbClr val="9A690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de turno</a:t>
            </a:r>
            <a:endParaRPr lang="es-VE" sz="1050" b="1" dirty="0">
              <a:solidFill>
                <a:srgbClr val="9A6907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7" name="Text"/>
          <p:cNvSpPr txBox="1"/>
          <p:nvPr/>
        </p:nvSpPr>
        <p:spPr>
          <a:xfrm>
            <a:off x="502920" y="3730752"/>
            <a:ext cx="525780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10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RESUELVE</a:t>
            </a:r>
          </a:p>
        </p:txBody>
      </p:sp>
      <p:sp>
        <p:nvSpPr>
          <p:cNvPr id="118" name="Text"/>
          <p:cNvSpPr txBox="1"/>
          <p:nvPr/>
        </p:nvSpPr>
        <p:spPr>
          <a:xfrm>
            <a:off x="502920" y="4032504"/>
            <a:ext cx="5257800" cy="1737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0000"/>
              </a:lnSpc>
              <a:spcAft>
                <a:spcPts val="600"/>
              </a:spcAft>
              <a:buClr>
                <a:srgbClr val="C0392B"/>
              </a:buClr>
              <a:buSzPct val="100000"/>
              <a:buChar char="•"/>
            </a:pPr>
            <a:r>
              <a:rPr lang="es-ES" sz="120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la flota obligaba a entrar al portal del GPS, unidad por unidad.</a:t>
            </a:r>
            <a:endParaRPr lang="es-VE" sz="120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10000"/>
              </a:lnSpc>
              <a:spcAft>
                <a:spcPts val="600"/>
              </a:spcAft>
              <a:buClr>
                <a:srgbClr val="C0392B"/>
              </a:buClr>
              <a:buSzPct val="100000"/>
              <a:buChar char="•"/>
            </a:pPr>
            <a:r>
              <a:rPr lang="es-ES" sz="120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Salidas de geocerca y circulación fuera de horario se veían tarde.</a:t>
            </a:r>
            <a:endParaRPr lang="es-VE" sz="120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10000"/>
              </a:lnSpc>
              <a:spcAft>
                <a:spcPts val="600"/>
              </a:spcAft>
              <a:buClr>
                <a:srgbClr val="C0392B"/>
              </a:buClr>
              <a:buSzPct val="100000"/>
              <a:buChar char="•"/>
            </a:pPr>
            <a:r>
              <a:rPr lang="es-ES" sz="120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reportes de cada turno se armaban a mano en Excel.</a:t>
            </a:r>
            <a:endParaRPr lang="es-VE" sz="120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10000"/>
              </a:lnSpc>
              <a:spcAft>
                <a:spcPts val="600"/>
              </a:spcAft>
              <a:buClr>
                <a:srgbClr val="C0392B"/>
              </a:buClr>
              <a:buSzPct val="100000"/>
              <a:buChar char="•"/>
            </a:pPr>
            <a:r>
              <a:rPr lang="es-ES" sz="120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GPS solo conoce la placa, no el código, el conductor ni la flota.</a:t>
            </a:r>
            <a:endParaRPr lang="es-VE" sz="120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9" name="Text"/>
          <p:cNvSpPr txBox="1"/>
          <p:nvPr/>
        </p:nvSpPr>
        <p:spPr>
          <a:xfrm>
            <a:off x="6172200" y="1783080"/>
            <a:ext cx="556229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10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BENEFICIOS</a:t>
            </a:r>
          </a:p>
        </p:txBody>
      </p:sp>
      <p:sp>
        <p:nvSpPr>
          <p:cNvPr id="120" name="Shape"/>
          <p:cNvSpPr/>
          <p:nvPr/>
        </p:nvSpPr>
        <p:spPr>
          <a:xfrm>
            <a:off x="6172200" y="2103120"/>
            <a:ext cx="5562295" cy="640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1" name="Shape"/>
          <p:cNvSpPr/>
          <p:nvPr/>
        </p:nvSpPr>
        <p:spPr>
          <a:xfrm>
            <a:off x="6318504" y="2203704"/>
            <a:ext cx="438912" cy="438912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2" name="Text"/>
          <p:cNvSpPr txBox="1"/>
          <p:nvPr/>
        </p:nvSpPr>
        <p:spPr>
          <a:xfrm>
            <a:off x="6318504" y="2203704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500">
                <a:solidFill>
                  <a:srgbClr val="000000"/>
                </a:solidFill>
              </a:rPr>
              <a:t>📡</a:t>
            </a:r>
            <a:endParaRPr lang="es-VE" sz="1500" dirty="0">
              <a:solidFill>
                <a:srgbClr val="000000"/>
              </a:solidFill>
            </a:endParaRPr>
          </a:p>
        </p:txBody>
      </p:sp>
      <p:sp>
        <p:nvSpPr>
          <p:cNvPr id="123" name="Text"/>
          <p:cNvSpPr txBox="1"/>
          <p:nvPr/>
        </p:nvSpPr>
        <p:spPr>
          <a:xfrm>
            <a:off x="6922008" y="2167128"/>
            <a:ext cx="4647895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Flota en vivo</a:t>
            </a:r>
            <a:endParaRPr lang="es-VE" sz="13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s-ES" sz="10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Activas, estacionadas y sin señal de las 75 unidades, en una sola pantalla.</a:t>
            </a:r>
            <a:endParaRPr lang="es-VE" sz="10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4" name="Shape"/>
          <p:cNvSpPr/>
          <p:nvPr/>
        </p:nvSpPr>
        <p:spPr>
          <a:xfrm>
            <a:off x="6172200" y="2825496"/>
            <a:ext cx="5562295" cy="640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5" name="Shape"/>
          <p:cNvSpPr/>
          <p:nvPr/>
        </p:nvSpPr>
        <p:spPr>
          <a:xfrm>
            <a:off x="6318504" y="2926080"/>
            <a:ext cx="438912" cy="438912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6" name="Text"/>
          <p:cNvSpPr txBox="1"/>
          <p:nvPr/>
        </p:nvSpPr>
        <p:spPr>
          <a:xfrm>
            <a:off x="6318504" y="2926080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500">
                <a:solidFill>
                  <a:srgbClr val="000000"/>
                </a:solidFill>
              </a:rPr>
              <a:t>🗺️</a:t>
            </a:r>
            <a:endParaRPr lang="es-VE" sz="1500" dirty="0">
              <a:solidFill>
                <a:srgbClr val="000000"/>
              </a:solidFill>
            </a:endParaRPr>
          </a:p>
        </p:txBody>
      </p:sp>
      <p:sp>
        <p:nvSpPr>
          <p:cNvPr id="127" name="Text"/>
          <p:cNvSpPr txBox="1"/>
          <p:nvPr/>
        </p:nvSpPr>
        <p:spPr>
          <a:xfrm>
            <a:off x="6922008" y="2889504"/>
            <a:ext cx="4647895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Recorridos con ruta</a:t>
            </a:r>
            <a:endParaRPr lang="es-VE" sz="13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s-ES" sz="10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Viajes del día de cada unidad, con kilómetros, horas y la ruta real sobre el mapa.</a:t>
            </a:r>
            <a:endParaRPr lang="es-VE" sz="10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8" name="Shape"/>
          <p:cNvSpPr/>
          <p:nvPr/>
        </p:nvSpPr>
        <p:spPr>
          <a:xfrm>
            <a:off x="6172200" y="3547872"/>
            <a:ext cx="5562295" cy="640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9" name="Shape"/>
          <p:cNvSpPr/>
          <p:nvPr/>
        </p:nvSpPr>
        <p:spPr>
          <a:xfrm>
            <a:off x="6318504" y="3648456"/>
            <a:ext cx="438912" cy="438912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0" name="Text"/>
          <p:cNvSpPr txBox="1"/>
          <p:nvPr/>
        </p:nvSpPr>
        <p:spPr>
          <a:xfrm>
            <a:off x="6318504" y="3648456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500">
                <a:solidFill>
                  <a:srgbClr val="000000"/>
                </a:solidFill>
              </a:rPr>
              <a:t>🔔</a:t>
            </a:r>
            <a:endParaRPr lang="es-VE" sz="1500" dirty="0">
              <a:solidFill>
                <a:srgbClr val="000000"/>
              </a:solidFill>
            </a:endParaRPr>
          </a:p>
        </p:txBody>
      </p:sp>
      <p:sp>
        <p:nvSpPr>
          <p:cNvPr id="131" name="Text"/>
          <p:cNvSpPr txBox="1"/>
          <p:nvPr/>
        </p:nvSpPr>
        <p:spPr>
          <a:xfrm>
            <a:off x="6922008" y="3611880"/>
            <a:ext cx="4647895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Alertas precisas</a:t>
            </a:r>
            <a:endParaRPr lang="es-VE" sz="13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s-ES" sz="10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día, entradas y salidas de geocerca; de noche, circulación fuera de horario.</a:t>
            </a:r>
            <a:endParaRPr lang="es-VE" sz="10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32" name="Shape"/>
          <p:cNvSpPr/>
          <p:nvPr/>
        </p:nvSpPr>
        <p:spPr>
          <a:xfrm>
            <a:off x="6172200" y="4270248"/>
            <a:ext cx="5562295" cy="640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3" name="Shape"/>
          <p:cNvSpPr/>
          <p:nvPr/>
        </p:nvSpPr>
        <p:spPr>
          <a:xfrm>
            <a:off x="6318504" y="4370832"/>
            <a:ext cx="438912" cy="438912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4" name="Text"/>
          <p:cNvSpPr txBox="1"/>
          <p:nvPr/>
        </p:nvSpPr>
        <p:spPr>
          <a:xfrm>
            <a:off x="6318504" y="4370832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500">
                <a:solidFill>
                  <a:srgbClr val="000000"/>
                </a:solidFill>
              </a:rPr>
              <a:t>📨</a:t>
            </a:r>
            <a:endParaRPr lang="es-VE" sz="1500" dirty="0">
              <a:solidFill>
                <a:srgbClr val="000000"/>
              </a:solidFill>
            </a:endParaRPr>
          </a:p>
        </p:txBody>
      </p:sp>
      <p:sp>
        <p:nvSpPr>
          <p:cNvPr id="135" name="Text"/>
          <p:cNvSpPr txBox="1"/>
          <p:nvPr/>
        </p:nvSpPr>
        <p:spPr>
          <a:xfrm>
            <a:off x="6922008" y="4334256"/>
            <a:ext cx="4647895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 llega a Telegram</a:t>
            </a:r>
            <a:endParaRPr lang="es-VE" sz="13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s-ES" sz="10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y reportes de turno en el chat, solo para personas aprobadas.</a:t>
            </a:r>
            <a:endParaRPr lang="es-VE" sz="10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36" name="Shape"/>
          <p:cNvSpPr/>
          <p:nvPr/>
        </p:nvSpPr>
        <p:spPr>
          <a:xfrm>
            <a:off x="6172200" y="4992624"/>
            <a:ext cx="5562295" cy="64008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7" name="Shape"/>
          <p:cNvSpPr/>
          <p:nvPr/>
        </p:nvSpPr>
        <p:spPr>
          <a:xfrm>
            <a:off x="6318504" y="5093208"/>
            <a:ext cx="438912" cy="438912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8" name="Text"/>
          <p:cNvSpPr txBox="1"/>
          <p:nvPr/>
        </p:nvSpPr>
        <p:spPr>
          <a:xfrm>
            <a:off x="6318504" y="5093208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500">
                <a:solidFill>
                  <a:srgbClr val="000000"/>
                </a:solidFill>
              </a:rPr>
              <a:t>📊</a:t>
            </a:r>
            <a:endParaRPr lang="es-VE" sz="1500" dirty="0">
              <a:solidFill>
                <a:srgbClr val="000000"/>
              </a:solidFill>
            </a:endParaRPr>
          </a:p>
        </p:txBody>
      </p:sp>
      <p:sp>
        <p:nvSpPr>
          <p:cNvPr id="139" name="Text"/>
          <p:cNvSpPr txBox="1"/>
          <p:nvPr/>
        </p:nvSpPr>
        <p:spPr>
          <a:xfrm>
            <a:off x="6922008" y="5056632"/>
            <a:ext cx="4647895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Reportes automáticos</a:t>
            </a:r>
            <a:endParaRPr lang="es-VE" sz="13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s-ES" sz="10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cortes por turno en Excel, PDF e imagen, sin armarlos a mano.</a:t>
            </a:r>
            <a:endParaRPr lang="es-VE" sz="10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40" name="Shape"/>
          <p:cNvSpPr/>
          <p:nvPr/>
        </p:nvSpPr>
        <p:spPr>
          <a:xfrm>
            <a:off x="457200" y="5897880"/>
            <a:ext cx="11277295" cy="658368"/>
          </a:xfrm>
          <a:prstGeom prst="roundRect">
            <a:avLst>
              <a:gd name="adj" fmla="val 12000"/>
            </a:avLst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1" name="Text"/>
          <p:cNvSpPr txBox="1"/>
          <p:nvPr/>
        </p:nvSpPr>
        <p:spPr>
          <a:xfrm>
            <a:off x="685800" y="5971032"/>
            <a:ext cx="137160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s-VE" sz="900" b="1" spc="12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s-VE" sz="900" b="1" spc="120" dirty="0">
              <a:solidFill>
                <a:srgbClr val="E9C46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5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funcionamiento</a:t>
            </a:r>
            <a:endParaRPr lang="es-VE" sz="1050" b="1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42" name="Text"/>
          <p:cNvSpPr txBox="1"/>
          <p:nvPr/>
        </p:nvSpPr>
        <p:spPr>
          <a:xfrm>
            <a:off x="2240280" y="5971032"/>
            <a:ext cx="333756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s-VE" sz="900" b="1" spc="12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 DE DATOS</a:t>
            </a:r>
            <a:endParaRPr lang="es-VE" sz="900" b="1" spc="120" dirty="0">
              <a:solidFill>
                <a:srgbClr val="E9C46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VE" sz="10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GEvolution · 75 unidades · registro interno de placas</a:t>
            </a:r>
            <a:endParaRPr lang="es-VE" sz="105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43" name="Text"/>
          <p:cNvSpPr txBox="1"/>
          <p:nvPr/>
        </p:nvSpPr>
        <p:spPr>
          <a:xfrm>
            <a:off x="5760720" y="5971032"/>
            <a:ext cx="256032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s-VE" sz="900" b="1" spc="12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AUTOMÁTICO</a:t>
            </a:r>
            <a:endParaRPr lang="es-VE" sz="900" b="1" spc="120" dirty="0">
              <a:solidFill>
                <a:srgbClr val="E9C46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ES" sz="10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9:05 am · 2:05 pm · 9:05 pm y alertas de día y de noche</a:t>
            </a:r>
            <a:endParaRPr lang="es-VE" sz="105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44" name="Text"/>
          <p:cNvSpPr txBox="1"/>
          <p:nvPr/>
        </p:nvSpPr>
        <p:spPr>
          <a:xfrm>
            <a:off x="8503920" y="5971032"/>
            <a:ext cx="2834640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s-VE" sz="900" b="1" spc="12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</a:t>
            </a:r>
            <a:endParaRPr lang="es-VE" sz="900" b="1" spc="120" dirty="0">
              <a:solidFill>
                <a:srgbClr val="E9C46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ES" sz="10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 de Telegram con acceso por aprobación</a:t>
            </a:r>
            <a:endParaRPr lang="es-VE" sz="105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5061797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mbusti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"/>
          <p:cNvSpPr/>
          <p:nvPr/>
        </p:nvSpPr>
        <p:spPr>
          <a:xfrm>
            <a:off x="457200" y="32918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18AA75A-EBFB-EEEB-23B0-B26B41C5CEAB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9768"/>
            <a:ext cx="219456" cy="219456"/>
          </a:xfrm>
          <a:prstGeom prst="rect">
            <a:avLst/>
          </a:prstGeom>
        </p:spPr>
      </p:pic>
      <p:sp>
        <p:nvSpPr>
          <p:cNvPr id="103" name="Text"/>
          <p:cNvSpPr txBox="1"/>
          <p:nvPr/>
        </p:nvSpPr>
        <p:spPr>
          <a:xfrm>
            <a:off x="1005840" y="256032"/>
            <a:ext cx="8412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25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Tracker GPS · Estado de Flota</a:t>
            </a:r>
            <a:endParaRPr lang="es-VE" sz="25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104" name="Shape"/>
          <p:cNvSpPr/>
          <p:nvPr/>
        </p:nvSpPr>
        <p:spPr>
          <a:xfrm>
            <a:off x="9997135" y="36576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"/>
          <p:cNvSpPr txBox="1"/>
          <p:nvPr/>
        </p:nvSpPr>
        <p:spPr>
          <a:xfrm>
            <a:off x="9997135" y="36576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 04</a:t>
            </a:r>
            <a:endParaRPr lang="es-VE" sz="1000" b="1" dirty="0">
              <a:solidFill>
                <a:srgbClr val="0E243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6" name="Line"/>
          <p:cNvSpPr/>
          <p:nvPr/>
        </p:nvSpPr>
        <p:spPr>
          <a:xfrm>
            <a:off x="457200" y="896112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"/>
          <p:cNvSpPr/>
          <p:nvPr/>
        </p:nvSpPr>
        <p:spPr>
          <a:xfrm>
            <a:off x="457200" y="1143000"/>
            <a:ext cx="7589520" cy="3732169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6CF751D-783C-F2E1-2D46-3862816B481A}"/>
              </a:ext>
            </a:extLst>
          </p:cNvPr>
          <p:cNvPicPr>
            <a:picLocks/>
          </p:cNvPicPr>
          <p:nvPr/>
        </p:nvPicPr>
        <p:blipFill>
          <a:blip r:embed="rId3"/>
          <a:srcRect r="68"/>
          <a:stretch>
            <a:fillRect/>
          </a:stretch>
        </p:blipFill>
        <p:spPr>
          <a:xfrm>
            <a:off x="530352" y="1216153"/>
            <a:ext cx="7443216" cy="3585865"/>
          </a:xfrm>
          <a:prstGeom prst="rect">
            <a:avLst/>
          </a:prstGeom>
        </p:spPr>
      </p:pic>
      <p:sp>
        <p:nvSpPr>
          <p:cNvPr id="109" name="Text"/>
          <p:cNvSpPr txBox="1"/>
          <p:nvPr/>
        </p:nvSpPr>
        <p:spPr>
          <a:xfrm>
            <a:off x="530352" y="4966609"/>
            <a:ext cx="758952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" sz="1050" b="1" spc="10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FLOTA</a:t>
            </a:r>
            <a:r>
              <a:rPr lang="es-ES" sz="1050" spc="10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vista en vivo de las 75 unidades</a:t>
            </a:r>
            <a:endParaRPr lang="es-VE" sz="1050" spc="100" dirty="0">
              <a:solidFill>
                <a:srgbClr val="D99B0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0" name="Shape"/>
          <p:cNvSpPr/>
          <p:nvPr/>
        </p:nvSpPr>
        <p:spPr>
          <a:xfrm>
            <a:off x="457200" y="5378089"/>
            <a:ext cx="243840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"/>
          <p:cNvSpPr/>
          <p:nvPr/>
        </p:nvSpPr>
        <p:spPr>
          <a:xfrm>
            <a:off x="594360" y="5688985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D500A1E-4C24-A449-1401-4540B48D2A1B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5771281"/>
            <a:ext cx="219456" cy="219456"/>
          </a:xfrm>
          <a:prstGeom prst="rect">
            <a:avLst/>
          </a:prstGeom>
        </p:spPr>
      </p:pic>
      <p:sp>
        <p:nvSpPr>
          <p:cNvPr id="113" name="Text"/>
          <p:cNvSpPr txBox="1"/>
          <p:nvPr/>
        </p:nvSpPr>
        <p:spPr>
          <a:xfrm>
            <a:off x="1097280" y="5451241"/>
            <a:ext cx="1706880" cy="8595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Cuatro indicadores</a:t>
            </a:r>
            <a:endParaRPr lang="es-VE" sz="12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ES" sz="100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activas, estacionadas y sin señal, siempre arriba.</a:t>
            </a:r>
            <a:endParaRPr lang="es-VE" sz="100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4" name="Shape"/>
          <p:cNvSpPr/>
          <p:nvPr/>
        </p:nvSpPr>
        <p:spPr>
          <a:xfrm>
            <a:off x="3032760" y="5378089"/>
            <a:ext cx="243840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"/>
          <p:cNvSpPr/>
          <p:nvPr/>
        </p:nvSpPr>
        <p:spPr>
          <a:xfrm>
            <a:off x="3169920" y="5688985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9E4DB71-205A-8B75-8DB2-C292C8673417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3252216" y="5771281"/>
            <a:ext cx="219456" cy="219456"/>
          </a:xfrm>
          <a:prstGeom prst="rect">
            <a:avLst/>
          </a:prstGeom>
        </p:spPr>
      </p:pic>
      <p:sp>
        <p:nvSpPr>
          <p:cNvPr id="117" name="Text"/>
          <p:cNvSpPr txBox="1"/>
          <p:nvPr/>
        </p:nvSpPr>
        <p:spPr>
          <a:xfrm>
            <a:off x="3672840" y="5451241"/>
            <a:ext cx="1706880" cy="8595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Buscar y filtrar</a:t>
            </a:r>
            <a:endParaRPr lang="es-VE" sz="12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ES" sz="100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unidad, placa, tipo de flota o ubicación.</a:t>
            </a:r>
            <a:endParaRPr lang="es-VE" sz="100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8" name="Shape"/>
          <p:cNvSpPr/>
          <p:nvPr/>
        </p:nvSpPr>
        <p:spPr>
          <a:xfrm>
            <a:off x="5608320" y="5378089"/>
            <a:ext cx="243840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"/>
          <p:cNvSpPr/>
          <p:nvPr/>
        </p:nvSpPr>
        <p:spPr>
          <a:xfrm>
            <a:off x="5745480" y="5688985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1D4AA85-5E47-01BE-D5C7-05A36FBE4B81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5827776" y="5771281"/>
            <a:ext cx="219456" cy="219456"/>
          </a:xfrm>
          <a:prstGeom prst="rect">
            <a:avLst/>
          </a:prstGeom>
        </p:spPr>
      </p:pic>
      <p:sp>
        <p:nvSpPr>
          <p:cNvPr id="121" name="Text"/>
          <p:cNvSpPr txBox="1"/>
          <p:nvPr/>
        </p:nvSpPr>
        <p:spPr>
          <a:xfrm>
            <a:off x="6248400" y="5451241"/>
            <a:ext cx="1706880" cy="8595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Sincronizar ahora</a:t>
            </a:r>
            <a:endParaRPr lang="es-VE" sz="12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ES" sz="100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Trae al instante la posición real del GPS.</a:t>
            </a:r>
            <a:endParaRPr lang="es-VE" sz="100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2" name="Text"/>
          <p:cNvSpPr txBox="1"/>
          <p:nvPr/>
        </p:nvSpPr>
        <p:spPr>
          <a:xfrm>
            <a:off x="8366760" y="1143000"/>
            <a:ext cx="336773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MUESTRA</a:t>
            </a:r>
          </a:p>
        </p:txBody>
      </p:sp>
      <p:sp>
        <p:nvSpPr>
          <p:cNvPr id="123" name="Text"/>
          <p:cNvSpPr txBox="1"/>
          <p:nvPr/>
        </p:nvSpPr>
        <p:spPr>
          <a:xfrm>
            <a:off x="8366760" y="1472184"/>
            <a:ext cx="3367735" cy="21031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unidad con su código, flota, placa, conductor, ubicación y hora de la última lectura.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Bloques desplegables: activas, estacionadas y sin señal reciente.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Ubicación clasificada: Base, Campo, Oficina u Otras.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4" name="Text"/>
          <p:cNvSpPr txBox="1"/>
          <p:nvPr/>
        </p:nvSpPr>
        <p:spPr>
          <a:xfrm>
            <a:off x="8366760" y="3017520"/>
            <a:ext cx="336773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USA</a:t>
            </a:r>
          </a:p>
        </p:txBody>
      </p:sp>
      <p:sp>
        <p:nvSpPr>
          <p:cNvPr id="125" name="Text"/>
          <p:cNvSpPr txBox="1"/>
          <p:nvPr/>
        </p:nvSpPr>
        <p:spPr>
          <a:xfrm>
            <a:off x="8366760" y="3346704"/>
            <a:ext cx="3367735" cy="21031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abre el bloque que interesa y se busca la unidad.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"Sincronizar ahora" actualiza al momento; además se sincroniza solo en horarios fijos.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unidades sin señal quedan aparte, para revisarlas en sitio.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6" name="Shape"/>
          <p:cNvSpPr/>
          <p:nvPr/>
        </p:nvSpPr>
        <p:spPr>
          <a:xfrm>
            <a:off x="8366760" y="5378089"/>
            <a:ext cx="3367735" cy="1005840"/>
          </a:xfrm>
          <a:prstGeom prst="roundRect">
            <a:avLst>
              <a:gd name="adj" fmla="val 7000"/>
            </a:avLst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7" name="Text"/>
          <p:cNvSpPr txBox="1"/>
          <p:nvPr/>
        </p:nvSpPr>
        <p:spPr>
          <a:xfrm>
            <a:off x="8549640" y="5469529"/>
            <a:ext cx="3001975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lang="es-VE" sz="900" b="1" spc="12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→ AHORA</a:t>
            </a:r>
            <a:endParaRPr lang="es-VE" sz="900" b="1" spc="120" dirty="0">
              <a:solidFill>
                <a:srgbClr val="E9C46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l">
              <a:lnSpc>
                <a:spcPct val="105000"/>
              </a:lnSpc>
              <a:buNone/>
            </a:pPr>
            <a:r>
              <a:rPr lang="es-ES" sz="10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revisar el portal del GPS unidad por unidad, a ver toda la flota clasificada en una sola pantalla.</a:t>
            </a:r>
            <a:endParaRPr lang="es-VE" sz="105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396641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anque de Gasoi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"/>
          <p:cNvSpPr/>
          <p:nvPr/>
        </p:nvSpPr>
        <p:spPr>
          <a:xfrm>
            <a:off x="457200" y="32918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E833C22-0024-5932-569B-8FC93F242193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9768"/>
            <a:ext cx="219456" cy="219456"/>
          </a:xfrm>
          <a:prstGeom prst="rect">
            <a:avLst/>
          </a:prstGeom>
        </p:spPr>
      </p:pic>
      <p:sp>
        <p:nvSpPr>
          <p:cNvPr id="103" name="Text"/>
          <p:cNvSpPr txBox="1"/>
          <p:nvPr/>
        </p:nvSpPr>
        <p:spPr>
          <a:xfrm>
            <a:off x="1005840" y="256032"/>
            <a:ext cx="8412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" sz="25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Tracker GPS · Gestión de Unidades</a:t>
            </a:r>
            <a:endParaRPr lang="es-VE" sz="25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104" name="Shape"/>
          <p:cNvSpPr/>
          <p:nvPr/>
        </p:nvSpPr>
        <p:spPr>
          <a:xfrm>
            <a:off x="9997135" y="36576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"/>
          <p:cNvSpPr txBox="1"/>
          <p:nvPr/>
        </p:nvSpPr>
        <p:spPr>
          <a:xfrm>
            <a:off x="9997135" y="36576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 04</a:t>
            </a:r>
            <a:endParaRPr lang="es-VE" sz="1000" b="1" dirty="0">
              <a:solidFill>
                <a:srgbClr val="0E243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6" name="Line"/>
          <p:cNvSpPr/>
          <p:nvPr/>
        </p:nvSpPr>
        <p:spPr>
          <a:xfrm>
            <a:off x="457200" y="896112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"/>
          <p:cNvSpPr/>
          <p:nvPr/>
        </p:nvSpPr>
        <p:spPr>
          <a:xfrm>
            <a:off x="457200" y="1188720"/>
            <a:ext cx="5212080" cy="507492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Text"/>
          <p:cNvSpPr txBox="1"/>
          <p:nvPr/>
        </p:nvSpPr>
        <p:spPr>
          <a:xfrm>
            <a:off x="731520" y="1371600"/>
            <a:ext cx="466344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INTERNO DE UNIDADES</a:t>
            </a:r>
            <a:endParaRPr lang="es-VE" sz="1050" b="1" spc="150" dirty="0">
              <a:solidFill>
                <a:srgbClr val="D99B0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9" name="Shape"/>
          <p:cNvSpPr/>
          <p:nvPr/>
        </p:nvSpPr>
        <p:spPr>
          <a:xfrm>
            <a:off x="777240" y="1737360"/>
            <a:ext cx="4572000" cy="3401391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E702DF-4909-1D78-2BFF-A08AE767AE3A}"/>
              </a:ext>
            </a:extLst>
          </p:cNvPr>
          <p:cNvPicPr>
            <a:picLocks/>
          </p:cNvPicPr>
          <p:nvPr/>
        </p:nvPicPr>
        <p:blipFill>
          <a:blip r:embed="rId3"/>
          <a:srcRect b="50"/>
          <a:stretch>
            <a:fillRect/>
          </a:stretch>
        </p:blipFill>
        <p:spPr>
          <a:xfrm>
            <a:off x="777240" y="1737361"/>
            <a:ext cx="4572000" cy="3401391"/>
          </a:xfrm>
          <a:prstGeom prst="rect">
            <a:avLst/>
          </a:prstGeom>
        </p:spPr>
      </p:pic>
      <p:sp>
        <p:nvSpPr>
          <p:cNvPr id="111" name="Shape"/>
          <p:cNvSpPr/>
          <p:nvPr/>
        </p:nvSpPr>
        <p:spPr>
          <a:xfrm>
            <a:off x="495300" y="2603500"/>
            <a:ext cx="310896" cy="310896"/>
          </a:xfrm>
          <a:prstGeom prst="ellipse">
            <a:avLst/>
          </a:prstGeom>
          <a:solidFill>
            <a:srgbClr val="D99B0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Text"/>
          <p:cNvSpPr txBox="1"/>
          <p:nvPr/>
        </p:nvSpPr>
        <p:spPr>
          <a:xfrm>
            <a:off x="495300" y="260350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113" name="Shape"/>
          <p:cNvSpPr/>
          <p:nvPr/>
        </p:nvSpPr>
        <p:spPr>
          <a:xfrm>
            <a:off x="495300" y="2057400"/>
            <a:ext cx="310896" cy="310896"/>
          </a:xfrm>
          <a:prstGeom prst="ellipse">
            <a:avLst/>
          </a:prstGeom>
          <a:solidFill>
            <a:srgbClr val="D99B0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Text"/>
          <p:cNvSpPr txBox="1"/>
          <p:nvPr/>
        </p:nvSpPr>
        <p:spPr>
          <a:xfrm>
            <a:off x="495300" y="205740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115" name="Shape"/>
          <p:cNvSpPr/>
          <p:nvPr/>
        </p:nvSpPr>
        <p:spPr>
          <a:xfrm>
            <a:off x="3987800" y="1574800"/>
            <a:ext cx="310896" cy="310896"/>
          </a:xfrm>
          <a:prstGeom prst="ellipse">
            <a:avLst/>
          </a:prstGeom>
          <a:solidFill>
            <a:srgbClr val="D99B0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6" name="Text"/>
          <p:cNvSpPr txBox="1"/>
          <p:nvPr/>
        </p:nvSpPr>
        <p:spPr>
          <a:xfrm>
            <a:off x="3987800" y="157480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117" name="Shape"/>
          <p:cNvSpPr/>
          <p:nvPr/>
        </p:nvSpPr>
        <p:spPr>
          <a:xfrm>
            <a:off x="5346700" y="2603500"/>
            <a:ext cx="310896" cy="310896"/>
          </a:xfrm>
          <a:prstGeom prst="ellipse">
            <a:avLst/>
          </a:prstGeom>
          <a:solidFill>
            <a:srgbClr val="D99B0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Text"/>
          <p:cNvSpPr txBox="1"/>
          <p:nvPr/>
        </p:nvSpPr>
        <p:spPr>
          <a:xfrm>
            <a:off x="5346700" y="2603500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AAAA05B-D7F4-F9E9-E4EF-EAE0DB8E6833}"/>
              </a:ext>
            </a:extLst>
          </p:cNvPr>
          <p:cNvPicPr>
            <a:picLocks/>
          </p:cNvPicPr>
          <p:nvPr/>
        </p:nvPicPr>
        <p:blipFill>
          <a:blip r:embed="rId4"/>
          <a:srcRect t="3579" b="3579"/>
          <a:stretch>
            <a:fillRect/>
          </a:stretch>
        </p:blipFill>
        <p:spPr>
          <a:xfrm>
            <a:off x="777240" y="5413071"/>
            <a:ext cx="1554480" cy="391064"/>
          </a:xfrm>
          <a:prstGeom prst="rect">
            <a:avLst/>
          </a:prstGeom>
        </p:spPr>
      </p:pic>
      <p:sp>
        <p:nvSpPr>
          <p:cNvPr id="120" name="Shape"/>
          <p:cNvSpPr/>
          <p:nvPr/>
        </p:nvSpPr>
        <p:spPr>
          <a:xfrm>
            <a:off x="621792" y="5303343"/>
            <a:ext cx="310896" cy="310896"/>
          </a:xfrm>
          <a:prstGeom prst="ellipse">
            <a:avLst/>
          </a:prstGeom>
          <a:solidFill>
            <a:srgbClr val="D99B0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1" name="Text"/>
          <p:cNvSpPr txBox="1"/>
          <p:nvPr/>
        </p:nvSpPr>
        <p:spPr>
          <a:xfrm>
            <a:off x="621792" y="5303343"/>
            <a:ext cx="31089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</a:p>
        </p:txBody>
      </p:sp>
      <p:sp>
        <p:nvSpPr>
          <p:cNvPr id="122" name="Text"/>
          <p:cNvSpPr txBox="1"/>
          <p:nvPr/>
        </p:nvSpPr>
        <p:spPr>
          <a:xfrm>
            <a:off x="2514600" y="5413071"/>
            <a:ext cx="2834640" cy="391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" sz="1050" i="1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unidades nuevas del GPS se registran solas.</a:t>
            </a:r>
            <a:endParaRPr lang="es-VE" sz="1050" i="1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3" name="Text"/>
          <p:cNvSpPr txBox="1"/>
          <p:nvPr/>
        </p:nvSpPr>
        <p:spPr>
          <a:xfrm>
            <a:off x="6035040" y="1188720"/>
            <a:ext cx="5699455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FUNCIONA</a:t>
            </a:r>
          </a:p>
        </p:txBody>
      </p:sp>
      <p:sp>
        <p:nvSpPr>
          <p:cNvPr id="124" name="Shape"/>
          <p:cNvSpPr/>
          <p:nvPr/>
        </p:nvSpPr>
        <p:spPr>
          <a:xfrm>
            <a:off x="6035040" y="1508760"/>
            <a:ext cx="5699455" cy="67665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5" name="Shape"/>
          <p:cNvSpPr/>
          <p:nvPr/>
        </p:nvSpPr>
        <p:spPr>
          <a:xfrm>
            <a:off x="6199632" y="1664208"/>
            <a:ext cx="365760" cy="365760"/>
          </a:xfrm>
          <a:prstGeom prst="ellipse">
            <a:avLst/>
          </a:prstGeom>
          <a:solidFill>
            <a:srgbClr val="D99B0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6" name="Text"/>
          <p:cNvSpPr txBox="1"/>
          <p:nvPr/>
        </p:nvSpPr>
        <p:spPr>
          <a:xfrm>
            <a:off x="6199632" y="1664208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</a:p>
        </p:txBody>
      </p:sp>
      <p:sp>
        <p:nvSpPr>
          <p:cNvPr id="127" name="Text"/>
          <p:cNvSpPr txBox="1"/>
          <p:nvPr/>
        </p:nvSpPr>
        <p:spPr>
          <a:xfrm>
            <a:off x="6748272" y="1563624"/>
            <a:ext cx="4830775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Registro interno</a:t>
            </a:r>
            <a:endParaRPr lang="es-VE" sz="13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s-ES" sz="10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Código, placa, conductor y tipo de flota de cada unidad.</a:t>
            </a:r>
            <a:endParaRPr lang="es-VE" sz="10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8" name="Shape"/>
          <p:cNvSpPr/>
          <p:nvPr/>
        </p:nvSpPr>
        <p:spPr>
          <a:xfrm>
            <a:off x="6035040" y="2258568"/>
            <a:ext cx="5699455" cy="67665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9" name="Shape"/>
          <p:cNvSpPr/>
          <p:nvPr/>
        </p:nvSpPr>
        <p:spPr>
          <a:xfrm>
            <a:off x="6199632" y="2414016"/>
            <a:ext cx="365760" cy="365760"/>
          </a:xfrm>
          <a:prstGeom prst="ellipse">
            <a:avLst/>
          </a:prstGeom>
          <a:solidFill>
            <a:srgbClr val="D99B0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0" name="Text"/>
          <p:cNvSpPr txBox="1"/>
          <p:nvPr/>
        </p:nvSpPr>
        <p:spPr>
          <a:xfrm>
            <a:off x="6199632" y="2414016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</a:p>
        </p:txBody>
      </p:sp>
      <p:sp>
        <p:nvSpPr>
          <p:cNvPr id="131" name="Text"/>
          <p:cNvSpPr txBox="1"/>
          <p:nvPr/>
        </p:nvSpPr>
        <p:spPr>
          <a:xfrm>
            <a:off x="6748272" y="2313432"/>
            <a:ext cx="4830775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Buscar</a:t>
            </a:r>
            <a:endParaRPr lang="es-VE" sz="13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s-VE" sz="10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código, placa o conductor, al instante.</a:t>
            </a:r>
            <a:endParaRPr lang="es-VE" sz="10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32" name="Shape"/>
          <p:cNvSpPr/>
          <p:nvPr/>
        </p:nvSpPr>
        <p:spPr>
          <a:xfrm>
            <a:off x="6035040" y="3008376"/>
            <a:ext cx="5699455" cy="67665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3" name="Shape"/>
          <p:cNvSpPr/>
          <p:nvPr/>
        </p:nvSpPr>
        <p:spPr>
          <a:xfrm>
            <a:off x="6199632" y="3163824"/>
            <a:ext cx="365760" cy="365760"/>
          </a:xfrm>
          <a:prstGeom prst="ellipse">
            <a:avLst/>
          </a:prstGeom>
          <a:solidFill>
            <a:srgbClr val="D99B0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4" name="Text"/>
          <p:cNvSpPr txBox="1"/>
          <p:nvPr/>
        </p:nvSpPr>
        <p:spPr>
          <a:xfrm>
            <a:off x="6199632" y="3163824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</a:p>
        </p:txBody>
      </p:sp>
      <p:sp>
        <p:nvSpPr>
          <p:cNvPr id="135" name="Text"/>
          <p:cNvSpPr txBox="1"/>
          <p:nvPr/>
        </p:nvSpPr>
        <p:spPr>
          <a:xfrm>
            <a:off x="6748272" y="3063240"/>
            <a:ext cx="4830775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Liviana o Pesada</a:t>
            </a:r>
            <a:endParaRPr lang="es-VE" sz="13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s-ES" sz="10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tipo de flota decide qué alertas llegan a Telegram.</a:t>
            </a:r>
            <a:endParaRPr lang="es-VE" sz="10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36" name="Shape"/>
          <p:cNvSpPr/>
          <p:nvPr/>
        </p:nvSpPr>
        <p:spPr>
          <a:xfrm>
            <a:off x="6035040" y="3758184"/>
            <a:ext cx="5699455" cy="67665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7" name="Shape"/>
          <p:cNvSpPr/>
          <p:nvPr/>
        </p:nvSpPr>
        <p:spPr>
          <a:xfrm>
            <a:off x="6199632" y="3913632"/>
            <a:ext cx="365760" cy="365760"/>
          </a:xfrm>
          <a:prstGeom prst="ellipse">
            <a:avLst/>
          </a:prstGeom>
          <a:solidFill>
            <a:srgbClr val="D99B0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8" name="Text"/>
          <p:cNvSpPr txBox="1"/>
          <p:nvPr/>
        </p:nvSpPr>
        <p:spPr>
          <a:xfrm>
            <a:off x="6199632" y="3913632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</a:p>
        </p:txBody>
      </p:sp>
      <p:sp>
        <p:nvSpPr>
          <p:cNvPr id="139" name="Text"/>
          <p:cNvSpPr txBox="1"/>
          <p:nvPr/>
        </p:nvSpPr>
        <p:spPr>
          <a:xfrm>
            <a:off x="6748272" y="3813048"/>
            <a:ext cx="4830775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Editar o dar de baja</a:t>
            </a:r>
            <a:endParaRPr lang="es-VE" sz="13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s-ES" sz="10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fila se corrige o se retira desde la misma tabla.</a:t>
            </a:r>
            <a:endParaRPr lang="es-VE" sz="10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40" name="Shape"/>
          <p:cNvSpPr/>
          <p:nvPr/>
        </p:nvSpPr>
        <p:spPr>
          <a:xfrm>
            <a:off x="6035040" y="4507992"/>
            <a:ext cx="5699455" cy="676656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1" name="Shape"/>
          <p:cNvSpPr/>
          <p:nvPr/>
        </p:nvSpPr>
        <p:spPr>
          <a:xfrm>
            <a:off x="6199632" y="4663440"/>
            <a:ext cx="365760" cy="365760"/>
          </a:xfrm>
          <a:prstGeom prst="ellipse">
            <a:avLst/>
          </a:prstGeom>
          <a:solidFill>
            <a:srgbClr val="D99B0A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2" name="Text"/>
          <p:cNvSpPr txBox="1"/>
          <p:nvPr/>
        </p:nvSpPr>
        <p:spPr>
          <a:xfrm>
            <a:off x="6199632" y="466344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</a:p>
        </p:txBody>
      </p:sp>
      <p:sp>
        <p:nvSpPr>
          <p:cNvPr id="143" name="Text"/>
          <p:cNvSpPr txBox="1"/>
          <p:nvPr/>
        </p:nvSpPr>
        <p:spPr>
          <a:xfrm>
            <a:off x="6748272" y="4562856"/>
            <a:ext cx="4830775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3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Nueva Unidad</a:t>
            </a:r>
            <a:endParaRPr lang="es-VE" sz="13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buNone/>
            </a:pPr>
            <a:r>
              <a:rPr lang="es-ES" sz="10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También se agregan a mano; las nuevas del GPS entran solas.</a:t>
            </a:r>
            <a:endParaRPr lang="es-VE" sz="10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44" name="Shape"/>
          <p:cNvSpPr/>
          <p:nvPr/>
        </p:nvSpPr>
        <p:spPr>
          <a:xfrm>
            <a:off x="6035040" y="5385816"/>
            <a:ext cx="5699455" cy="877824"/>
          </a:xfrm>
          <a:prstGeom prst="roundRect">
            <a:avLst>
              <a:gd name="adj" fmla="val 7000"/>
            </a:avLst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5" name="Text"/>
          <p:cNvSpPr txBox="1"/>
          <p:nvPr/>
        </p:nvSpPr>
        <p:spPr>
          <a:xfrm>
            <a:off x="6263640" y="5477256"/>
            <a:ext cx="5242255" cy="6949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lang="es-VE" sz="900" b="1" spc="12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→ AHORA</a:t>
            </a:r>
            <a:endParaRPr lang="es-VE" sz="900" b="1" spc="120" dirty="0">
              <a:solidFill>
                <a:srgbClr val="E9C46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l">
              <a:lnSpc>
                <a:spcPct val="105000"/>
              </a:lnSpc>
              <a:buNone/>
            </a:pPr>
            <a:r>
              <a:rPr lang="es-ES" sz="10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GPS solo conoce la placa: aquí se le pone código, conductor y flota, y ninguna unidad nueva queda sin registrar.</a:t>
            </a:r>
            <a:endParaRPr lang="es-VE" sz="105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342035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portes Combusti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"/>
          <p:cNvSpPr/>
          <p:nvPr/>
        </p:nvSpPr>
        <p:spPr>
          <a:xfrm>
            <a:off x="457200" y="32918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ADCBF5-E901-1696-3AFF-B6DC9EE887C1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9768"/>
            <a:ext cx="219456" cy="219456"/>
          </a:xfrm>
          <a:prstGeom prst="rect">
            <a:avLst/>
          </a:prstGeom>
        </p:spPr>
      </p:pic>
      <p:sp>
        <p:nvSpPr>
          <p:cNvPr id="103" name="Text"/>
          <p:cNvSpPr txBox="1"/>
          <p:nvPr/>
        </p:nvSpPr>
        <p:spPr>
          <a:xfrm>
            <a:off x="1005840" y="256032"/>
            <a:ext cx="8412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sv-SE" sz="25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Tracker GPS · Mapa en Vivo</a:t>
            </a:r>
            <a:endParaRPr lang="es-VE" sz="25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104" name="Shape"/>
          <p:cNvSpPr/>
          <p:nvPr/>
        </p:nvSpPr>
        <p:spPr>
          <a:xfrm>
            <a:off x="9997135" y="36576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"/>
          <p:cNvSpPr txBox="1"/>
          <p:nvPr/>
        </p:nvSpPr>
        <p:spPr>
          <a:xfrm>
            <a:off x="9997135" y="36576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 04</a:t>
            </a:r>
            <a:endParaRPr lang="es-VE" sz="1000" b="1" dirty="0">
              <a:solidFill>
                <a:srgbClr val="0E243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6" name="Line"/>
          <p:cNvSpPr/>
          <p:nvPr/>
        </p:nvSpPr>
        <p:spPr>
          <a:xfrm>
            <a:off x="457200" y="896112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"/>
          <p:cNvSpPr/>
          <p:nvPr/>
        </p:nvSpPr>
        <p:spPr>
          <a:xfrm>
            <a:off x="457200" y="1143000"/>
            <a:ext cx="6903720" cy="445743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49EF03-2870-C216-FC9D-3C59EC916028}"/>
              </a:ext>
            </a:extLst>
          </p:cNvPr>
          <p:cNvPicPr>
            <a:picLocks/>
          </p:cNvPicPr>
          <p:nvPr/>
        </p:nvPicPr>
        <p:blipFill>
          <a:blip r:embed="rId3"/>
          <a:srcRect l="7342"/>
          <a:stretch>
            <a:fillRect/>
          </a:stretch>
        </p:blipFill>
        <p:spPr>
          <a:xfrm>
            <a:off x="530352" y="1216153"/>
            <a:ext cx="6757416" cy="4311127"/>
          </a:xfrm>
          <a:prstGeom prst="rect">
            <a:avLst/>
          </a:prstGeom>
        </p:spPr>
      </p:pic>
      <p:sp>
        <p:nvSpPr>
          <p:cNvPr id="109" name="Text"/>
          <p:cNvSpPr txBox="1"/>
          <p:nvPr/>
        </p:nvSpPr>
        <p:spPr>
          <a:xfrm>
            <a:off x="530352" y="5691871"/>
            <a:ext cx="690372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" sz="1050" b="1" spc="10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EN VIVO</a:t>
            </a:r>
            <a:r>
              <a:rPr lang="es-ES" sz="1050" spc="10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ruta real de FP-VEH.02-10, 24/09/2026</a:t>
            </a:r>
            <a:endParaRPr lang="es-VE" sz="1050" spc="100" dirty="0">
              <a:solidFill>
                <a:srgbClr val="D99B0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0" name="Text"/>
          <p:cNvSpPr txBox="1"/>
          <p:nvPr/>
        </p:nvSpPr>
        <p:spPr>
          <a:xfrm>
            <a:off x="7726680" y="1143000"/>
            <a:ext cx="400781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MUESTRA</a:t>
            </a:r>
          </a:p>
        </p:txBody>
      </p:sp>
      <p:sp>
        <p:nvSpPr>
          <p:cNvPr id="111" name="Text"/>
          <p:cNvSpPr txBox="1"/>
          <p:nvPr/>
        </p:nvSpPr>
        <p:spPr>
          <a:xfrm>
            <a:off x="7726680" y="1472184"/>
            <a:ext cx="4007815" cy="21945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8000"/>
              </a:lnSpc>
              <a:spcAft>
                <a:spcPts val="6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unidad en su posición real, con un punto de color por estado.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08000"/>
              </a:lnSpc>
              <a:spcAft>
                <a:spcPts val="600"/>
              </a:spcAft>
              <a:buClr>
                <a:srgbClr val="0E2438"/>
              </a:buClr>
              <a:buSzPct val="100000"/>
              <a:buChar char="•"/>
            </a:pPr>
            <a:r>
              <a:rPr lang="es-VE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actualiza solo cada 30 segundos.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08000"/>
              </a:lnSpc>
              <a:spcAft>
                <a:spcPts val="6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 en una unidad, o elegirla en el selector, abre sus recorridos.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08000"/>
              </a:lnSpc>
              <a:spcAft>
                <a:spcPts val="6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"Ver ruta" dibuja el viaje real sobre el mapa y lo encuadra.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2" name="Text"/>
          <p:cNvSpPr txBox="1"/>
          <p:nvPr/>
        </p:nvSpPr>
        <p:spPr>
          <a:xfrm>
            <a:off x="7726680" y="2944368"/>
            <a:ext cx="400781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CLAVES DE LECTURA</a:t>
            </a:r>
          </a:p>
        </p:txBody>
      </p:sp>
      <p:sp>
        <p:nvSpPr>
          <p:cNvPr id="113" name="Shape"/>
          <p:cNvSpPr/>
          <p:nvPr/>
        </p:nvSpPr>
        <p:spPr>
          <a:xfrm>
            <a:off x="7726680" y="3264408"/>
            <a:ext cx="4007815" cy="731520"/>
          </a:xfrm>
          <a:prstGeom prst="roundRect">
            <a:avLst>
              <a:gd name="adj" fmla="val 8000"/>
            </a:avLst>
          </a:prstGeom>
          <a:solidFill>
            <a:srgbClr val="F7FAFC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"/>
          <p:cNvSpPr/>
          <p:nvPr/>
        </p:nvSpPr>
        <p:spPr>
          <a:xfrm>
            <a:off x="7863840" y="3401568"/>
            <a:ext cx="292608" cy="292608"/>
          </a:xfrm>
          <a:prstGeom prst="ellipse">
            <a:avLst/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5" name="Image" descr="Not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8704" y="3456432"/>
            <a:ext cx="182880" cy="182880"/>
          </a:xfrm>
          <a:prstGeom prst="rect">
            <a:avLst/>
          </a:prstGeom>
        </p:spPr>
      </p:pic>
      <p:sp>
        <p:nvSpPr>
          <p:cNvPr id="116" name="Text"/>
          <p:cNvSpPr txBox="1"/>
          <p:nvPr/>
        </p:nvSpPr>
        <p:spPr>
          <a:xfrm>
            <a:off x="8275320" y="3355848"/>
            <a:ext cx="332201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15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Colores del punto</a:t>
            </a:r>
            <a:endParaRPr lang="es-VE" sz="115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ES" sz="9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Verde: activa · Rojo: estacionada · Amarillo: sin señal reciente.</a:t>
            </a:r>
            <a:endParaRPr lang="es-VE" sz="9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7" name="Shape"/>
          <p:cNvSpPr/>
          <p:nvPr/>
        </p:nvSpPr>
        <p:spPr>
          <a:xfrm>
            <a:off x="7726680" y="4069080"/>
            <a:ext cx="4007815" cy="731520"/>
          </a:xfrm>
          <a:prstGeom prst="roundRect">
            <a:avLst>
              <a:gd name="adj" fmla="val 8000"/>
            </a:avLst>
          </a:prstGeom>
          <a:solidFill>
            <a:srgbClr val="F7FAFC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Shape"/>
          <p:cNvSpPr/>
          <p:nvPr/>
        </p:nvSpPr>
        <p:spPr>
          <a:xfrm>
            <a:off x="7863840" y="4206240"/>
            <a:ext cx="292608" cy="292608"/>
          </a:xfrm>
          <a:prstGeom prst="ellipse">
            <a:avLst/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9" name="Image" descr="Not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8704" y="4261104"/>
            <a:ext cx="182880" cy="182880"/>
          </a:xfrm>
          <a:prstGeom prst="rect">
            <a:avLst/>
          </a:prstGeom>
        </p:spPr>
      </p:pic>
      <p:sp>
        <p:nvSpPr>
          <p:cNvPr id="120" name="Text"/>
          <p:cNvSpPr txBox="1"/>
          <p:nvPr/>
        </p:nvSpPr>
        <p:spPr>
          <a:xfrm>
            <a:off x="8275320" y="4160520"/>
            <a:ext cx="332201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15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Ruta sobre el mapa</a:t>
            </a:r>
            <a:endParaRPr lang="es-VE" sz="115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ES" sz="9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línea azul es el camino que marcó el GPS en ese viaje.</a:t>
            </a:r>
            <a:endParaRPr lang="es-VE" sz="9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1" name="Shape"/>
          <p:cNvSpPr/>
          <p:nvPr/>
        </p:nvSpPr>
        <p:spPr>
          <a:xfrm>
            <a:off x="7726680" y="4937760"/>
            <a:ext cx="4007815" cy="991855"/>
          </a:xfrm>
          <a:prstGeom prst="roundRect">
            <a:avLst>
              <a:gd name="adj" fmla="val 7000"/>
            </a:avLst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2" name="Text"/>
          <p:cNvSpPr txBox="1"/>
          <p:nvPr/>
        </p:nvSpPr>
        <p:spPr>
          <a:xfrm>
            <a:off x="7927848" y="5010912"/>
            <a:ext cx="3605479" cy="8455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s-VE" sz="900" b="1" spc="12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SUPERVISIÓN</a:t>
            </a:r>
            <a:endParaRPr lang="es-VE" sz="900" b="1" spc="120" dirty="0">
              <a:solidFill>
                <a:srgbClr val="E9C46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ES" sz="10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está cada unidad y por dónde pasó, sin salir del sistema ni entrar al portal del GPS.</a:t>
            </a:r>
            <a:endParaRPr lang="es-VE" sz="105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855942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portes Di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"/>
          <p:cNvSpPr/>
          <p:nvPr/>
        </p:nvSpPr>
        <p:spPr>
          <a:xfrm>
            <a:off x="457200" y="32918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E1304B7-B666-73A6-96E3-7BB982A3077A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9768"/>
            <a:ext cx="219456" cy="219456"/>
          </a:xfrm>
          <a:prstGeom prst="rect">
            <a:avLst/>
          </a:prstGeom>
        </p:spPr>
      </p:pic>
      <p:sp>
        <p:nvSpPr>
          <p:cNvPr id="103" name="Text"/>
          <p:cNvSpPr txBox="1"/>
          <p:nvPr/>
        </p:nvSpPr>
        <p:spPr>
          <a:xfrm>
            <a:off x="1005840" y="256032"/>
            <a:ext cx="8412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25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Tracker GPS · Recorridos</a:t>
            </a:r>
            <a:endParaRPr lang="es-VE" sz="25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104" name="Shape"/>
          <p:cNvSpPr/>
          <p:nvPr/>
        </p:nvSpPr>
        <p:spPr>
          <a:xfrm>
            <a:off x="9997135" y="36576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"/>
          <p:cNvSpPr txBox="1"/>
          <p:nvPr/>
        </p:nvSpPr>
        <p:spPr>
          <a:xfrm>
            <a:off x="9997135" y="36576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 04</a:t>
            </a:r>
            <a:endParaRPr lang="es-VE" sz="1000" b="1" dirty="0">
              <a:solidFill>
                <a:srgbClr val="0E243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6" name="Line"/>
          <p:cNvSpPr/>
          <p:nvPr/>
        </p:nvSpPr>
        <p:spPr>
          <a:xfrm>
            <a:off x="457200" y="896112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"/>
          <p:cNvSpPr/>
          <p:nvPr/>
        </p:nvSpPr>
        <p:spPr>
          <a:xfrm>
            <a:off x="457200" y="1234440"/>
            <a:ext cx="11277295" cy="3195835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FCD2C1-CFC9-0799-CF29-B80E5DE1F2E5}"/>
              </a:ext>
            </a:extLst>
          </p:cNvPr>
          <p:cNvPicPr>
            <a:picLocks/>
          </p:cNvPicPr>
          <p:nvPr/>
        </p:nvPicPr>
        <p:blipFill>
          <a:blip r:embed="rId3"/>
          <a:srcRect b="4350"/>
          <a:stretch>
            <a:fillRect/>
          </a:stretch>
        </p:blipFill>
        <p:spPr>
          <a:xfrm>
            <a:off x="530353" y="1307592"/>
            <a:ext cx="11130991" cy="3049531"/>
          </a:xfrm>
          <a:prstGeom prst="rect">
            <a:avLst/>
          </a:prstGeom>
        </p:spPr>
      </p:pic>
      <p:sp>
        <p:nvSpPr>
          <p:cNvPr id="109" name="Text"/>
          <p:cNvSpPr txBox="1"/>
          <p:nvPr/>
        </p:nvSpPr>
        <p:spPr>
          <a:xfrm>
            <a:off x="530352" y="4521715"/>
            <a:ext cx="11277295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" sz="1050" b="1" spc="10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RECORRIDOS POR UNIDAD</a:t>
            </a:r>
            <a:r>
              <a:rPr lang="es-ES" sz="1050" spc="10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ejemplo: FP-VEH.02-10, 24/09/2026 · 3 viajes, 116.99 km</a:t>
            </a:r>
            <a:endParaRPr lang="es-VE" sz="1050" spc="100" dirty="0">
              <a:solidFill>
                <a:srgbClr val="D99B0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0" name="Shape"/>
          <p:cNvSpPr/>
          <p:nvPr/>
        </p:nvSpPr>
        <p:spPr>
          <a:xfrm>
            <a:off x="457200" y="4978915"/>
            <a:ext cx="2716454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1" name="Shape"/>
          <p:cNvSpPr/>
          <p:nvPr/>
        </p:nvSpPr>
        <p:spPr>
          <a:xfrm>
            <a:off x="640080" y="5161795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DC8646D-5B49-5BBE-8852-9005C3A21BD0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5244091"/>
            <a:ext cx="219456" cy="219456"/>
          </a:xfrm>
          <a:prstGeom prst="rect">
            <a:avLst/>
          </a:prstGeom>
        </p:spPr>
      </p:pic>
      <p:sp>
        <p:nvSpPr>
          <p:cNvPr id="113" name="Text"/>
          <p:cNvSpPr txBox="1"/>
          <p:nvPr/>
        </p:nvSpPr>
        <p:spPr>
          <a:xfrm>
            <a:off x="1143000" y="5161795"/>
            <a:ext cx="1893494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3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Cualquier día</a:t>
            </a:r>
            <a:endParaRPr lang="es-VE" sz="13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114" name="Text"/>
          <p:cNvSpPr txBox="1"/>
          <p:nvPr/>
        </p:nvSpPr>
        <p:spPr>
          <a:xfrm>
            <a:off x="640080" y="5710435"/>
            <a:ext cx="2350694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spcAft>
                <a:spcPts val="400"/>
              </a:spcAft>
              <a:buNone/>
            </a:pPr>
            <a:r>
              <a:rPr lang="es-ES" sz="120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elige la unidad y la fecha para ver todos sus viajes.</a:t>
            </a:r>
            <a:endParaRPr lang="es-VE" sz="120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5" name="Shape"/>
          <p:cNvSpPr/>
          <p:nvPr/>
        </p:nvSpPr>
        <p:spPr>
          <a:xfrm>
            <a:off x="3310814" y="4978915"/>
            <a:ext cx="2716454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6" name="Shape"/>
          <p:cNvSpPr/>
          <p:nvPr/>
        </p:nvSpPr>
        <p:spPr>
          <a:xfrm>
            <a:off x="3493694" y="5161795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A41FC6D-044C-9321-F886-23E17C0CE1E3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3575990" y="5244091"/>
            <a:ext cx="219456" cy="219456"/>
          </a:xfrm>
          <a:prstGeom prst="rect">
            <a:avLst/>
          </a:prstGeom>
        </p:spPr>
      </p:pic>
      <p:sp>
        <p:nvSpPr>
          <p:cNvPr id="118" name="Text"/>
          <p:cNvSpPr txBox="1"/>
          <p:nvPr/>
        </p:nvSpPr>
        <p:spPr>
          <a:xfrm>
            <a:off x="3996614" y="5161795"/>
            <a:ext cx="1893494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3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Resumen del día</a:t>
            </a:r>
            <a:endParaRPr lang="es-VE" sz="13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119" name="Text"/>
          <p:cNvSpPr txBox="1"/>
          <p:nvPr/>
        </p:nvSpPr>
        <p:spPr>
          <a:xfrm>
            <a:off x="3493694" y="5710435"/>
            <a:ext cx="2350694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spcAft>
                <a:spcPts val="400"/>
              </a:spcAft>
              <a:buNone/>
            </a:pPr>
            <a:r>
              <a:rPr lang="es-ES" sz="120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Viajes, km, primera salida, última llegada, tiempo en movimiento y estacionado.</a:t>
            </a:r>
            <a:endParaRPr lang="es-VE" sz="120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0" name="Shape"/>
          <p:cNvSpPr/>
          <p:nvPr/>
        </p:nvSpPr>
        <p:spPr>
          <a:xfrm>
            <a:off x="6164428" y="4978915"/>
            <a:ext cx="2716454" cy="1600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1" name="Shape"/>
          <p:cNvSpPr/>
          <p:nvPr/>
        </p:nvSpPr>
        <p:spPr>
          <a:xfrm>
            <a:off x="6347308" y="5161795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0BFAB69-43FE-2E8E-A49C-F09584D80FEF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6429604" y="5244091"/>
            <a:ext cx="219456" cy="219456"/>
          </a:xfrm>
          <a:prstGeom prst="rect">
            <a:avLst/>
          </a:prstGeom>
        </p:spPr>
      </p:pic>
      <p:sp>
        <p:nvSpPr>
          <p:cNvPr id="123" name="Text"/>
          <p:cNvSpPr txBox="1"/>
          <p:nvPr/>
        </p:nvSpPr>
        <p:spPr>
          <a:xfrm>
            <a:off x="6850228" y="5161795"/>
            <a:ext cx="1893494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3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entradas</a:t>
            </a:r>
            <a:endParaRPr lang="es-VE" sz="13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124" name="Text"/>
          <p:cNvSpPr txBox="1"/>
          <p:nvPr/>
        </p:nvSpPr>
        <p:spPr>
          <a:xfrm>
            <a:off x="6347308" y="5710435"/>
            <a:ext cx="2350694" cy="7772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spcAft>
                <a:spcPts val="400"/>
              </a:spcAft>
              <a:buNone/>
            </a:pPr>
            <a:r>
              <a:rPr lang="es-ES" sz="1200" b="1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en Vivo → Ver ruta</a:t>
            </a:r>
            <a:endParaRPr lang="es-VE" sz="1200" b="1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l">
              <a:lnSpc>
                <a:spcPct val="110000"/>
              </a:lnSpc>
              <a:spcAft>
                <a:spcPts val="400"/>
              </a:spcAft>
              <a:buNone/>
            </a:pPr>
            <a:r>
              <a:rPr lang="es-ES" sz="1200" b="1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→ desde la hora de la alerta</a:t>
            </a:r>
            <a:endParaRPr lang="es-VE" sz="1200" b="1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5" name="Shape"/>
          <p:cNvSpPr/>
          <p:nvPr/>
        </p:nvSpPr>
        <p:spPr>
          <a:xfrm>
            <a:off x="9018041" y="4978915"/>
            <a:ext cx="2716454" cy="1600200"/>
          </a:xfrm>
          <a:prstGeom prst="roundRect">
            <a:avLst>
              <a:gd name="adj" fmla="val 7000"/>
            </a:avLst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6" name="Text"/>
          <p:cNvSpPr txBox="1"/>
          <p:nvPr/>
        </p:nvSpPr>
        <p:spPr>
          <a:xfrm>
            <a:off x="9219209" y="5116075"/>
            <a:ext cx="2314118" cy="1325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lang="es-VE" sz="900" b="1" spc="12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REVISIÓN</a:t>
            </a:r>
            <a:endParaRPr lang="es-VE" sz="900" b="1" spc="120" dirty="0">
              <a:solidFill>
                <a:srgbClr val="E9C46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l">
              <a:lnSpc>
                <a:spcPct val="105000"/>
              </a:lnSpc>
              <a:buNone/>
            </a:pPr>
            <a:r>
              <a:rPr lang="es-ES" sz="12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reconstruir qué hizo una unidad antes y después de una alerta.</a:t>
            </a:r>
            <a:endParaRPr lang="es-VE" sz="120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0907704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portes Combusti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"/>
          <p:cNvSpPr/>
          <p:nvPr/>
        </p:nvSpPr>
        <p:spPr>
          <a:xfrm>
            <a:off x="457200" y="32918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2714FB9-446F-AFB0-C8F3-90379B2B971F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9768"/>
            <a:ext cx="219456" cy="219456"/>
          </a:xfrm>
          <a:prstGeom prst="rect">
            <a:avLst/>
          </a:prstGeom>
        </p:spPr>
      </p:pic>
      <p:sp>
        <p:nvSpPr>
          <p:cNvPr id="103" name="Text"/>
          <p:cNvSpPr txBox="1"/>
          <p:nvPr/>
        </p:nvSpPr>
        <p:spPr>
          <a:xfrm>
            <a:off x="1005840" y="256032"/>
            <a:ext cx="8412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25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Tracker GPS · Alertas</a:t>
            </a:r>
            <a:endParaRPr lang="es-VE" sz="25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104" name="Shape"/>
          <p:cNvSpPr/>
          <p:nvPr/>
        </p:nvSpPr>
        <p:spPr>
          <a:xfrm>
            <a:off x="9997135" y="36576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"/>
          <p:cNvSpPr txBox="1"/>
          <p:nvPr/>
        </p:nvSpPr>
        <p:spPr>
          <a:xfrm>
            <a:off x="9997135" y="36576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 04</a:t>
            </a:r>
            <a:endParaRPr lang="es-VE" sz="1000" b="1" dirty="0">
              <a:solidFill>
                <a:srgbClr val="0E243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6" name="Line"/>
          <p:cNvSpPr/>
          <p:nvPr/>
        </p:nvSpPr>
        <p:spPr>
          <a:xfrm>
            <a:off x="457200" y="896112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"/>
          <p:cNvSpPr/>
          <p:nvPr/>
        </p:nvSpPr>
        <p:spPr>
          <a:xfrm>
            <a:off x="457200" y="1143000"/>
            <a:ext cx="6903720" cy="445743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3E78ED-C4BF-8B8E-2217-ECAED5F254ED}"/>
              </a:ext>
            </a:extLst>
          </p:cNvPr>
          <p:cNvPicPr>
            <a:picLocks/>
          </p:cNvPicPr>
          <p:nvPr/>
        </p:nvPicPr>
        <p:blipFill>
          <a:blip r:embed="rId3"/>
          <a:srcRect r="48"/>
          <a:stretch>
            <a:fillRect/>
          </a:stretch>
        </p:blipFill>
        <p:spPr>
          <a:xfrm>
            <a:off x="530352" y="1216153"/>
            <a:ext cx="6757416" cy="4311127"/>
          </a:xfrm>
          <a:prstGeom prst="rect">
            <a:avLst/>
          </a:prstGeom>
        </p:spPr>
      </p:pic>
      <p:sp>
        <p:nvSpPr>
          <p:cNvPr id="109" name="Text"/>
          <p:cNvSpPr txBox="1"/>
          <p:nvPr/>
        </p:nvSpPr>
        <p:spPr>
          <a:xfrm>
            <a:off x="530352" y="5691871"/>
            <a:ext cx="690372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" sz="1050" b="1" spc="10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 · ALARMAS</a:t>
            </a:r>
            <a:r>
              <a:rPr lang="es-ES" sz="1050" spc="10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alerta real del 24/09/2026</a:t>
            </a:r>
            <a:endParaRPr lang="es-VE" sz="1050" spc="100" dirty="0">
              <a:solidFill>
                <a:srgbClr val="D99B0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0" name="Text"/>
          <p:cNvSpPr txBox="1"/>
          <p:nvPr/>
        </p:nvSpPr>
        <p:spPr>
          <a:xfrm>
            <a:off x="7726680" y="1143000"/>
            <a:ext cx="400781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MUESTRA</a:t>
            </a:r>
          </a:p>
        </p:txBody>
      </p:sp>
      <p:sp>
        <p:nvSpPr>
          <p:cNvPr id="111" name="Text"/>
          <p:cNvSpPr txBox="1"/>
          <p:nvPr/>
        </p:nvSpPr>
        <p:spPr>
          <a:xfrm>
            <a:off x="7726680" y="1472184"/>
            <a:ext cx="4007815" cy="21945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08000"/>
              </a:lnSpc>
              <a:spcAft>
                <a:spcPts val="6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alerta con su mensaje completo y si llegó a Telegram.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08000"/>
              </a:lnSpc>
              <a:spcAft>
                <a:spcPts val="6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día: entradas y salidas de geocerca, según GEvolution.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08000"/>
              </a:lnSpc>
              <a:spcAft>
                <a:spcPts val="6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noche: fuera de horario a las 8:00, 8:30 y 9:00 pm.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2" name="Text"/>
          <p:cNvSpPr txBox="1"/>
          <p:nvPr/>
        </p:nvSpPr>
        <p:spPr>
          <a:xfrm>
            <a:off x="7726680" y="2944368"/>
            <a:ext cx="400781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CLAVES DE LECTURA</a:t>
            </a:r>
          </a:p>
        </p:txBody>
      </p:sp>
      <p:sp>
        <p:nvSpPr>
          <p:cNvPr id="113" name="Shape"/>
          <p:cNvSpPr/>
          <p:nvPr/>
        </p:nvSpPr>
        <p:spPr>
          <a:xfrm>
            <a:off x="7726680" y="3264408"/>
            <a:ext cx="4007815" cy="731520"/>
          </a:xfrm>
          <a:prstGeom prst="roundRect">
            <a:avLst>
              <a:gd name="adj" fmla="val 8000"/>
            </a:avLst>
          </a:prstGeom>
          <a:solidFill>
            <a:srgbClr val="F7FAFC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"/>
          <p:cNvSpPr/>
          <p:nvPr/>
        </p:nvSpPr>
        <p:spPr>
          <a:xfrm>
            <a:off x="7863840" y="3401568"/>
            <a:ext cx="292608" cy="292608"/>
          </a:xfrm>
          <a:prstGeom prst="ellipse">
            <a:avLst/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5" name="Image" descr="Not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8704" y="3456432"/>
            <a:ext cx="182880" cy="182880"/>
          </a:xfrm>
          <a:prstGeom prst="rect">
            <a:avLst/>
          </a:prstGeom>
        </p:spPr>
      </p:pic>
      <p:sp>
        <p:nvSpPr>
          <p:cNvPr id="116" name="Text"/>
          <p:cNvSpPr txBox="1"/>
          <p:nvPr/>
        </p:nvSpPr>
        <p:spPr>
          <a:xfrm>
            <a:off x="8275320" y="3355848"/>
            <a:ext cx="332201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15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ALARMA o ATENCIÓN</a:t>
            </a:r>
            <a:endParaRPr lang="es-VE" sz="115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ES" sz="9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 geocerca es crítica en GEvolution llega como ALARMA; si no, como ATENCIÓN.</a:t>
            </a:r>
            <a:endParaRPr lang="es-VE" sz="9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7" name="Shape"/>
          <p:cNvSpPr/>
          <p:nvPr/>
        </p:nvSpPr>
        <p:spPr>
          <a:xfrm>
            <a:off x="7726680" y="4069080"/>
            <a:ext cx="4007815" cy="731520"/>
          </a:xfrm>
          <a:prstGeom prst="roundRect">
            <a:avLst>
              <a:gd name="adj" fmla="val 8000"/>
            </a:avLst>
          </a:prstGeom>
          <a:solidFill>
            <a:srgbClr val="F7FAFC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8" name="Shape"/>
          <p:cNvSpPr/>
          <p:nvPr/>
        </p:nvSpPr>
        <p:spPr>
          <a:xfrm>
            <a:off x="7863840" y="4206240"/>
            <a:ext cx="292608" cy="292608"/>
          </a:xfrm>
          <a:prstGeom prst="ellipse">
            <a:avLst/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9" name="Image" descr="Nota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8704" y="4261104"/>
            <a:ext cx="182880" cy="182880"/>
          </a:xfrm>
          <a:prstGeom prst="rect">
            <a:avLst/>
          </a:prstGeom>
        </p:spPr>
      </p:pic>
      <p:sp>
        <p:nvSpPr>
          <p:cNvPr id="120" name="Text"/>
          <p:cNvSpPr txBox="1"/>
          <p:nvPr/>
        </p:nvSpPr>
        <p:spPr>
          <a:xfrm>
            <a:off x="8275320" y="4160520"/>
            <a:ext cx="3322015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15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avisos repetidos</a:t>
            </a:r>
            <a:endParaRPr lang="es-VE" sz="115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ES" sz="95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evento se avisa una sola vez, sin repetir mensajes.</a:t>
            </a:r>
            <a:endParaRPr lang="es-VE" sz="95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1" name="Shape"/>
          <p:cNvSpPr/>
          <p:nvPr/>
        </p:nvSpPr>
        <p:spPr>
          <a:xfrm>
            <a:off x="7726680" y="4937760"/>
            <a:ext cx="4007815" cy="991855"/>
          </a:xfrm>
          <a:prstGeom prst="roundRect">
            <a:avLst>
              <a:gd name="adj" fmla="val 7000"/>
            </a:avLst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2" name="Text"/>
          <p:cNvSpPr txBox="1"/>
          <p:nvPr/>
        </p:nvSpPr>
        <p:spPr>
          <a:xfrm>
            <a:off x="7927848" y="5010912"/>
            <a:ext cx="3605479" cy="84555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s-VE" sz="900" b="1" spc="12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SUPERVISIÓN</a:t>
            </a:r>
            <a:endParaRPr lang="es-VE" sz="900" b="1" spc="120" dirty="0">
              <a:solidFill>
                <a:srgbClr val="E9C46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ES" sz="10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los avisos que importan: nada de mensajes continuos, y el historial se borra solo a los 8 días.</a:t>
            </a:r>
            <a:endParaRPr lang="es-VE" sz="105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2861935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mbusti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"/>
          <p:cNvSpPr/>
          <p:nvPr/>
        </p:nvSpPr>
        <p:spPr>
          <a:xfrm>
            <a:off x="457200" y="32918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1785ADA-0E53-1B84-C6C5-5A651D1BFF6F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9768"/>
            <a:ext cx="219456" cy="219456"/>
          </a:xfrm>
          <a:prstGeom prst="rect">
            <a:avLst/>
          </a:prstGeom>
        </p:spPr>
      </p:pic>
      <p:sp>
        <p:nvSpPr>
          <p:cNvPr id="103" name="Text"/>
          <p:cNvSpPr txBox="1"/>
          <p:nvPr/>
        </p:nvSpPr>
        <p:spPr>
          <a:xfrm>
            <a:off x="1005840" y="256032"/>
            <a:ext cx="8412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25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Tracker GPS · Telegram</a:t>
            </a:r>
            <a:endParaRPr lang="es-VE" sz="25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104" name="Shape"/>
          <p:cNvSpPr/>
          <p:nvPr/>
        </p:nvSpPr>
        <p:spPr>
          <a:xfrm>
            <a:off x="9997135" y="36576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"/>
          <p:cNvSpPr txBox="1"/>
          <p:nvPr/>
        </p:nvSpPr>
        <p:spPr>
          <a:xfrm>
            <a:off x="9997135" y="36576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 04</a:t>
            </a:r>
            <a:endParaRPr lang="es-VE" sz="1000" b="1" dirty="0">
              <a:solidFill>
                <a:srgbClr val="0E243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6" name="Line"/>
          <p:cNvSpPr/>
          <p:nvPr/>
        </p:nvSpPr>
        <p:spPr>
          <a:xfrm>
            <a:off x="457200" y="896112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"/>
          <p:cNvSpPr/>
          <p:nvPr/>
        </p:nvSpPr>
        <p:spPr>
          <a:xfrm>
            <a:off x="457200" y="1143000"/>
            <a:ext cx="7589520" cy="3732169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B4D9EC-FF30-6C1E-B2F4-41EEBFEC5486}"/>
              </a:ext>
            </a:extLst>
          </p:cNvPr>
          <p:cNvPicPr>
            <a:picLocks/>
          </p:cNvPicPr>
          <p:nvPr/>
        </p:nvPicPr>
        <p:blipFill>
          <a:blip r:embed="rId3"/>
          <a:srcRect r="68"/>
          <a:stretch>
            <a:fillRect/>
          </a:stretch>
        </p:blipFill>
        <p:spPr>
          <a:xfrm>
            <a:off x="530352" y="1216153"/>
            <a:ext cx="7443216" cy="3585865"/>
          </a:xfrm>
          <a:prstGeom prst="rect">
            <a:avLst/>
          </a:prstGeom>
        </p:spPr>
      </p:pic>
      <p:sp>
        <p:nvSpPr>
          <p:cNvPr id="109" name="Text"/>
          <p:cNvSpPr txBox="1"/>
          <p:nvPr/>
        </p:nvSpPr>
        <p:spPr>
          <a:xfrm>
            <a:off x="530352" y="4966609"/>
            <a:ext cx="758952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" sz="1050" b="1" spc="10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SUSCRIPTORES DE TELEGRAM</a:t>
            </a:r>
            <a:r>
              <a:rPr lang="es-ES" sz="1050" spc="10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acceso al bot con aprobación</a:t>
            </a:r>
            <a:endParaRPr lang="es-VE" sz="1050" spc="100" dirty="0">
              <a:solidFill>
                <a:srgbClr val="D99B0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0" name="Shape"/>
          <p:cNvSpPr/>
          <p:nvPr/>
        </p:nvSpPr>
        <p:spPr>
          <a:xfrm>
            <a:off x="457200" y="5378089"/>
            <a:ext cx="243840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"/>
          <p:cNvSpPr/>
          <p:nvPr/>
        </p:nvSpPr>
        <p:spPr>
          <a:xfrm>
            <a:off x="594360" y="5688985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0E5CCA2-BE3E-2644-48E4-B70F3ECCEECF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5771281"/>
            <a:ext cx="219456" cy="219456"/>
          </a:xfrm>
          <a:prstGeom prst="rect">
            <a:avLst/>
          </a:prstGeom>
        </p:spPr>
      </p:pic>
      <p:sp>
        <p:nvSpPr>
          <p:cNvPr id="113" name="Text"/>
          <p:cNvSpPr txBox="1"/>
          <p:nvPr/>
        </p:nvSpPr>
        <p:spPr>
          <a:xfrm>
            <a:off x="1097280" y="5451241"/>
            <a:ext cx="1706880" cy="8595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aprobación</a:t>
            </a:r>
            <a:endParaRPr lang="es-VE" sz="12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ES" sz="100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Quien escribe al bot queda pendiente hasta que se aprueba.</a:t>
            </a:r>
            <a:endParaRPr lang="es-VE" sz="100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4" name="Shape"/>
          <p:cNvSpPr/>
          <p:nvPr/>
        </p:nvSpPr>
        <p:spPr>
          <a:xfrm>
            <a:off x="3032760" y="5378089"/>
            <a:ext cx="243840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"/>
          <p:cNvSpPr/>
          <p:nvPr/>
        </p:nvSpPr>
        <p:spPr>
          <a:xfrm>
            <a:off x="3169920" y="5688985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CF31975-9791-242D-A47F-0EF7E098068C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3252216" y="5771281"/>
            <a:ext cx="219456" cy="219456"/>
          </a:xfrm>
          <a:prstGeom prst="rect">
            <a:avLst/>
          </a:prstGeom>
        </p:spPr>
      </p:pic>
      <p:sp>
        <p:nvSpPr>
          <p:cNvPr id="117" name="Text"/>
          <p:cNvSpPr txBox="1"/>
          <p:nvPr/>
        </p:nvSpPr>
        <p:spPr>
          <a:xfrm>
            <a:off x="3672840" y="5451241"/>
            <a:ext cx="1706880" cy="8595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Quitar acceso</a:t>
            </a:r>
            <a:endParaRPr lang="es-VE" sz="12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ES" sz="100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 de recibir al instante y no se reactiva solo.</a:t>
            </a:r>
            <a:endParaRPr lang="es-VE" sz="100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8" name="Shape"/>
          <p:cNvSpPr/>
          <p:nvPr/>
        </p:nvSpPr>
        <p:spPr>
          <a:xfrm>
            <a:off x="5608320" y="5378089"/>
            <a:ext cx="243840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"/>
          <p:cNvSpPr/>
          <p:nvPr/>
        </p:nvSpPr>
        <p:spPr>
          <a:xfrm>
            <a:off x="5745480" y="5688985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3012D1C-11CA-7789-5D7D-79A51D9FFA89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5827776" y="5771281"/>
            <a:ext cx="219456" cy="219456"/>
          </a:xfrm>
          <a:prstGeom prst="rect">
            <a:avLst/>
          </a:prstGeom>
        </p:spPr>
      </p:pic>
      <p:sp>
        <p:nvSpPr>
          <p:cNvPr id="121" name="Text"/>
          <p:cNvSpPr txBox="1"/>
          <p:nvPr/>
        </p:nvSpPr>
        <p:spPr>
          <a:xfrm>
            <a:off x="6248400" y="5451241"/>
            <a:ext cx="1706880" cy="8595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Aviso de solicitud</a:t>
            </a:r>
            <a:endParaRPr lang="es-VE" sz="12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ES" sz="100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pedido nuevo se avisa por el mismo bot.</a:t>
            </a:r>
            <a:endParaRPr lang="es-VE" sz="100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2" name="Text"/>
          <p:cNvSpPr txBox="1"/>
          <p:nvPr/>
        </p:nvSpPr>
        <p:spPr>
          <a:xfrm>
            <a:off x="8366760" y="1143000"/>
            <a:ext cx="336773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LLEGA AL CHAT</a:t>
            </a:r>
            <a:endParaRPr lang="es-VE" sz="1050" b="1" spc="150" dirty="0">
              <a:solidFill>
                <a:srgbClr val="D99B0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3" name="Text"/>
          <p:cNvSpPr txBox="1"/>
          <p:nvPr/>
        </p:nvSpPr>
        <p:spPr>
          <a:xfrm>
            <a:off x="8366760" y="1472184"/>
            <a:ext cx="3367735" cy="21031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alertas de geocerca y de fuera de horario, con mapa y recorrido del día.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reportes de turno, con el PDF adjunto.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aviso cuando alguien nuevo pide acceso.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4" name="Text"/>
          <p:cNvSpPr txBox="1"/>
          <p:nvPr/>
        </p:nvSpPr>
        <p:spPr>
          <a:xfrm>
            <a:off x="8366760" y="3017520"/>
            <a:ext cx="336773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DA ACCESO</a:t>
            </a:r>
            <a:endParaRPr lang="es-VE" sz="1050" b="1" spc="150" dirty="0">
              <a:solidFill>
                <a:srgbClr val="D99B0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5" name="Text"/>
          <p:cNvSpPr txBox="1"/>
          <p:nvPr/>
        </p:nvSpPr>
        <p:spPr>
          <a:xfrm>
            <a:off x="8366760" y="3346704"/>
            <a:ext cx="3367735" cy="21031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persona busca el bot y le escribe un mensaje.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Aparece como pendiente y se aprueba aquí.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"Quitar acceso" la retira en cualquier momento.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6" name="Shape"/>
          <p:cNvSpPr/>
          <p:nvPr/>
        </p:nvSpPr>
        <p:spPr>
          <a:xfrm>
            <a:off x="8366760" y="5378089"/>
            <a:ext cx="3367735" cy="1005840"/>
          </a:xfrm>
          <a:prstGeom prst="roundRect">
            <a:avLst>
              <a:gd name="adj" fmla="val 7000"/>
            </a:avLst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7" name="Text"/>
          <p:cNvSpPr txBox="1"/>
          <p:nvPr/>
        </p:nvSpPr>
        <p:spPr>
          <a:xfrm>
            <a:off x="8549640" y="5469529"/>
            <a:ext cx="3001975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lang="es-VE" sz="900" b="1" spc="12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→ AHORA</a:t>
            </a:r>
            <a:endParaRPr lang="es-VE" sz="900" b="1" spc="120" dirty="0">
              <a:solidFill>
                <a:srgbClr val="E9C46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l">
              <a:lnSpc>
                <a:spcPct val="105000"/>
              </a:lnSpc>
              <a:buNone/>
            </a:pPr>
            <a:r>
              <a:rPr lang="es-ES" sz="10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cualquiera que le escribiera al bot recibía la información de la flota; ahora solo quien se aprueba.</a:t>
            </a:r>
            <a:endParaRPr lang="es-VE" sz="105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0512560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mbusti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"/>
          <p:cNvSpPr/>
          <p:nvPr/>
        </p:nvSpPr>
        <p:spPr>
          <a:xfrm>
            <a:off x="457200" y="329184"/>
            <a:ext cx="420624" cy="420624"/>
          </a:xfrm>
          <a:prstGeom prst="roundRect">
            <a:avLst>
              <a:gd name="adj" fmla="val 26000"/>
            </a:avLst>
          </a:prstGeom>
          <a:solidFill>
            <a:srgbClr val="1E4D6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E86B11C-C965-B854-408B-ABEAD2E53B2A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" y="429768"/>
            <a:ext cx="219456" cy="219456"/>
          </a:xfrm>
          <a:prstGeom prst="rect">
            <a:avLst/>
          </a:prstGeom>
        </p:spPr>
      </p:pic>
      <p:sp>
        <p:nvSpPr>
          <p:cNvPr id="103" name="Text"/>
          <p:cNvSpPr txBox="1"/>
          <p:nvPr/>
        </p:nvSpPr>
        <p:spPr>
          <a:xfrm>
            <a:off x="1005840" y="256032"/>
            <a:ext cx="841248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BR" sz="25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Tracker GPS · Reportes de Turno</a:t>
            </a:r>
            <a:endParaRPr lang="es-VE" sz="25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</p:txBody>
      </p:sp>
      <p:sp>
        <p:nvSpPr>
          <p:cNvPr id="104" name="Shape"/>
          <p:cNvSpPr/>
          <p:nvPr/>
        </p:nvSpPr>
        <p:spPr>
          <a:xfrm>
            <a:off x="9997135" y="365760"/>
            <a:ext cx="1737360" cy="365760"/>
          </a:xfrm>
          <a:prstGeom prst="roundRect">
            <a:avLst>
              <a:gd name="adj" fmla="val 20000"/>
            </a:avLst>
          </a:prstGeom>
          <a:solidFill>
            <a:srgbClr val="EDF1F5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Text"/>
          <p:cNvSpPr txBox="1"/>
          <p:nvPr/>
        </p:nvSpPr>
        <p:spPr>
          <a:xfrm>
            <a:off x="9997135" y="365760"/>
            <a:ext cx="17373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VE" sz="1000" b="1">
                <a:solidFill>
                  <a:srgbClr val="0E24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NEXUS · Módulo 04</a:t>
            </a:r>
            <a:endParaRPr lang="es-VE" sz="1000" b="1" dirty="0">
              <a:solidFill>
                <a:srgbClr val="0E243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6" name="Line"/>
          <p:cNvSpPr/>
          <p:nvPr/>
        </p:nvSpPr>
        <p:spPr>
          <a:xfrm>
            <a:off x="457200" y="896112"/>
            <a:ext cx="11277295" cy="0"/>
          </a:xfrm>
          <a:prstGeom prst="line">
            <a:avLst/>
          </a:prstGeom>
          <a:noFill/>
          <a:ln w="12700">
            <a:solidFill>
              <a:srgbClr val="DDE3EA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"/>
          <p:cNvSpPr/>
          <p:nvPr/>
        </p:nvSpPr>
        <p:spPr>
          <a:xfrm>
            <a:off x="457200" y="1143000"/>
            <a:ext cx="7589520" cy="3732169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blurRad="127000" dist="38100" dir="5400000" algn="bl" rotWithShape="0">
              <a:srgbClr val="0E2438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4A5E25-8A6D-35FE-E81F-4B3F5194C2E9}"/>
              </a:ext>
            </a:extLst>
          </p:cNvPr>
          <p:cNvPicPr>
            <a:picLocks/>
          </p:cNvPicPr>
          <p:nvPr/>
        </p:nvPicPr>
        <p:blipFill>
          <a:blip r:embed="rId3"/>
          <a:srcRect r="68"/>
          <a:stretch>
            <a:fillRect/>
          </a:stretch>
        </p:blipFill>
        <p:spPr>
          <a:xfrm>
            <a:off x="530352" y="1216153"/>
            <a:ext cx="7443216" cy="3585865"/>
          </a:xfrm>
          <a:prstGeom prst="rect">
            <a:avLst/>
          </a:prstGeom>
        </p:spPr>
      </p:pic>
      <p:sp>
        <p:nvSpPr>
          <p:cNvPr id="109" name="Text"/>
          <p:cNvSpPr txBox="1"/>
          <p:nvPr/>
        </p:nvSpPr>
        <p:spPr>
          <a:xfrm>
            <a:off x="530352" y="4966609"/>
            <a:ext cx="758952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0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DE TURNO</a:t>
            </a:r>
            <a:r>
              <a:rPr lang="es-VE" sz="1050" spc="10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cada reporte queda guardado en el apartado de su turno</a:t>
            </a:r>
            <a:endParaRPr lang="es-VE" sz="1050" spc="100" dirty="0">
              <a:solidFill>
                <a:srgbClr val="D99B0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0" name="Shape"/>
          <p:cNvSpPr/>
          <p:nvPr/>
        </p:nvSpPr>
        <p:spPr>
          <a:xfrm>
            <a:off x="457200" y="5378089"/>
            <a:ext cx="243840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"/>
          <p:cNvSpPr/>
          <p:nvPr/>
        </p:nvSpPr>
        <p:spPr>
          <a:xfrm>
            <a:off x="594360" y="5688985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677E12E-3CAB-DF16-F53D-3A5E7DEB02EB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5771281"/>
            <a:ext cx="219456" cy="219456"/>
          </a:xfrm>
          <a:prstGeom prst="rect">
            <a:avLst/>
          </a:prstGeom>
        </p:spPr>
      </p:pic>
      <p:sp>
        <p:nvSpPr>
          <p:cNvPr id="113" name="Text"/>
          <p:cNvSpPr txBox="1"/>
          <p:nvPr/>
        </p:nvSpPr>
        <p:spPr>
          <a:xfrm>
            <a:off x="1097280" y="5451241"/>
            <a:ext cx="1706880" cy="8595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apartado por turno</a:t>
            </a:r>
            <a:endParaRPr lang="es-VE" sz="12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ES" sz="100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Matutino, Vespertino y Nocturno, cada uno aparte.</a:t>
            </a:r>
            <a:endParaRPr lang="es-VE" sz="100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4" name="Shape"/>
          <p:cNvSpPr/>
          <p:nvPr/>
        </p:nvSpPr>
        <p:spPr>
          <a:xfrm>
            <a:off x="3032760" y="5378089"/>
            <a:ext cx="243840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"/>
          <p:cNvSpPr/>
          <p:nvPr/>
        </p:nvSpPr>
        <p:spPr>
          <a:xfrm>
            <a:off x="3169920" y="5688985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A8DE659-7A74-BDF6-D2EE-0227B09E6BF5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3252216" y="5771281"/>
            <a:ext cx="219456" cy="219456"/>
          </a:xfrm>
          <a:prstGeom prst="rect">
            <a:avLst/>
          </a:prstGeom>
        </p:spPr>
      </p:pic>
      <p:sp>
        <p:nvSpPr>
          <p:cNvPr id="117" name="Text"/>
          <p:cNvSpPr txBox="1"/>
          <p:nvPr/>
        </p:nvSpPr>
        <p:spPr>
          <a:xfrm>
            <a:off x="3672840" y="5451241"/>
            <a:ext cx="1706880" cy="8595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 · PDF · Imagen</a:t>
            </a:r>
            <a:endParaRPr lang="es-VE" sz="12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ES" sz="100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reporte en tres formatos, listo para descargar.</a:t>
            </a:r>
            <a:endParaRPr lang="es-VE" sz="100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18" name="Shape"/>
          <p:cNvSpPr/>
          <p:nvPr/>
        </p:nvSpPr>
        <p:spPr>
          <a:xfrm>
            <a:off x="5608320" y="5378089"/>
            <a:ext cx="2438400" cy="10058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"/>
          <p:cNvSpPr/>
          <p:nvPr/>
        </p:nvSpPr>
        <p:spPr>
          <a:xfrm>
            <a:off x="5745480" y="5688985"/>
            <a:ext cx="384048" cy="384048"/>
          </a:xfrm>
          <a:prstGeom prst="ellipse">
            <a:avLst/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A8EED80-8AC8-8940-88A5-BF6F5B626696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5827776" y="5771281"/>
            <a:ext cx="219456" cy="219456"/>
          </a:xfrm>
          <a:prstGeom prst="rect">
            <a:avLst/>
          </a:prstGeom>
        </p:spPr>
      </p:pic>
      <p:sp>
        <p:nvSpPr>
          <p:cNvPr id="121" name="Text"/>
          <p:cNvSpPr txBox="1"/>
          <p:nvPr/>
        </p:nvSpPr>
        <p:spPr>
          <a:xfrm>
            <a:off x="6248400" y="5451241"/>
            <a:ext cx="1706880" cy="8595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100"/>
              </a:spcAft>
              <a:buNone/>
            </a:pPr>
            <a:r>
              <a:rPr lang="es-VE" sz="1200" b="1">
                <a:solidFill>
                  <a:srgbClr val="0E24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Llega a Telegram</a:t>
            </a:r>
            <a:endParaRPr lang="es-VE" sz="1200" b="1" dirty="0">
              <a:solidFill>
                <a:srgbClr val="0E2438"/>
              </a:solidFill>
              <a:latin typeface="Cambria" pitchFamily="34" charset="0"/>
              <a:ea typeface="Cambria" pitchFamily="34" charset="-122"/>
              <a:cs typeface="Cambria" pitchFamily="34" charset="-12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s-ES" sz="1000">
                <a:solidFill>
                  <a:srgbClr val="7C8B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PDF se envía solo al cerrar cada turno.</a:t>
            </a:r>
            <a:endParaRPr lang="es-VE" sz="1000" dirty="0">
              <a:solidFill>
                <a:srgbClr val="7C8B9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2" name="Text"/>
          <p:cNvSpPr txBox="1"/>
          <p:nvPr/>
        </p:nvSpPr>
        <p:spPr>
          <a:xfrm>
            <a:off x="8366760" y="1143000"/>
            <a:ext cx="336773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 dirty="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MUESTRA</a:t>
            </a:r>
          </a:p>
        </p:txBody>
      </p:sp>
      <p:sp>
        <p:nvSpPr>
          <p:cNvPr id="123" name="Text"/>
          <p:cNvSpPr txBox="1"/>
          <p:nvPr/>
        </p:nvSpPr>
        <p:spPr>
          <a:xfrm>
            <a:off x="8366760" y="1472184"/>
            <a:ext cx="3367735" cy="21031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fecha: total de unidades, activas, estacionadas y sin señal en el corte.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hora en que se generó y si llegó a Telegram.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Botones para descargar el Excel, el PDF o la imagen.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4" name="Text"/>
          <p:cNvSpPr txBox="1"/>
          <p:nvPr/>
        </p:nvSpPr>
        <p:spPr>
          <a:xfrm>
            <a:off x="8366760" y="3017520"/>
            <a:ext cx="3367735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VE" sz="1050" b="1" spc="150">
                <a:solidFill>
                  <a:srgbClr val="D99B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FUNCIONA</a:t>
            </a:r>
            <a:endParaRPr lang="es-VE" sz="1050" b="1" spc="150" dirty="0">
              <a:solidFill>
                <a:srgbClr val="D99B0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5" name="Text"/>
          <p:cNvSpPr txBox="1"/>
          <p:nvPr/>
        </p:nvSpPr>
        <p:spPr>
          <a:xfrm>
            <a:off x="8366760" y="3346704"/>
            <a:ext cx="3367735" cy="21031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genera solo a las 9:05 am, 2:05 pm y 9:05 pm, en la pestaña de su turno.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"Generar ahora" lo crea a cualquier hora.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7800" indent="-177800" algn="l">
              <a:lnSpc>
                <a:spcPct val="110000"/>
              </a:lnSpc>
              <a:spcAft>
                <a:spcPts val="700"/>
              </a:spcAft>
              <a:buClr>
                <a:srgbClr val="0E2438"/>
              </a:buClr>
              <a:buSzPct val="100000"/>
              <a:buChar char="•"/>
            </a:pPr>
            <a:r>
              <a:rPr lang="es-ES" sz="1150">
                <a:solidFill>
                  <a:srgbClr val="1532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También sale en el formato del modelo interno.</a:t>
            </a:r>
            <a:endParaRPr lang="es-VE" sz="1150" dirty="0">
              <a:solidFill>
                <a:srgbClr val="15324D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26" name="Shape"/>
          <p:cNvSpPr/>
          <p:nvPr/>
        </p:nvSpPr>
        <p:spPr>
          <a:xfrm>
            <a:off x="8366760" y="5378089"/>
            <a:ext cx="3367735" cy="1005840"/>
          </a:xfrm>
          <a:prstGeom prst="roundRect">
            <a:avLst>
              <a:gd name="adj" fmla="val 7000"/>
            </a:avLst>
          </a:prstGeom>
          <a:solidFill>
            <a:srgbClr val="0E243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7" name="Text"/>
          <p:cNvSpPr txBox="1"/>
          <p:nvPr/>
        </p:nvSpPr>
        <p:spPr>
          <a:xfrm>
            <a:off x="8549640" y="5469529"/>
            <a:ext cx="3001975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300"/>
              </a:spcAft>
              <a:buNone/>
            </a:pPr>
            <a:r>
              <a:rPr lang="es-VE" sz="900" b="1" spc="12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GERENCIA</a:t>
            </a:r>
            <a:endParaRPr lang="es-VE" sz="900" b="1" spc="120" dirty="0">
              <a:solidFill>
                <a:srgbClr val="E9C46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l">
              <a:lnSpc>
                <a:spcPct val="105000"/>
              </a:lnSpc>
              <a:buNone/>
            </a:pPr>
            <a:r>
              <a:rPr lang="es-ES" sz="10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flota en cada cambio de turno, guardada por turno, sin armar reportes a mano.</a:t>
            </a:r>
            <a:endParaRPr lang="es-VE" sz="1050" dirty="0">
              <a:solidFill>
                <a:srgbClr val="FFFFF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6671720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2703</Words>
  <Application>Microsoft Office PowerPoint</Application>
  <PresentationFormat>Widescreen</PresentationFormat>
  <Paragraphs>359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Aptos</vt:lpstr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ANALISTA TI-TRACKER</cp:lastModifiedBy>
  <cp:revision>3</cp:revision>
  <dcterms:created xsi:type="dcterms:W3CDTF">2026-09-18T20:59:00Z</dcterms:created>
  <dcterms:modified xsi:type="dcterms:W3CDTF">2026-09-24T17:39:49Z</dcterms:modified>
</cp:coreProperties>
</file>