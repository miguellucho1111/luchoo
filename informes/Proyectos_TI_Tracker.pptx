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1F212-34D7-4399-BCE0-06D8D6F55547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C2CC79-3E46-4CF4-B2B0-99208C854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99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ln w="38100">
            <a:solidFill>
              <a:srgbClr val="FBF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-1097280"/>
            <a:ext cx="4114800" cy="4114800"/>
          </a:xfrm>
          <a:prstGeom prst="ellipse">
            <a:avLst/>
          </a:prstGeom>
          <a:ln w="25400">
            <a:solidFill>
              <a:srgbClr val="EDF1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assets/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554480" cy="506675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0" y="132588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FULLPETRO · TECNOLOGÍA DE INFORMACIÓN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0" y="1600200"/>
            <a:ext cx="121920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4600" b="1" spc="100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PROYECTOS TI</a:t>
            </a:r>
          </a:p>
        </p:txBody>
      </p:sp>
      <p:pic>
        <p:nvPicPr>
          <p:cNvPr id="7" name="Logos proyectos" descr="Logos de los proyectos NEXUS, CENIT y VIS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880360"/>
            <a:ext cx="9509760" cy="2971800"/>
          </a:xfrm>
          <a:prstGeom prst="rect">
            <a:avLst/>
          </a:prstGeom>
        </p:spPr>
      </p:pic>
      <p:sp>
        <p:nvSpPr>
          <p:cNvPr id="8" name="Footer"/>
          <p:cNvSpPr txBox="1"/>
          <p:nvPr/>
        </p:nvSpPr>
        <p:spPr>
          <a:xfrm>
            <a:off x="0" y="617220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s-VE" sz="11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TI · PLATAFORMA CENTRAL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NEXUS · Sistema Centralizado de Operaciones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central de la operación de FullPetro</a:t>
            </a: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VE" sz="12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en un solo sistema lo que hoy está repartido entre Excel, portales de proveedores y reportes manuales: </a:t>
            </a:r>
            <a:r>
              <a:rPr lang="es-VE" sz="12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combustible, flota GPS, horas de equipos y reportes para gerencia.</a:t>
            </a: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Pensada para crecer:</a:t>
            </a:r>
          </a:p>
        </p:txBody>
      </p:sp>
      <p:sp>
        <p:nvSpPr>
          <p:cNvPr id="109" name="Shape"/>
          <p:cNvSpPr/>
          <p:nvPr/>
        </p:nvSpPr>
        <p:spPr>
          <a:xfrm>
            <a:off x="502920" y="32004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2920" y="3200400"/>
            <a:ext cx="960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</a:p>
        </p:txBody>
      </p:sp>
      <p:sp>
        <p:nvSpPr>
          <p:cNvPr id="111" name="Shape"/>
          <p:cNvSpPr/>
          <p:nvPr/>
        </p:nvSpPr>
        <p:spPr>
          <a:xfrm>
            <a:off x="1572768" y="320040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572768" y="3200400"/>
            <a:ext cx="11932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</a:p>
        </p:txBody>
      </p:sp>
      <p:sp>
        <p:nvSpPr>
          <p:cNvPr id="113" name="Shape"/>
          <p:cNvSpPr/>
          <p:nvPr/>
        </p:nvSpPr>
        <p:spPr>
          <a:xfrm>
            <a:off x="2875788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2875788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</a:t>
            </a:r>
          </a:p>
        </p:txBody>
      </p:sp>
      <p:sp>
        <p:nvSpPr>
          <p:cNvPr id="115" name="Shape"/>
          <p:cNvSpPr/>
          <p:nvPr/>
        </p:nvSpPr>
        <p:spPr>
          <a:xfrm>
            <a:off x="4023360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023360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Valuaciones</a:t>
            </a: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está dispersa en Excel, portales externos y registros a mano.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equipos y vehículos están registrados varias veces, cada uno de forma distinta.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y alertas dependen de que alguien los arme o los revise.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no tiene una vista consolidada de la operación.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🗂️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fuente de verdad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único de unidades y datos, compartido por todas las áreas.</a:t>
            </a: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📡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en tiempo real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unidades monitoreadas por GPS, con alertas automáticas de geocerca y horario.</a:t>
            </a: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⚙️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 solos por Telegram; horas y combustible calculados sin fórmulas manuales.</a:t>
            </a: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🔒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guarda quién lo hizo y su respaldo (ej. foto del ticket); cada rol ve solo lo suyo.</a:t>
            </a: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📈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para decisiones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consumo, horas y comportamiento de la flota construidos con datos reales.</a:t>
            </a: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1 completa</a:t>
            </a: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V1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· Tracker GPS · Control de Horas · Reportes · Seguridad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a producción · App móvil · Tarifas de rentabilidad</a:t>
            </a: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Node.js · PostgreSQL · GPS Foresight/GEvolution · Telegram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 modulo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 txBox="1"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MÓDULOS DE LA VERSIÓN 1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57200" y="65836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sistema, cinco módulos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del sistema web: cada módulo a un clic desde el panel de FullPetro</a:t>
            </a:r>
          </a:p>
        </p:txBody>
      </p:sp>
      <p:pic>
        <p:nvPicPr>
          <p:cNvPr id="104" name="Image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956" y="384048"/>
            <a:ext cx="1195539" cy="868680"/>
          </a:xfrm>
          <a:prstGeom prst="rect">
            <a:avLst/>
          </a:prstGeom>
        </p:spPr>
      </p:pic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"/>
          <p:cNvSpPr/>
          <p:nvPr/>
        </p:nvSpPr>
        <p:spPr>
          <a:xfrm>
            <a:off x="457200" y="1810512"/>
            <a:ext cx="6858000" cy="246415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7" name="Image" descr="Pantalla de inicio de NEXU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83664"/>
            <a:ext cx="6711696" cy="2317853"/>
          </a:xfrm>
          <a:prstGeom prst="rect">
            <a:avLst/>
          </a:prstGeom>
        </p:spPr>
      </p:pic>
      <p:sp>
        <p:nvSpPr>
          <p:cNvPr id="108" name="Text"/>
          <p:cNvSpPr txBox="1"/>
          <p:nvPr/>
        </p:nvSpPr>
        <p:spPr>
          <a:xfrm>
            <a:off x="530352" y="436610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INICIO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del usuario administrador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530352" y="477758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COMPARTEN TODOS LOS MÓDULOS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gistro úni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07941"/>
            <a:ext cx="201168" cy="201168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0584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único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59436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y equipos se registran una sola vez para todo el sistema.</a:t>
            </a:r>
          </a:p>
        </p:txBody>
      </p:sp>
      <p:sp>
        <p:nvSpPr>
          <p:cNvPr id="115" name="Shape"/>
          <p:cNvSpPr/>
          <p:nvPr/>
        </p:nvSpPr>
        <p:spPr>
          <a:xfrm>
            <a:off x="278892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292608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Acceso por ro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088" y="5307941"/>
            <a:ext cx="201168" cy="201168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33756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por rol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292608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ve solo los módulos y datos que le corresponden.</a:t>
            </a:r>
          </a:p>
        </p:txBody>
      </p:sp>
      <p:sp>
        <p:nvSpPr>
          <p:cNvPr id="120" name="Shape"/>
          <p:cNvSpPr/>
          <p:nvPr/>
        </p:nvSpPr>
        <p:spPr>
          <a:xfrm>
            <a:off x="512064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25780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Indicadores comu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808" y="5307941"/>
            <a:ext cx="201168" cy="201168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566928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comunes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525780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Consumo, horas y flota calculados sobre los mismos datos.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635240" y="1810512"/>
            <a:ext cx="40992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</a:p>
        </p:txBody>
      </p:sp>
      <p:sp>
        <p:nvSpPr>
          <p:cNvPr id="126" name="Shape"/>
          <p:cNvSpPr/>
          <p:nvPr/>
        </p:nvSpPr>
        <p:spPr>
          <a:xfrm>
            <a:off x="7635240" y="2121408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Shape"/>
          <p:cNvSpPr/>
          <p:nvPr/>
        </p:nvSpPr>
        <p:spPr>
          <a:xfrm>
            <a:off x="7781544" y="2272284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8" name="Image" descr="Combusti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16" y="2391156"/>
            <a:ext cx="237744" cy="237744"/>
          </a:xfrm>
          <a:prstGeom prst="rect">
            <a:avLst/>
          </a:prstGeom>
        </p:spPr>
      </p:pic>
      <p:sp>
        <p:nvSpPr>
          <p:cNvPr id="129" name="Text"/>
          <p:cNvSpPr txBox="1"/>
          <p:nvPr/>
        </p:nvSpPr>
        <p:spPr>
          <a:xfrm>
            <a:off x="8403336" y="2194560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Llenados, tanque de gasoil y unidades, con respaldo de cada registro.</a:t>
            </a:r>
          </a:p>
        </p:txBody>
      </p:sp>
      <p:sp>
        <p:nvSpPr>
          <p:cNvPr id="130" name="Shape"/>
          <p:cNvSpPr/>
          <p:nvPr/>
        </p:nvSpPr>
        <p:spPr>
          <a:xfrm>
            <a:off x="7635240" y="2980944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1" name="Shape"/>
          <p:cNvSpPr/>
          <p:nvPr/>
        </p:nvSpPr>
        <p:spPr>
          <a:xfrm>
            <a:off x="7781544" y="3131820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2" name="Image" descr="Tracker GP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3250692"/>
            <a:ext cx="237744" cy="237744"/>
          </a:xfrm>
          <a:prstGeom prst="rect">
            <a:avLst/>
          </a:prstGeom>
        </p:spPr>
      </p:pic>
      <p:sp>
        <p:nvSpPr>
          <p:cNvPr id="133" name="Text"/>
          <p:cNvSpPr txBox="1"/>
          <p:nvPr/>
        </p:nvSpPr>
        <p:spPr>
          <a:xfrm>
            <a:off x="8403336" y="3054096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flota, alertas y mapa en vivo; reportes de turno por Telegram.</a:t>
            </a:r>
          </a:p>
        </p:txBody>
      </p:sp>
      <p:sp>
        <p:nvSpPr>
          <p:cNvPr id="134" name="Shape"/>
          <p:cNvSpPr/>
          <p:nvPr/>
        </p:nvSpPr>
        <p:spPr>
          <a:xfrm>
            <a:off x="7635240" y="3840480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5" name="Shape"/>
          <p:cNvSpPr/>
          <p:nvPr/>
        </p:nvSpPr>
        <p:spPr>
          <a:xfrm>
            <a:off x="7781544" y="3991356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6" name="Image" descr="Control de Hora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4110228"/>
            <a:ext cx="237744" cy="237744"/>
          </a:xfrm>
          <a:prstGeom prst="rect">
            <a:avLst/>
          </a:prstGeom>
        </p:spPr>
      </p:pic>
      <p:sp>
        <p:nvSpPr>
          <p:cNvPr id="137" name="Text"/>
          <p:cNvSpPr txBox="1"/>
          <p:nvPr/>
        </p:nvSpPr>
        <p:spPr>
          <a:xfrm>
            <a:off x="8403336" y="3913632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 por proyecto y equipo, sin fórmulas manuales.</a:t>
            </a:r>
          </a:p>
        </p:txBody>
      </p:sp>
      <p:sp>
        <p:nvSpPr>
          <p:cNvPr id="138" name="Shape"/>
          <p:cNvSpPr/>
          <p:nvPr/>
        </p:nvSpPr>
        <p:spPr>
          <a:xfrm>
            <a:off x="7635240" y="4700016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9" name="Shape"/>
          <p:cNvSpPr/>
          <p:nvPr/>
        </p:nvSpPr>
        <p:spPr>
          <a:xfrm>
            <a:off x="7781544" y="4850892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0" name="Image" descr="Report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0416" y="4969764"/>
            <a:ext cx="237744" cy="237744"/>
          </a:xfrm>
          <a:prstGeom prst="rect">
            <a:avLst/>
          </a:prstGeom>
        </p:spPr>
      </p:pic>
      <p:sp>
        <p:nvSpPr>
          <p:cNvPr id="141" name="Text"/>
          <p:cNvSpPr txBox="1"/>
          <p:nvPr/>
        </p:nvSpPr>
        <p:spPr>
          <a:xfrm>
            <a:off x="8403336" y="4773168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combustible y horas trabajadas para gerencia.</a:t>
            </a:r>
          </a:p>
        </p:txBody>
      </p:sp>
      <p:sp>
        <p:nvSpPr>
          <p:cNvPr id="142" name="Shape"/>
          <p:cNvSpPr/>
          <p:nvPr/>
        </p:nvSpPr>
        <p:spPr>
          <a:xfrm>
            <a:off x="7635240" y="5559552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3" name="Shape"/>
          <p:cNvSpPr/>
          <p:nvPr/>
        </p:nvSpPr>
        <p:spPr>
          <a:xfrm>
            <a:off x="7781544" y="5710428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4" name="Image" descr="Seguridad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0416" y="5829300"/>
            <a:ext cx="237744" cy="237744"/>
          </a:xfrm>
          <a:prstGeom prst="rect">
            <a:avLst/>
          </a:prstGeom>
        </p:spPr>
      </p:pic>
      <p:sp>
        <p:nvSpPr>
          <p:cNvPr id="145" name="Text"/>
          <p:cNvSpPr txBox="1"/>
          <p:nvPr/>
        </p:nvSpPr>
        <p:spPr>
          <a:xfrm>
            <a:off x="8403336" y="5632704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roles y permisos: quién entra y qué puede 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mbusti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Liviana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l módulo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LLENADOS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filtros, totales y respaldo de cada carga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spaldo con 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Respaldo con foto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guarda la foto del ticket.</a:t>
            </a: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Totales al insta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Totales al instante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y monto se suman solos según el filtro.</a:t>
            </a: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Exportab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filtrado se descarga en Excel con un clic.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con su ID de transacción, fecha, hora, unidad, responsable, tipo de combustible, litros y monto.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rango de fechas, unidad y responsable.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período filtrado en litros y dólares.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"Nuevo Llenado" registra la carga y adjunta la foto del ticket.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se puede ver, editar o eliminar desde la misma tabla.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"Exportar Excel" entrega el reporte listo para compartir.</a:t>
            </a: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cargas anotadas a mano y en Excel, a registros con responsable, hora y foto, listos para auditar.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ta Pesa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Flota Pesa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Pesada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49440" cy="378050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 Combustible Flota Pes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803136" cy="3634198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014942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CARGAS · PESADA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tanque de gasoil y despachos a equipos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Nivel del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819614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del tanque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y % de capacidad, siempre a la vista.</a:t>
            </a:r>
          </a:p>
        </p:txBody>
      </p:sp>
      <p:sp>
        <p:nvSpPr>
          <p:cNvPr id="114" name="Shape"/>
          <p:cNvSpPr/>
          <p:nvPr/>
        </p:nvSpPr>
        <p:spPr>
          <a:xfrm>
            <a:off x="28194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29565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Galones o litr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856" y="5819614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4594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Galones o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información en la unidad que se prefiera.</a:t>
            </a:r>
          </a:p>
        </p:txBody>
      </p:sp>
      <p:sp>
        <p:nvSpPr>
          <p:cNvPr id="118" name="Shape"/>
          <p:cNvSpPr/>
          <p:nvPr/>
        </p:nvSpPr>
        <p:spPr>
          <a:xfrm>
            <a:off x="51816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3187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Horas del equip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1056" y="5819614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58216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del equipo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registra la medida del horómetro.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7726680" y="147218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 principal de gasoil: litros disponibles sobre su capacidad y porcentaje de llenado.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con ID, fecha, hora, solicitante, equipo, medida en horas y galones despachados.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consumido del período filtrado.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7726680" y="301752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726680" y="334670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"Nueva Carga" registra el despacho con su foto de respaldo.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fecha, unidad y solicitante; cambio entre galones y litros.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 Tanque de Gasoil" abre el detalle del tanque y "Exportar Excel" descarga lo filtrado.</a:t>
            </a:r>
          </a:p>
        </p:txBody>
      </p:sp>
      <p:sp>
        <p:nvSpPr>
          <p:cNvPr id="126" name="Shape"/>
          <p:cNvSpPr/>
          <p:nvPr/>
        </p:nvSpPr>
        <p:spPr>
          <a:xfrm>
            <a:off x="7726680" y="5426422"/>
            <a:ext cx="400781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7909560" y="5517862"/>
            <a:ext cx="364205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despacho queda ligado a su solicitante, equipo y horas de uso, con el nivel del tanque siempre a la vista.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Tanq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Tanque de Gasoil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TANQUES</a:t>
            </a: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0" name="Image" descr="Tarjeta del Tanque Principal de Ga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89270" y="195739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89270" y="19573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89270" y="3238434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89270" y="323843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5348401" y="2023651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5348401" y="2023651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489270" y="447530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489270" y="44753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119" name="Image" descr="Botón Nuevo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pueden dar de alta más tanques.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Ficha de cada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nombre, tipo de combustible y estado (Activo).</a:t>
            </a: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a la vista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sobre la capacidad total y porcentaje de llenado.</a:t>
            </a: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Historial y control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movimientos del tanque, edición de sus datos y baja.</a:t>
            </a: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movimiento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de gasoil se registra para mantener el nivel al día.</a:t>
            </a: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puede sumar tanques sin cambiar el sistema.</a:t>
            </a: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6263640" y="5477256"/>
            <a:ext cx="5242255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del tanque ya no depende de mediciones y cálculos a mano: se ve en el sistema y se conecta con las cargas de Flota Pesada.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rol de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ntrol de Hor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02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139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Filtros de empresa, proyecto y fech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535818"/>
          </a:xfrm>
          <a:prstGeom prst="rect">
            <a:avLst/>
          </a:prstGeom>
        </p:spPr>
      </p:pic>
      <p:sp>
        <p:nvSpPr>
          <p:cNvPr id="109" name="Line"/>
          <p:cNvSpPr/>
          <p:nvPr/>
        </p:nvSpPr>
        <p:spPr>
          <a:xfrm>
            <a:off x="530352" y="1788546"/>
            <a:ext cx="7443216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10" name="Image" descr="Tabla de horas por equip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5122"/>
            <a:ext cx="7443216" cy="2958649"/>
          </a:xfrm>
          <a:prstGeom prst="rect">
            <a:avLst/>
          </a:prstGeom>
        </p:spPr>
      </p:pic>
      <p:sp>
        <p:nvSpPr>
          <p:cNvPr id="111" name="Text"/>
          <p:cNvSpPr txBox="1"/>
          <p:nvPr/>
        </p:nvSpPr>
        <p:spPr>
          <a:xfrm>
            <a:off x="530352" y="4948364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4 equipos</a:t>
            </a:r>
          </a:p>
        </p:txBody>
      </p:sp>
      <p:sp>
        <p:nvSpPr>
          <p:cNvPr id="112" name="Shape"/>
          <p:cNvSpPr/>
          <p:nvPr/>
        </p:nvSpPr>
        <p:spPr>
          <a:xfrm>
            <a:off x="45720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"/>
          <p:cNvSpPr/>
          <p:nvPr/>
        </p:nvSpPr>
        <p:spPr>
          <a:xfrm>
            <a:off x="59436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59436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5" name="Text"/>
          <p:cNvSpPr txBox="1"/>
          <p:nvPr/>
        </p:nvSpPr>
        <p:spPr>
          <a:xfrm>
            <a:off x="109728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Empresa y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el cliente, el proyecto y la fecha.</a:t>
            </a:r>
          </a:p>
        </p:txBody>
      </p:sp>
      <p:sp>
        <p:nvSpPr>
          <p:cNvPr id="116" name="Shape"/>
          <p:cNvSpPr/>
          <p:nvPr/>
        </p:nvSpPr>
        <p:spPr>
          <a:xfrm>
            <a:off x="303276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"/>
          <p:cNvSpPr/>
          <p:nvPr/>
        </p:nvSpPr>
        <p:spPr>
          <a:xfrm>
            <a:off x="316992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316992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67284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Equipos del día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marcan los equipos que trabajan esa jornada.</a:t>
            </a:r>
          </a:p>
        </p:txBody>
      </p:sp>
      <p:sp>
        <p:nvSpPr>
          <p:cNvPr id="120" name="Shape"/>
          <p:cNvSpPr/>
          <p:nvPr/>
        </p:nvSpPr>
        <p:spPr>
          <a:xfrm>
            <a:off x="560832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74548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574548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24840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Totales, acumulados y % se calculan solos.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REGISTRA Y CALCULA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1472184"/>
            <a:ext cx="3367735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equipo y por día: horas ejecutadas, disponibles y stand-by, con nota opcional.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del mes por equipo: horas de cobro completo y de stand-by.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stand-by y de ejecución + disponibilidad.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día y del mes para todo el proyecto, listos para facturar y reportar.</a:t>
            </a:r>
          </a:p>
        </p:txBody>
      </p:sp>
      <p:sp>
        <p:nvSpPr>
          <p:cNvPr id="126" name="Text"/>
          <p:cNvSpPr txBox="1"/>
          <p:nvPr/>
        </p:nvSpPr>
        <p:spPr>
          <a:xfrm>
            <a:off x="8366760" y="3931920"/>
            <a:ext cx="336773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</a:t>
            </a:r>
          </a:p>
        </p:txBody>
      </p:sp>
      <p:sp>
        <p:nvSpPr>
          <p:cNvPr id="127" name="Shape"/>
          <p:cNvSpPr/>
          <p:nvPr/>
        </p:nvSpPr>
        <p:spPr>
          <a:xfrm>
            <a:off x="8366760" y="4251960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8BC7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"/>
          <p:cNvSpPr txBox="1"/>
          <p:nvPr/>
        </p:nvSpPr>
        <p:spPr>
          <a:xfrm>
            <a:off x="8366760" y="4251960"/>
            <a:ext cx="88696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1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Izamiento</a:t>
            </a:r>
          </a:p>
        </p:txBody>
      </p:sp>
      <p:sp>
        <p:nvSpPr>
          <p:cNvPr id="129" name="Shape"/>
          <p:cNvSpPr/>
          <p:nvPr/>
        </p:nvSpPr>
        <p:spPr>
          <a:xfrm>
            <a:off x="9345168" y="425196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9345168" y="4251960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proyectos</a:t>
            </a:r>
          </a:p>
        </p:txBody>
      </p:sp>
      <p:sp>
        <p:nvSpPr>
          <p:cNvPr id="131" name="Shape"/>
          <p:cNvSpPr/>
          <p:nvPr/>
        </p:nvSpPr>
        <p:spPr>
          <a:xfrm>
            <a:off x="10762488" y="4251960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"/>
          <p:cNvSpPr txBox="1"/>
          <p:nvPr/>
        </p:nvSpPr>
        <p:spPr>
          <a:xfrm>
            <a:off x="10762488" y="4251960"/>
            <a:ext cx="74066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Futuros</a:t>
            </a:r>
          </a:p>
        </p:txBody>
      </p:sp>
      <p:sp>
        <p:nvSpPr>
          <p:cNvPr id="133" name="Shape"/>
          <p:cNvSpPr/>
          <p:nvPr/>
        </p:nvSpPr>
        <p:spPr>
          <a:xfrm>
            <a:off x="8366760" y="5314124"/>
            <a:ext cx="3367735" cy="1040956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8567928" y="5405564"/>
            <a:ext cx="2965399" cy="8580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MÓDULO PARA TODOS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usa en Izamiento; cualquier proyecto actual o nuevo se agrega eligiendo empresa y proyecto.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Combustible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COMBUSTIBLE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últimos 30 días, ambas flotas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fechas a elección (por ejemplo, últimos 30 días).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por flota: Liviana y Pesada en la misma escala de litros.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en USD por vehículo de Flota Liviana.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unidad: litros o galones, gasto y número de llenados.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galones a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Pesada se mide en galones y se convierte (1 gal = 3,78541 L) para compararla con la Liviana.</a:t>
            </a: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 solo en Liviana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Liviana compra por transacción en estación; la Pesada descuenta del tanque propio, sin costo por carga.</a:t>
            </a: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y gasto de ambas flotas en una sola vista, sin armar reportes a mano.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315200" cy="42221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168896" cy="407588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456631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HORAS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Izamiento (Chevron), 4 equipos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8092440" y="1143000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8092440" y="1472184"/>
            <a:ext cx="364205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cobro completo frente a horas de stand-by en el período.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por proyecto, con su empresa y el porcentaje de stand-by.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equipo: cobro completo, stand-by, % de stand-by y días registrados.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8092440" y="2944368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8092440" y="3264408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822960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641080" y="3355848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los proyectos juntos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gráfico suma todos los proyectos de Control de Horas del período; las tablas los separan.</a:t>
            </a:r>
          </a:p>
        </p:txBody>
      </p:sp>
      <p:sp>
        <p:nvSpPr>
          <p:cNvPr id="117" name="Shape"/>
          <p:cNvSpPr/>
          <p:nvPr/>
        </p:nvSpPr>
        <p:spPr>
          <a:xfrm>
            <a:off x="8092440" y="4069080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822960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641080" y="4160520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Crece con cada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 nuevo aparece como una fila más, sin configurar reportes aparte.</a:t>
            </a:r>
          </a:p>
        </p:txBody>
      </p:sp>
      <p:sp>
        <p:nvSpPr>
          <p:cNvPr id="121" name="Shape"/>
          <p:cNvSpPr/>
          <p:nvPr/>
        </p:nvSpPr>
        <p:spPr>
          <a:xfrm>
            <a:off x="8092440" y="4937760"/>
            <a:ext cx="3642055" cy="9144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8293608" y="5010912"/>
            <a:ext cx="3239719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se cobra y cuánto queda en stand-by, por proyecto y por equipo, sin armar reportes a mano.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Detalle de un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234440"/>
            <a:ext cx="11277295" cy="263703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Detalle de un día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07592"/>
            <a:ext cx="11130991" cy="2490731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3962915"/>
            <a:ext cx="1127729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HORAS — DETALLE DE UN DÍA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19/09/2026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640080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Cualquier dí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68529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143000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día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640080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empresa, proyecto y fecha para revisar la jornada completa.</a:t>
            </a:r>
          </a:p>
        </p:txBody>
      </p:sp>
      <p:sp>
        <p:nvSpPr>
          <p:cNvPr id="115" name="Shape"/>
          <p:cNvSpPr/>
          <p:nvPr/>
        </p:nvSpPr>
        <p:spPr>
          <a:xfrm>
            <a:off x="3310814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3493694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Horas por equip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990" y="4685291"/>
            <a:ext cx="219456" cy="219456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996614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por equipo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493694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Ejecutadas, disponibles, stand-by y totales de cada equipo ese día.</a:t>
            </a:r>
          </a:p>
        </p:txBody>
      </p:sp>
      <p:sp>
        <p:nvSpPr>
          <p:cNvPr id="120" name="Shape"/>
          <p:cNvSpPr/>
          <p:nvPr/>
        </p:nvSpPr>
        <p:spPr>
          <a:xfrm>
            <a:off x="6164428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47308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Cálculo automátic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604" y="4685291"/>
            <a:ext cx="219456" cy="219456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6850228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automático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6347308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Hrs. totales = Total + Stand-by</a:t>
            </a:r>
          </a:p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Stand-by = Stand-by ÷ Hrs. totales</a:t>
            </a:r>
          </a:p>
        </p:txBody>
      </p:sp>
      <p:sp>
        <p:nvSpPr>
          <p:cNvPr id="125" name="Shape"/>
          <p:cNvSpPr/>
          <p:nvPr/>
        </p:nvSpPr>
        <p:spPr>
          <a:xfrm>
            <a:off x="9018041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9219209" y="4557275"/>
            <a:ext cx="2314118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REVISIÓN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validar lo cargado en una jornada específica antes de cerrar el 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sumen por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Resumen por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2393786" y="1115568"/>
            <a:ext cx="7404124" cy="512978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Control de Horas: resumen por dí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38" y="1188720"/>
            <a:ext cx="72578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0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 · FLOTA EN TIEMPO REAL</a:t>
            </a:r>
            <a:endParaRPr lang="es-VE" sz="120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de Flota</a:t>
            </a:r>
            <a:endParaRPr lang="es-VE" sz="30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alertas y reportes de la flota, conectados al GPS y a Telegram</a:t>
            </a:r>
            <a:endParaRPr lang="es-VE" sz="12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75 unidades de la flota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los datos del GPS de GEvolution: dónde está cada una, si está activa o estacionada, qué recorrido hizo y cuándo entra o sale de una geocerca. Y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solo por Telegram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VE" sz="1250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incluye:</a:t>
            </a:r>
            <a:endParaRPr lang="es-VE" sz="110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508000" y="3200400"/>
            <a:ext cx="13462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8000" y="3200400"/>
            <a:ext cx="13462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1" name="Shape"/>
          <p:cNvSpPr/>
          <p:nvPr/>
        </p:nvSpPr>
        <p:spPr>
          <a:xfrm>
            <a:off x="19558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9558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y recorridos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3" name="Shape"/>
          <p:cNvSpPr/>
          <p:nvPr/>
        </p:nvSpPr>
        <p:spPr>
          <a:xfrm>
            <a:off x="3543300" y="3200400"/>
            <a:ext cx="7747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3543300" y="3200400"/>
            <a:ext cx="7747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5" name="Shape"/>
          <p:cNvSpPr/>
          <p:nvPr/>
        </p:nvSpPr>
        <p:spPr>
          <a:xfrm>
            <a:off x="44196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4196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flota obligaba a entrar al portal del GPS, unidad por unidad.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de geocerca y circulación fuera de horario se veían tarde.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de cada turno se armaban a mano en Excel.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solo conoce la placa, no el código, el conductor ni la flota.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📡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Flota en vivo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Activas, estacionadas y sin señal de las 75 unidades, en una sola pantalla.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🗺️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Recorridos con ruta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del día de cada unidad, con kilómetros, horas y la ruta real sobre el mapa.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🔔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precisas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día, entradas y salidas de geocerca; de noche, circulación fuera de horario.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📨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llega a Telegram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reportes de turno en el chat, solo para personas aprobadas.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📊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automáticos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cortes por turno en Excel, PDF e imagen, sin armarlos a mano.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funcionamiento</a:t>
            </a:r>
            <a:endParaRPr lang="es-VE" sz="105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GEvolution · 75 unidades · registro interno de placas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9:05 am · 2:05 pm · 9:05 pm y alertas de día y de noche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 Telegram con acceso por aprobación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25721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AD6388-1B8D-194E-4ED5-F0C9531D6A6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Estado de Flota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EB7A1C-0ED4-E0E0-3359-F907FAA095B8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en vivo de las 75 unidades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CF0B89-5BBF-E5DF-3479-FD6CC10BEA6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indicadores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activas, estacionadas y sin señal, siempre arriba.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46BE0B-4516-9A6B-87BB-6EEB23D8C7F5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 y filtrar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unidad, placa, tipo de flota o ubicación.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446B3FB-6D9E-8791-440A-3D2C27A67083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Sincronizar ahora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al instante la posición real del GPS.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 con su código, flota, placa, conductor, ubicación y hora de la última lectura.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desplegables: activas, estacionadas y sin señal reciente.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clasificada: Base, Campo, Oficina u Otras.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el bloque que interesa y se busca la unidad.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"Sincronizar ahora" actualiza al momento; además se sincroniza solo en horarios fijos.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sin señal quedan aparte, para revisarlas en sitio.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EB862C-23E5-8D6A-42F0-A3E4A29E03AC}"/>
              </a:ext>
            </a:extLst>
          </p:cNvPr>
          <p:cNvSpPr txBox="1"/>
          <p:nvPr/>
        </p:nvSpPr>
        <p:spPr>
          <a:xfrm>
            <a:off x="8569960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Se revisaba el portal del GPS, unidad por unidad.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C5489-3B9D-ADAE-5271-820B8E5709C5}"/>
              </a:ext>
            </a:extLst>
          </p:cNvPr>
          <p:cNvSpPr txBox="1"/>
          <p:nvPr/>
        </p:nvSpPr>
        <p:spPr>
          <a:xfrm>
            <a:off x="10215728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Toda la flota clasificada en una sola pantalla.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A56E86-1182-FAD8-1355-4512FE1E184C}"/>
              </a:ext>
            </a:extLst>
          </p:cNvPr>
          <p:cNvSpPr txBox="1"/>
          <p:nvPr/>
        </p:nvSpPr>
        <p:spPr>
          <a:xfrm>
            <a:off x="9885528" y="5517789"/>
            <a:ext cx="208390" cy="726440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3038516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BFD731-0F20-CC9B-E857-B0AEE945F38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Gestión de Unidades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INTERNO DE UNIDADES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727FA1-0BF1-053E-4878-404E9CAB03B5}"/>
              </a:ext>
            </a:extLst>
          </p:cNvPr>
          <p:cNvPicPr>
            <a:picLocks/>
          </p:cNvPicPr>
          <p:nvPr/>
        </p:nvPicPr>
        <p:blipFill>
          <a:blip r:embed="rId3"/>
          <a:srcRect b="50"/>
          <a:stretch>
            <a:fillRect/>
          </a:stretch>
        </p:blipFill>
        <p:spPr>
          <a:xfrm>
            <a:off x="777240" y="1737361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953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953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95300" y="20574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95300" y="2057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3987800" y="15748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3987800" y="15748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53467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53467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F288AF-BE3A-465D-1C0D-8D5E7C9C3C00}"/>
              </a:ext>
            </a:extLst>
          </p:cNvPr>
          <p:cNvPicPr>
            <a:picLocks/>
          </p:cNvPicPr>
          <p:nvPr/>
        </p:nvPicPr>
        <p:blipFill>
          <a:blip r:embed="rId4"/>
          <a:srcRect t="3579" b="3579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nuevas del GPS se registran solas.</a:t>
            </a:r>
            <a:endParaRPr lang="es-VE" sz="10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interno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placa, conductor y tipo de flota de cada unidad.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VE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código, placa o conductor, al instante.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Liviana o Pesada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de flota decide qué alertas llegan a Telegram.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Editar o dar de baja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se corrige o se retira desde la misma tabla.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Nueva Unidad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agregan a mano; las nuevas del GPS entran solas.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B747B1-EC96-F53D-A71F-C7B116CB1D5B}"/>
              </a:ext>
            </a:extLst>
          </p:cNvPr>
          <p:cNvSpPr txBox="1"/>
          <p:nvPr/>
        </p:nvSpPr>
        <p:spPr>
          <a:xfrm>
            <a:off x="6238240" y="5525516"/>
            <a:ext cx="2481427" cy="5984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El GPS solo conocía la placa y las unidades nuevas quedaban sin registrar.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8B5F1F-6B55-605D-E3EC-7D9A8C687C28}"/>
              </a:ext>
            </a:extLst>
          </p:cNvPr>
          <p:cNvSpPr txBox="1"/>
          <p:nvPr/>
        </p:nvSpPr>
        <p:spPr>
          <a:xfrm>
            <a:off x="9049868" y="5525516"/>
            <a:ext cx="2481427" cy="5984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Cada placa tiene código, conductor y flota, y las nuevas se registran solas.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10C29F-7A9E-38E2-66B4-9B8B5CEAA540}"/>
              </a:ext>
            </a:extLst>
          </p:cNvPr>
          <p:cNvSpPr txBox="1"/>
          <p:nvPr/>
        </p:nvSpPr>
        <p:spPr>
          <a:xfrm>
            <a:off x="8719668" y="5525516"/>
            <a:ext cx="208390" cy="598424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044205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7DC109-D258-BAB9-21B6-D0253E399A9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Mapa en Vivo y Recorridos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874000" y="4038600"/>
            <a:ext cx="3860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DEL MAPA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7874000" y="1092200"/>
            <a:ext cx="3860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7874000" y="13970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8039100" y="15938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8039100" y="15938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8585200" y="14732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 en el punto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mapa, o elegir la unidad en el selector.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7874000" y="22352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8039100" y="24320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8039100" y="24320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8585200" y="23114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Recorridos del día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Viajes, km, horas en movimiento y estacionado.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7874000" y="30734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8039100" y="32702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8039100" y="32702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8585200" y="31496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 ruta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 el viaje real sobre el mapa y lo encuadra.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Shape"/>
          <p:cNvSpPr/>
          <p:nvPr/>
        </p:nvSpPr>
        <p:spPr>
          <a:xfrm>
            <a:off x="7874000" y="5080000"/>
            <a:ext cx="3860800" cy="13970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8102600" y="5232400"/>
            <a:ext cx="3403600" cy="1092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cada unidad y por dónde pasó. Desde una alerta, el recorrido se abre a la hora del aviso.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533BB03B-D088-ECD9-0D29-2DCEE4796A50}"/>
              </a:ext>
            </a:extLst>
          </p:cNvPr>
          <p:cNvSpPr/>
          <p:nvPr/>
        </p:nvSpPr>
        <p:spPr>
          <a:xfrm>
            <a:off x="457200" y="1117600"/>
            <a:ext cx="7112000" cy="2971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5EA0D9DA-BE45-D6EB-BE25-5A0F7BF0C2B4}"/>
              </a:ext>
            </a:extLst>
          </p:cNvPr>
          <p:cNvSpPr/>
          <p:nvPr/>
        </p:nvSpPr>
        <p:spPr>
          <a:xfrm>
            <a:off x="457200" y="4216400"/>
            <a:ext cx="7112000" cy="2260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5B1A7D-5EC1-2E3D-3B5E-83D5678D2682}"/>
              </a:ext>
            </a:extLst>
          </p:cNvPr>
          <p:cNvPicPr>
            <a:picLocks/>
          </p:cNvPicPr>
          <p:nvPr/>
        </p:nvPicPr>
        <p:blipFill>
          <a:blip r:embed="rId3"/>
          <a:srcRect l="3014" t="7701" b="6301"/>
          <a:stretch>
            <a:fillRect/>
          </a:stretch>
        </p:blipFill>
        <p:spPr>
          <a:xfrm>
            <a:off x="533400" y="1193800"/>
            <a:ext cx="6959600" cy="2819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CFFF88-AF8D-E5A3-E456-D894D48A3A80}"/>
              </a:ext>
            </a:extLst>
          </p:cNvPr>
          <p:cNvPicPr>
            <a:picLocks/>
          </p:cNvPicPr>
          <p:nvPr/>
        </p:nvPicPr>
        <p:blipFill>
          <a:blip r:embed="rId4"/>
          <a:srcRect l="187" r="187"/>
          <a:stretch>
            <a:fillRect/>
          </a:stretch>
        </p:blipFill>
        <p:spPr>
          <a:xfrm>
            <a:off x="533400" y="4292600"/>
            <a:ext cx="6959600" cy="2108200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5664200" y="12192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5664200" y="12192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304800" y="48514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304800" y="4851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7416800" y="57150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7416800" y="57150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600881-3DF7-A857-93A9-7F4AD5C97298}"/>
              </a:ext>
            </a:extLst>
          </p:cNvPr>
          <p:cNvSpPr/>
          <p:nvPr/>
        </p:nvSpPr>
        <p:spPr>
          <a:xfrm>
            <a:off x="7874000" y="4394200"/>
            <a:ext cx="127000" cy="127000"/>
          </a:xfrm>
          <a:prstGeom prst="ellipse">
            <a:avLst/>
          </a:prstGeom>
          <a:solidFill>
            <a:srgbClr val="10B981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563D19-BFC7-D181-FF08-B2316E41842D}"/>
              </a:ext>
            </a:extLst>
          </p:cNvPr>
          <p:cNvSpPr txBox="1"/>
          <p:nvPr/>
        </p:nvSpPr>
        <p:spPr>
          <a:xfrm>
            <a:off x="8064500" y="4356100"/>
            <a:ext cx="336631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Activa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1D4CA4D-C891-CE65-D0E9-F7840C9C1127}"/>
              </a:ext>
            </a:extLst>
          </p:cNvPr>
          <p:cNvSpPr/>
          <p:nvPr/>
        </p:nvSpPr>
        <p:spPr>
          <a:xfrm>
            <a:off x="8737600" y="4394200"/>
            <a:ext cx="127000" cy="12700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8277C-7068-8DB8-1EAA-E90B20C6F070}"/>
              </a:ext>
            </a:extLst>
          </p:cNvPr>
          <p:cNvSpPr txBox="1"/>
          <p:nvPr/>
        </p:nvSpPr>
        <p:spPr>
          <a:xfrm>
            <a:off x="8928100" y="4356100"/>
            <a:ext cx="655629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Estacionada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88914B1-2C17-AE42-8E65-B6E5EF719D71}"/>
              </a:ext>
            </a:extLst>
          </p:cNvPr>
          <p:cNvSpPr/>
          <p:nvPr/>
        </p:nvSpPr>
        <p:spPr>
          <a:xfrm>
            <a:off x="9931400" y="4394200"/>
            <a:ext cx="127000" cy="127000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6C5A02-CEEE-B437-A37A-A3FCBF2BD94C}"/>
              </a:ext>
            </a:extLst>
          </p:cNvPr>
          <p:cNvSpPr txBox="1"/>
          <p:nvPr/>
        </p:nvSpPr>
        <p:spPr>
          <a:xfrm>
            <a:off x="10121900" y="4356100"/>
            <a:ext cx="479298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Sin señal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3016FC-3D27-81AE-2608-30D9C769DE26}"/>
              </a:ext>
            </a:extLst>
          </p:cNvPr>
          <p:cNvCxnSpPr/>
          <p:nvPr/>
        </p:nvCxnSpPr>
        <p:spPr>
          <a:xfrm>
            <a:off x="7874000" y="4737100"/>
            <a:ext cx="279400" cy="0"/>
          </a:xfrm>
          <a:prstGeom prst="line">
            <a:avLst/>
          </a:prstGeom>
          <a:ln w="38100">
            <a:solidFill>
              <a:srgbClr val="1447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4A281A6-B38D-8A48-B7D0-6A088B1D798C}"/>
              </a:ext>
            </a:extLst>
          </p:cNvPr>
          <p:cNvSpPr txBox="1"/>
          <p:nvPr/>
        </p:nvSpPr>
        <p:spPr>
          <a:xfrm>
            <a:off x="8255000" y="4648200"/>
            <a:ext cx="2510303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s-ES" sz="1050">
                <a:solidFill>
                  <a:srgbClr val="334A5C"/>
                </a:solidFill>
                <a:latin typeface="Calibri" panose="020F0502020204030204" pitchFamily="34" charset="0"/>
              </a:rPr>
              <a:t>Ruta: el camino que marcó el GPS en ese viaje</a:t>
            </a:r>
            <a:endParaRPr lang="en-US" sz="1050">
              <a:solidFill>
                <a:srgbClr val="334A5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894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D3F427-2399-81E5-3953-A98F608D18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Alertas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7CBB2F-D6ED-065C-5A8C-C0231AAF2530}"/>
              </a:ext>
            </a:extLst>
          </p:cNvPr>
          <p:cNvPicPr>
            <a:picLocks/>
          </p:cNvPicPr>
          <p:nvPr/>
        </p:nvPicPr>
        <p:blipFill>
          <a:blip r:embed="rId3"/>
          <a:srcRect r="48"/>
          <a:stretch>
            <a:fillRect/>
          </a:stretch>
        </p:blipFill>
        <p:spPr>
          <a:xfrm>
            <a:off x="530352" y="1216153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· ALARMAS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alerta real del 24/09/2026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con su mensaje completo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día: entradas y salidas de geocerca, según GEvolution.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noche: fuera de horario a las 8:00, 8:30 y 9:00 pm.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ALARMA o ATENCIÓN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geocerca es crítica en GEvolution llega como ALARMA; si no, como ATENCIÓN.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avisos repetidos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se avisa una sola vez, sin repetir mensajes.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avisos que importan: nada de mensajes continuos, y el historial se borra solo a los 8 días.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12003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FA408B-14CB-C88E-787E-F73743FC952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Telegram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3B5327-56C0-56C7-21DC-561BC9D7EDDF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SUSCRIPTORES DE TELEGRAM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acceso al bot con aprobación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55E81-F194-1EC4-88DC-4BFCDE921D4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aprobación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escribe al bot queda pendiente hasta que se aprueba.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E04073-39E7-93AC-7325-439400116A6D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Quitar acceso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de recibir al instante y no se reactiva solo.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47AB26-6E2E-2A7F-1721-85671EE94FB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de solicitud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pedido nuevo se avisa por el mismo bot.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LLEGA AL CHAT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alertas de geocerca y de fuera de horario, con mapa y recorrido del día.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de turno, con el PDF adjunto.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cuando alguien nuevo pide acceso.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DA ACCESO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busca el bot y le escribe un mensaje.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como pendiente y se aprueba aquí.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"Quitar acceso" la retira en cualquier momento.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7D9CA4-2CB4-9B30-C1D7-2A9FF29ED229}"/>
              </a:ext>
            </a:extLst>
          </p:cNvPr>
          <p:cNvSpPr txBox="1"/>
          <p:nvPr/>
        </p:nvSpPr>
        <p:spPr>
          <a:xfrm>
            <a:off x="8569960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Cualquiera que escribía al bot veía la flota.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F39220-3436-492F-9E99-852A68107E21}"/>
              </a:ext>
            </a:extLst>
          </p:cNvPr>
          <p:cNvSpPr txBox="1"/>
          <p:nvPr/>
        </p:nvSpPr>
        <p:spPr>
          <a:xfrm>
            <a:off x="10215728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Solo recibe quien se aprueba.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719BA-21E1-9E75-AB17-9A254567B60D}"/>
              </a:ext>
            </a:extLst>
          </p:cNvPr>
          <p:cNvSpPr txBox="1"/>
          <p:nvPr/>
        </p:nvSpPr>
        <p:spPr>
          <a:xfrm>
            <a:off x="9885528" y="5517789"/>
            <a:ext cx="208390" cy="726440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4123804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ED18CD-402F-9380-9789-2AC46205677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Reportes de Turno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DB836-232E-6BCE-C830-9687240C24B8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r>
              <a:rPr lang="es-VE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cada reporte queda guardado en el apartado de su turno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F7B1E2-75E7-C8B5-6E1E-F1956942BFC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apartado por turno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Matutino, Vespertino y Nocturno, cada uno aparte.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3BDCF4-66FE-470F-B588-FA43749A3C4E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· PDF · Imagen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reporte en tres formatos, listo para descargar.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CE4B2E-317C-2FDE-C017-43B3D32F1A8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 a Telegram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se envía solo al cerrar cada turno.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fecha: total de unidades, activas, estacionadas y sin señal en el corte.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hora en que se generó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para descargar el Excel, el PDF o la imagen.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solo a las 9:05 am, 2:05 pm y 9:05 pm, en la pestaña de su turno.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"Generar ahora" lo crea a cualquier hora.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sale en el formato del modelo interno.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en cada cambio de turno, guardada por turno, sin armar reportes a mano.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9651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2581</Words>
  <Application>Microsoft Office PowerPoint</Application>
  <PresentationFormat>Widescreen</PresentationFormat>
  <Paragraphs>363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ANALISTA TI-TRACKER</cp:lastModifiedBy>
  <cp:revision>3</cp:revision>
  <dcterms:created xsi:type="dcterms:W3CDTF">2026-09-18T20:59:00Z</dcterms:created>
  <dcterms:modified xsi:type="dcterms:W3CDTF">2026-09-24T18:00:46Z</dcterms:modified>
</cp:coreProperties>
</file>