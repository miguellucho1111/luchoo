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62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7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61F212-34D7-4399-BCE0-06D8D6F55547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C2CC79-3E46-4CF4-B2B0-99208C854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99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9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943600" cy="5943600"/>
          </a:xfrm>
          <a:prstGeom prst="ellipse">
            <a:avLst/>
          </a:prstGeom>
          <a:ln w="38100">
            <a:solidFill>
              <a:srgbClr val="FBF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607040" y="-1097280"/>
            <a:ext cx="4114800" cy="4114800"/>
          </a:xfrm>
          <a:prstGeom prst="ellipse">
            <a:avLst/>
          </a:prstGeom>
          <a:ln w="25400">
            <a:solidFill>
              <a:srgbClr val="EDF1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assets/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554480" cy="506675"/>
          </a:xfrm>
          <a:prstGeom prst="rect">
            <a:avLst/>
          </a:prstGeom>
        </p:spPr>
      </p:pic>
      <p:sp>
        <p:nvSpPr>
          <p:cNvPr id="5" name="Kicker"/>
          <p:cNvSpPr txBox="1"/>
          <p:nvPr/>
        </p:nvSpPr>
        <p:spPr>
          <a:xfrm>
            <a:off x="0" y="1325880"/>
            <a:ext cx="12192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VE" sz="12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FULLPETRO · TECNOLOGÍA DE INFORMACIÓN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0" y="1600200"/>
            <a:ext cx="1219200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VE" sz="4600" b="1" spc="100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PROYECTOS TI</a:t>
            </a:r>
          </a:p>
        </p:txBody>
      </p:sp>
      <p:pic>
        <p:nvPicPr>
          <p:cNvPr id="7" name="Logos proyectos" descr="Logos de los proyectos NEXUS, CENIT y VIS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880360"/>
            <a:ext cx="9509760" cy="2971800"/>
          </a:xfrm>
          <a:prstGeom prst="rect">
            <a:avLst/>
          </a:prstGeom>
        </p:spPr>
      </p:pic>
      <p:sp>
        <p:nvSpPr>
          <p:cNvPr id="8" name="Footer"/>
          <p:cNvSpPr txBox="1"/>
          <p:nvPr/>
        </p:nvSpPr>
        <p:spPr>
          <a:xfrm>
            <a:off x="0" y="6172200"/>
            <a:ext cx="12192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VE" sz="11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r>
              <a:rPr lang="es-VE" sz="11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de septiembre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EXUS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ogo NEXUS" descr="Logo NEX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21385" cy="960120"/>
          </a:xfrm>
          <a:prstGeom prst="rect">
            <a:avLst/>
          </a:prstGeom>
        </p:spPr>
      </p:pic>
      <p:sp>
        <p:nvSpPr>
          <p:cNvPr id="102" name="Text"/>
          <p:cNvSpPr txBox="1"/>
          <p:nvPr/>
        </p:nvSpPr>
        <p:spPr>
          <a:xfrm>
            <a:off x="2098625" y="41148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TI · PLATAFORMA CENTRAL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2098625" y="658368"/>
            <a:ext cx="827981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30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NEXUS · Sistema Centralizado de Operaciones</a:t>
            </a:r>
          </a:p>
        </p:txBody>
      </p:sp>
      <p:sp>
        <p:nvSpPr>
          <p:cNvPr id="104" name="Text"/>
          <p:cNvSpPr txBox="1"/>
          <p:nvPr/>
        </p:nvSpPr>
        <p:spPr>
          <a:xfrm>
            <a:off x="2098625" y="115214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5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central de la operación de FullPetro</a:t>
            </a:r>
          </a:p>
        </p:txBody>
      </p:sp>
      <p:sp>
        <p:nvSpPr>
          <p:cNvPr id="105" name="Line"/>
          <p:cNvSpPr/>
          <p:nvPr/>
        </p:nvSpPr>
        <p:spPr>
          <a:xfrm>
            <a:off x="457200" y="1572768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"/>
          <p:cNvSpPr txBox="1"/>
          <p:nvPr/>
        </p:nvSpPr>
        <p:spPr>
          <a:xfrm>
            <a:off x="502920" y="1783080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</a:p>
        </p:txBody>
      </p:sp>
      <p:sp>
        <p:nvSpPr>
          <p:cNvPr id="107" name="Text"/>
          <p:cNvSpPr txBox="1"/>
          <p:nvPr/>
        </p:nvSpPr>
        <p:spPr>
          <a:xfrm>
            <a:off x="502920" y="2084832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s-VE" sz="12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Reúne en un solo sistema lo que hoy está repartido entre Excel, portales de proveedores y reportes manuales: </a:t>
            </a:r>
            <a:r>
              <a:rPr lang="es-VE" sz="125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combustible, flota GPS, horas de equipos y reportes para gerencia.</a:t>
            </a:r>
          </a:p>
        </p:txBody>
      </p:sp>
      <p:sp>
        <p:nvSpPr>
          <p:cNvPr id="108" name="Text"/>
          <p:cNvSpPr txBox="1"/>
          <p:nvPr/>
        </p:nvSpPr>
        <p:spPr>
          <a:xfrm>
            <a:off x="502920" y="290779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Pensada para crecer:</a:t>
            </a:r>
          </a:p>
        </p:txBody>
      </p:sp>
      <p:sp>
        <p:nvSpPr>
          <p:cNvPr id="109" name="Shape"/>
          <p:cNvSpPr/>
          <p:nvPr/>
        </p:nvSpPr>
        <p:spPr>
          <a:xfrm>
            <a:off x="502920" y="32004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"/>
          <p:cNvSpPr txBox="1"/>
          <p:nvPr/>
        </p:nvSpPr>
        <p:spPr>
          <a:xfrm>
            <a:off x="502920" y="3200400"/>
            <a:ext cx="960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</a:t>
            </a:r>
          </a:p>
        </p:txBody>
      </p:sp>
      <p:sp>
        <p:nvSpPr>
          <p:cNvPr id="111" name="Shape"/>
          <p:cNvSpPr/>
          <p:nvPr/>
        </p:nvSpPr>
        <p:spPr>
          <a:xfrm>
            <a:off x="1572768" y="3200400"/>
            <a:ext cx="1193292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1572768" y="3200400"/>
            <a:ext cx="119329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</a:t>
            </a:r>
          </a:p>
        </p:txBody>
      </p:sp>
      <p:sp>
        <p:nvSpPr>
          <p:cNvPr id="113" name="Shape"/>
          <p:cNvSpPr/>
          <p:nvPr/>
        </p:nvSpPr>
        <p:spPr>
          <a:xfrm>
            <a:off x="2875788" y="3200400"/>
            <a:ext cx="1037844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2875788" y="3200400"/>
            <a:ext cx="103784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</a:t>
            </a:r>
          </a:p>
        </p:txBody>
      </p:sp>
      <p:sp>
        <p:nvSpPr>
          <p:cNvPr id="115" name="Shape"/>
          <p:cNvSpPr/>
          <p:nvPr/>
        </p:nvSpPr>
        <p:spPr>
          <a:xfrm>
            <a:off x="4023360" y="3200400"/>
            <a:ext cx="1037844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4023360" y="3200400"/>
            <a:ext cx="103784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Valuaciones</a:t>
            </a:r>
          </a:p>
        </p:txBody>
      </p:sp>
      <p:sp>
        <p:nvSpPr>
          <p:cNvPr id="117" name="Text"/>
          <p:cNvSpPr txBox="1"/>
          <p:nvPr/>
        </p:nvSpPr>
        <p:spPr>
          <a:xfrm>
            <a:off x="502920" y="3730752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RESUELVE</a:t>
            </a:r>
          </a:p>
        </p:txBody>
      </p:sp>
      <p:sp>
        <p:nvSpPr>
          <p:cNvPr id="118" name="Text"/>
          <p:cNvSpPr txBox="1"/>
          <p:nvPr/>
        </p:nvSpPr>
        <p:spPr>
          <a:xfrm>
            <a:off x="502920" y="4032504"/>
            <a:ext cx="525780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VE" sz="12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está dispersa en Excel, portales externos y registros a mano.</a:t>
            </a: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VE" sz="12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equipos y vehículos están registrados varias veces, cada uno de forma distinta.</a:t>
            </a: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VE" sz="12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reportes y alertas dependen de que alguien los arme o los revise.</a:t>
            </a: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VE" sz="12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 no tiene una vista consolidada de la operación.</a:t>
            </a:r>
          </a:p>
        </p:txBody>
      </p:sp>
      <p:sp>
        <p:nvSpPr>
          <p:cNvPr id="119" name="Text"/>
          <p:cNvSpPr txBox="1"/>
          <p:nvPr/>
        </p:nvSpPr>
        <p:spPr>
          <a:xfrm>
            <a:off x="6172200" y="1783080"/>
            <a:ext cx="556229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</a:t>
            </a:r>
          </a:p>
        </p:txBody>
      </p:sp>
      <p:sp>
        <p:nvSpPr>
          <p:cNvPr id="120" name="Shape"/>
          <p:cNvSpPr/>
          <p:nvPr/>
        </p:nvSpPr>
        <p:spPr>
          <a:xfrm>
            <a:off x="6172200" y="2103120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6318504" y="2203704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6318504" y="220370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🗂️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6922008" y="2167128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fuente de verdad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único de unidades y datos, compartido por todas las áreas.</a:t>
            </a:r>
          </a:p>
        </p:txBody>
      </p:sp>
      <p:sp>
        <p:nvSpPr>
          <p:cNvPr id="124" name="Shape"/>
          <p:cNvSpPr/>
          <p:nvPr/>
        </p:nvSpPr>
        <p:spPr>
          <a:xfrm>
            <a:off x="6172200" y="2825496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6318504" y="2926080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6318504" y="2926080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📡</a:t>
            </a:r>
          </a:p>
        </p:txBody>
      </p:sp>
      <p:sp>
        <p:nvSpPr>
          <p:cNvPr id="127" name="Text"/>
          <p:cNvSpPr txBox="1"/>
          <p:nvPr/>
        </p:nvSpPr>
        <p:spPr>
          <a:xfrm>
            <a:off x="6922008" y="2889504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en tiempo real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unidades monitoreadas por GPS, con alertas automáticas de geocerca y horario.</a:t>
            </a:r>
          </a:p>
        </p:txBody>
      </p:sp>
      <p:sp>
        <p:nvSpPr>
          <p:cNvPr id="128" name="Shape"/>
          <p:cNvSpPr/>
          <p:nvPr/>
        </p:nvSpPr>
        <p:spPr>
          <a:xfrm>
            <a:off x="6172200" y="3547872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6318504" y="3648456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6318504" y="364845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⚙️</a:t>
            </a:r>
          </a:p>
        </p:txBody>
      </p:sp>
      <p:sp>
        <p:nvSpPr>
          <p:cNvPr id="131" name="Text"/>
          <p:cNvSpPr txBox="1"/>
          <p:nvPr/>
        </p:nvSpPr>
        <p:spPr>
          <a:xfrm>
            <a:off x="6922008" y="3611880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Automatización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de turno solos por Telegram; horas y combustible calculados sin fórmulas manuales.</a:t>
            </a:r>
          </a:p>
        </p:txBody>
      </p:sp>
      <p:sp>
        <p:nvSpPr>
          <p:cNvPr id="132" name="Shape"/>
          <p:cNvSpPr/>
          <p:nvPr/>
        </p:nvSpPr>
        <p:spPr>
          <a:xfrm>
            <a:off x="6172200" y="4270248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6318504" y="4370832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6318504" y="4370832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🔒</a:t>
            </a:r>
          </a:p>
        </p:txBody>
      </p:sp>
      <p:sp>
        <p:nvSpPr>
          <p:cNvPr id="135" name="Text"/>
          <p:cNvSpPr txBox="1"/>
          <p:nvPr/>
        </p:nvSpPr>
        <p:spPr>
          <a:xfrm>
            <a:off x="6922008" y="4334256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Trazabilidad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registro guarda quién lo hizo y su respaldo (ej. foto del ticket); cada rol ve solo lo suyo.</a:t>
            </a:r>
          </a:p>
        </p:txBody>
      </p:sp>
      <p:sp>
        <p:nvSpPr>
          <p:cNvPr id="136" name="Shape"/>
          <p:cNvSpPr/>
          <p:nvPr/>
        </p:nvSpPr>
        <p:spPr>
          <a:xfrm>
            <a:off x="6172200" y="4992624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7" name="Shape"/>
          <p:cNvSpPr/>
          <p:nvPr/>
        </p:nvSpPr>
        <p:spPr>
          <a:xfrm>
            <a:off x="6318504" y="5093208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"/>
          <p:cNvSpPr txBox="1"/>
          <p:nvPr/>
        </p:nvSpPr>
        <p:spPr>
          <a:xfrm>
            <a:off x="6318504" y="509320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📈</a:t>
            </a:r>
          </a:p>
        </p:txBody>
      </p:sp>
      <p:sp>
        <p:nvSpPr>
          <p:cNvPr id="139" name="Text"/>
          <p:cNvSpPr txBox="1"/>
          <p:nvPr/>
        </p:nvSpPr>
        <p:spPr>
          <a:xfrm>
            <a:off x="6922008" y="5056632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para decisiones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consumo, horas y comportamiento de la flota construidos con datos reales.</a:t>
            </a:r>
          </a:p>
        </p:txBody>
      </p:sp>
      <p:sp>
        <p:nvSpPr>
          <p:cNvPr id="140" name="Shape"/>
          <p:cNvSpPr/>
          <p:nvPr/>
        </p:nvSpPr>
        <p:spPr>
          <a:xfrm>
            <a:off x="457200" y="5897880"/>
            <a:ext cx="11277295" cy="658368"/>
          </a:xfrm>
          <a:prstGeom prst="roundRect">
            <a:avLst>
              <a:gd name="adj" fmla="val 12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"/>
          <p:cNvSpPr txBox="1"/>
          <p:nvPr/>
        </p:nvSpPr>
        <p:spPr>
          <a:xfrm>
            <a:off x="685800" y="5971032"/>
            <a:ext cx="137160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1 completa</a:t>
            </a:r>
          </a:p>
        </p:txBody>
      </p:sp>
      <p:sp>
        <p:nvSpPr>
          <p:cNvPr id="142" name="Text"/>
          <p:cNvSpPr txBox="1"/>
          <p:nvPr/>
        </p:nvSpPr>
        <p:spPr>
          <a:xfrm>
            <a:off x="2240280" y="5971032"/>
            <a:ext cx="333756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V1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 · Tracker GPS · Control de Horas · Reportes · Seguridad</a:t>
            </a:r>
          </a:p>
        </p:txBody>
      </p:sp>
      <p:sp>
        <p:nvSpPr>
          <p:cNvPr id="143" name="Text"/>
          <p:cNvSpPr txBox="1"/>
          <p:nvPr/>
        </p:nvSpPr>
        <p:spPr>
          <a:xfrm>
            <a:off x="5760720" y="5971032"/>
            <a:ext cx="25603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a producción · App móvil · Tarifas de rentabilidad</a:t>
            </a:r>
          </a:p>
        </p:txBody>
      </p:sp>
      <p:sp>
        <p:nvSpPr>
          <p:cNvPr id="144" name="Text"/>
          <p:cNvSpPr txBox="1"/>
          <p:nvPr/>
        </p:nvSpPr>
        <p:spPr>
          <a:xfrm>
            <a:off x="8503920" y="5971032"/>
            <a:ext cx="2834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Node.js · PostgreSQL · GPS Foresight/GEvolution · Telegram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EXUS modulos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"/>
          <p:cNvSpPr txBox="1"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MÓDULOS DE LA VERSIÓN 1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457200" y="658368"/>
            <a:ext cx="9144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30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sistema, cinco módulos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457200" y="115214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5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inicio del sistema web: cada módulo a un clic desde el panel de FullPetro</a:t>
            </a:r>
          </a:p>
        </p:txBody>
      </p:sp>
      <p:pic>
        <p:nvPicPr>
          <p:cNvPr id="104" name="Image" descr="Logo NEX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8956" y="384048"/>
            <a:ext cx="1195539" cy="868680"/>
          </a:xfrm>
          <a:prstGeom prst="rect">
            <a:avLst/>
          </a:prstGeom>
        </p:spPr>
      </p:pic>
      <p:sp>
        <p:nvSpPr>
          <p:cNvPr id="105" name="Line"/>
          <p:cNvSpPr/>
          <p:nvPr/>
        </p:nvSpPr>
        <p:spPr>
          <a:xfrm>
            <a:off x="457200" y="1572768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"/>
          <p:cNvSpPr/>
          <p:nvPr/>
        </p:nvSpPr>
        <p:spPr>
          <a:xfrm>
            <a:off x="457200" y="1810512"/>
            <a:ext cx="6858000" cy="246415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7" name="Image" descr="Pantalla de inicio de NEXU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83664"/>
            <a:ext cx="6711696" cy="2317853"/>
          </a:xfrm>
          <a:prstGeom prst="rect">
            <a:avLst/>
          </a:prstGeom>
        </p:spPr>
      </p:pic>
      <p:sp>
        <p:nvSpPr>
          <p:cNvPr id="108" name="Text"/>
          <p:cNvSpPr txBox="1"/>
          <p:nvPr/>
        </p:nvSpPr>
        <p:spPr>
          <a:xfrm>
            <a:off x="530352" y="4366109"/>
            <a:ext cx="68580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INICIO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vista del usuario administrador</a:t>
            </a:r>
          </a:p>
        </p:txBody>
      </p:sp>
      <p:sp>
        <p:nvSpPr>
          <p:cNvPr id="109" name="Text"/>
          <p:cNvSpPr txBox="1"/>
          <p:nvPr/>
        </p:nvSpPr>
        <p:spPr>
          <a:xfrm>
            <a:off x="530352" y="4777589"/>
            <a:ext cx="68580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COMPARTEN TODOS LOS MÓDULOS</a:t>
            </a:r>
          </a:p>
        </p:txBody>
      </p:sp>
      <p:sp>
        <p:nvSpPr>
          <p:cNvPr id="110" name="Shape"/>
          <p:cNvSpPr/>
          <p:nvPr/>
        </p:nvSpPr>
        <p:spPr>
          <a:xfrm>
            <a:off x="457200" y="5106773"/>
            <a:ext cx="2194560" cy="1166011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243933"/>
            <a:ext cx="329184" cy="329184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2" name="Image" descr="Registro únic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307941"/>
            <a:ext cx="201168" cy="201168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05840" y="5243933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único</a:t>
            </a:r>
          </a:p>
        </p:txBody>
      </p:sp>
      <p:sp>
        <p:nvSpPr>
          <p:cNvPr id="114" name="Text"/>
          <p:cNvSpPr txBox="1"/>
          <p:nvPr/>
        </p:nvSpPr>
        <p:spPr>
          <a:xfrm>
            <a:off x="594360" y="5655413"/>
            <a:ext cx="1920240" cy="52593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y equipos se registran una sola vez para todo el sistema.</a:t>
            </a:r>
          </a:p>
        </p:txBody>
      </p:sp>
      <p:sp>
        <p:nvSpPr>
          <p:cNvPr id="115" name="Shape"/>
          <p:cNvSpPr/>
          <p:nvPr/>
        </p:nvSpPr>
        <p:spPr>
          <a:xfrm>
            <a:off x="2788920" y="5106773"/>
            <a:ext cx="2194560" cy="1166011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"/>
          <p:cNvSpPr/>
          <p:nvPr/>
        </p:nvSpPr>
        <p:spPr>
          <a:xfrm>
            <a:off x="2926080" y="5243933"/>
            <a:ext cx="329184" cy="329184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7" name="Image" descr="Acceso por ro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0088" y="5307941"/>
            <a:ext cx="201168" cy="201168"/>
          </a:xfrm>
          <a:prstGeom prst="rect">
            <a:avLst/>
          </a:prstGeom>
        </p:spPr>
      </p:pic>
      <p:sp>
        <p:nvSpPr>
          <p:cNvPr id="118" name="Text"/>
          <p:cNvSpPr txBox="1"/>
          <p:nvPr/>
        </p:nvSpPr>
        <p:spPr>
          <a:xfrm>
            <a:off x="3337560" y="5243933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 por rol</a:t>
            </a:r>
          </a:p>
        </p:txBody>
      </p:sp>
      <p:sp>
        <p:nvSpPr>
          <p:cNvPr id="119" name="Text"/>
          <p:cNvSpPr txBox="1"/>
          <p:nvPr/>
        </p:nvSpPr>
        <p:spPr>
          <a:xfrm>
            <a:off x="2926080" y="5655413"/>
            <a:ext cx="1920240" cy="52593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ve solo los módulos y datos que le corresponden.</a:t>
            </a:r>
          </a:p>
        </p:txBody>
      </p:sp>
      <p:sp>
        <p:nvSpPr>
          <p:cNvPr id="120" name="Shape"/>
          <p:cNvSpPr/>
          <p:nvPr/>
        </p:nvSpPr>
        <p:spPr>
          <a:xfrm>
            <a:off x="5120640" y="5106773"/>
            <a:ext cx="2194560" cy="1166011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5257800" y="5243933"/>
            <a:ext cx="329184" cy="329184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2" name="Image" descr="Indicadores comun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1808" y="5307941"/>
            <a:ext cx="201168" cy="201168"/>
          </a:xfrm>
          <a:prstGeom prst="rect">
            <a:avLst/>
          </a:prstGeom>
        </p:spPr>
      </p:pic>
      <p:sp>
        <p:nvSpPr>
          <p:cNvPr id="123" name="Text"/>
          <p:cNvSpPr txBox="1"/>
          <p:nvPr/>
        </p:nvSpPr>
        <p:spPr>
          <a:xfrm>
            <a:off x="5669280" y="5243933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 comunes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5257800" y="5655413"/>
            <a:ext cx="1920240" cy="52593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Consumo, horas y flota calculados sobre los mismos datos.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7635240" y="1810512"/>
            <a:ext cx="409925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</a:p>
        </p:txBody>
      </p:sp>
      <p:sp>
        <p:nvSpPr>
          <p:cNvPr id="126" name="Shape"/>
          <p:cNvSpPr/>
          <p:nvPr/>
        </p:nvSpPr>
        <p:spPr>
          <a:xfrm>
            <a:off x="7635240" y="2121408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7" name="Shape"/>
          <p:cNvSpPr/>
          <p:nvPr/>
        </p:nvSpPr>
        <p:spPr>
          <a:xfrm>
            <a:off x="7781544" y="2272284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8" name="Image" descr="Combustibl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0416" y="2391156"/>
            <a:ext cx="237744" cy="237744"/>
          </a:xfrm>
          <a:prstGeom prst="rect">
            <a:avLst/>
          </a:prstGeom>
        </p:spPr>
      </p:pic>
      <p:sp>
        <p:nvSpPr>
          <p:cNvPr id="129" name="Text"/>
          <p:cNvSpPr txBox="1"/>
          <p:nvPr/>
        </p:nvSpPr>
        <p:spPr>
          <a:xfrm>
            <a:off x="8403336" y="2194560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Combustible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Llenados, tanque de gasoil y unidades, con respaldo de cada registro.</a:t>
            </a:r>
          </a:p>
        </p:txBody>
      </p:sp>
      <p:sp>
        <p:nvSpPr>
          <p:cNvPr id="130" name="Shape"/>
          <p:cNvSpPr/>
          <p:nvPr/>
        </p:nvSpPr>
        <p:spPr>
          <a:xfrm>
            <a:off x="7635240" y="2980944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1" name="Shape"/>
          <p:cNvSpPr/>
          <p:nvPr/>
        </p:nvSpPr>
        <p:spPr>
          <a:xfrm>
            <a:off x="7781544" y="3131820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2" name="Image" descr="Tracker GP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3250692"/>
            <a:ext cx="237744" cy="237744"/>
          </a:xfrm>
          <a:prstGeom prst="rect">
            <a:avLst/>
          </a:prstGeom>
        </p:spPr>
      </p:pic>
      <p:sp>
        <p:nvSpPr>
          <p:cNvPr id="133" name="Text"/>
          <p:cNvSpPr txBox="1"/>
          <p:nvPr/>
        </p:nvSpPr>
        <p:spPr>
          <a:xfrm>
            <a:off x="8403336" y="3054096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flota, alertas y mapa en vivo; reportes de turno por Telegram.</a:t>
            </a:r>
          </a:p>
        </p:txBody>
      </p:sp>
      <p:sp>
        <p:nvSpPr>
          <p:cNvPr id="134" name="Shape"/>
          <p:cNvSpPr/>
          <p:nvPr/>
        </p:nvSpPr>
        <p:spPr>
          <a:xfrm>
            <a:off x="7635240" y="3840480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5" name="Shape"/>
          <p:cNvSpPr/>
          <p:nvPr/>
        </p:nvSpPr>
        <p:spPr>
          <a:xfrm>
            <a:off x="7781544" y="3991356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6" name="Image" descr="Control de Hora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4110228"/>
            <a:ext cx="237744" cy="237744"/>
          </a:xfrm>
          <a:prstGeom prst="rect">
            <a:avLst/>
          </a:prstGeom>
        </p:spPr>
      </p:pic>
      <p:sp>
        <p:nvSpPr>
          <p:cNvPr id="137" name="Text"/>
          <p:cNvSpPr txBox="1"/>
          <p:nvPr/>
        </p:nvSpPr>
        <p:spPr>
          <a:xfrm>
            <a:off x="8403336" y="3913632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de Horas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diario por proyecto y equipo, sin fórmulas manuales.</a:t>
            </a:r>
          </a:p>
        </p:txBody>
      </p:sp>
      <p:sp>
        <p:nvSpPr>
          <p:cNvPr id="138" name="Shape"/>
          <p:cNvSpPr/>
          <p:nvPr/>
        </p:nvSpPr>
        <p:spPr>
          <a:xfrm>
            <a:off x="7635240" y="4700016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9" name="Shape"/>
          <p:cNvSpPr/>
          <p:nvPr/>
        </p:nvSpPr>
        <p:spPr>
          <a:xfrm>
            <a:off x="7781544" y="4850892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40" name="Image" descr="Reporte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0416" y="4969764"/>
            <a:ext cx="237744" cy="237744"/>
          </a:xfrm>
          <a:prstGeom prst="rect">
            <a:avLst/>
          </a:prstGeom>
        </p:spPr>
      </p:pic>
      <p:sp>
        <p:nvSpPr>
          <p:cNvPr id="141" name="Text"/>
          <p:cNvSpPr txBox="1"/>
          <p:nvPr/>
        </p:nvSpPr>
        <p:spPr>
          <a:xfrm>
            <a:off x="8403336" y="4773168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 combustible y horas trabajadas para gerencia.</a:t>
            </a:r>
          </a:p>
        </p:txBody>
      </p:sp>
      <p:sp>
        <p:nvSpPr>
          <p:cNvPr id="142" name="Shape"/>
          <p:cNvSpPr/>
          <p:nvPr/>
        </p:nvSpPr>
        <p:spPr>
          <a:xfrm>
            <a:off x="7635240" y="5559552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3" name="Shape"/>
          <p:cNvSpPr/>
          <p:nvPr/>
        </p:nvSpPr>
        <p:spPr>
          <a:xfrm>
            <a:off x="7781544" y="5710428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44" name="Image" descr="Seguridad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0416" y="5829300"/>
            <a:ext cx="237744" cy="237744"/>
          </a:xfrm>
          <a:prstGeom prst="rect">
            <a:avLst/>
          </a:prstGeom>
        </p:spPr>
      </p:pic>
      <p:sp>
        <p:nvSpPr>
          <p:cNvPr id="145" name="Text"/>
          <p:cNvSpPr txBox="1"/>
          <p:nvPr/>
        </p:nvSpPr>
        <p:spPr>
          <a:xfrm>
            <a:off x="8403336" y="5632704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roles y permisos: quién entra y qué puede 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Combusti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Combustible · Flota Liviana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01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3216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Pantalla del módulo Combusti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7443216" cy="3585865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4966609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LLENADOS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filtros, totales y respaldo de cada carga</a:t>
            </a:r>
          </a:p>
        </p:txBody>
      </p:sp>
      <p:sp>
        <p:nvSpPr>
          <p:cNvPr id="110" name="Shape"/>
          <p:cNvSpPr/>
          <p:nvPr/>
        </p:nvSpPr>
        <p:spPr>
          <a:xfrm>
            <a:off x="45720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2" name="Image" descr="Respaldo con f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77128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Respaldo con foto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llenado guarda la foto del ticket.</a:t>
            </a:r>
          </a:p>
        </p:txBody>
      </p:sp>
      <p:sp>
        <p:nvSpPr>
          <p:cNvPr id="114" name="Shape"/>
          <p:cNvSpPr/>
          <p:nvPr/>
        </p:nvSpPr>
        <p:spPr>
          <a:xfrm>
            <a:off x="303276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316992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6" name="Image" descr="Totales al instan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2216" y="5771281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67284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Totales al instante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y monto se suman solos según el filtro.</a:t>
            </a:r>
          </a:p>
        </p:txBody>
      </p:sp>
      <p:sp>
        <p:nvSpPr>
          <p:cNvPr id="118" name="Shape"/>
          <p:cNvSpPr/>
          <p:nvPr/>
        </p:nvSpPr>
        <p:spPr>
          <a:xfrm>
            <a:off x="560832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74548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0" name="Image" descr="Exportabl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7776" y="5771281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624840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Exportable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filtrado se descarga en Excel con un clic.</a:t>
            </a:r>
          </a:p>
        </p:txBody>
      </p:sp>
      <p:sp>
        <p:nvSpPr>
          <p:cNvPr id="122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8366760" y="147218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llenado con su ID de transacción, fecha, hora, unidad, responsable, tipo de combustible, litros y monto.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rango de fechas, unidad y responsable.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del período filtrado en litros y dólares.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8366760" y="301752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8366760" y="334670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"Nuevo Llenado" registra la carga y adjunta la foto del ticket.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registro se puede ver, editar o eliminar desde la misma tabla.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"Exportar Excel" entrega el reporte listo para compartir.</a:t>
            </a:r>
          </a:p>
        </p:txBody>
      </p:sp>
      <p:sp>
        <p:nvSpPr>
          <p:cNvPr id="126" name="Shape"/>
          <p:cNvSpPr/>
          <p:nvPr/>
        </p:nvSpPr>
        <p:spPr>
          <a:xfrm>
            <a:off x="8366760" y="5378089"/>
            <a:ext cx="336773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"/>
          <p:cNvSpPr txBox="1"/>
          <p:nvPr/>
        </p:nvSpPr>
        <p:spPr>
          <a:xfrm>
            <a:off x="8549640" y="5469529"/>
            <a:ext cx="300197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→ AHORA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cargas anotadas a mano y en Excel, a registros con responsable, hora y foto, listos para auditar.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lota Pesa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Flota Pesad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Combustible · Flota Pesada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01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6949440" cy="378050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Pantalla de Combustible Flota Pesa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6803136" cy="3634198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014942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CARGAS · PESADA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tanque de gasoil y despachos a equipos</a:t>
            </a:r>
          </a:p>
        </p:txBody>
      </p:sp>
      <p:sp>
        <p:nvSpPr>
          <p:cNvPr id="110" name="Shape"/>
          <p:cNvSpPr/>
          <p:nvPr/>
        </p:nvSpPr>
        <p:spPr>
          <a:xfrm>
            <a:off x="457200" y="5426422"/>
            <a:ext cx="222504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737318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2" name="Image" descr="Nivel del tanqu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819614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99574"/>
            <a:ext cx="149352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Nivel del tanque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disponibles y % de capacidad, siempre a la vista.</a:t>
            </a:r>
          </a:p>
        </p:txBody>
      </p:sp>
      <p:sp>
        <p:nvSpPr>
          <p:cNvPr id="114" name="Shape"/>
          <p:cNvSpPr/>
          <p:nvPr/>
        </p:nvSpPr>
        <p:spPr>
          <a:xfrm>
            <a:off x="2819400" y="5426422"/>
            <a:ext cx="222504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2956560" y="5737318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6" name="Image" descr="Galones o litro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856" y="5819614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459480" y="5499574"/>
            <a:ext cx="149352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Galones o litros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información en la unidad que se prefiera.</a:t>
            </a:r>
          </a:p>
        </p:txBody>
      </p:sp>
      <p:sp>
        <p:nvSpPr>
          <p:cNvPr id="118" name="Shape"/>
          <p:cNvSpPr/>
          <p:nvPr/>
        </p:nvSpPr>
        <p:spPr>
          <a:xfrm>
            <a:off x="5181600" y="5426422"/>
            <a:ext cx="222504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318760" y="5737318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0" name="Image" descr="Horas del equip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1056" y="5819614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5821680" y="5499574"/>
            <a:ext cx="149352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Horas del equipo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carga registra la medida del horómetro.</a:t>
            </a:r>
          </a:p>
        </p:txBody>
      </p:sp>
      <p:sp>
        <p:nvSpPr>
          <p:cNvPr id="122" name="Text"/>
          <p:cNvSpPr txBox="1"/>
          <p:nvPr/>
        </p:nvSpPr>
        <p:spPr>
          <a:xfrm>
            <a:off x="7726680" y="114300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7726680" y="1472184"/>
            <a:ext cx="400781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Tanque principal de gasoil: litros disponibles sobre su capacidad y porcentaje de llenado.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carga con ID, fecha, hora, solicitante, equipo, medida en horas y galones despachados.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consumido del período filtrado.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7726680" y="301752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7726680" y="3346704"/>
            <a:ext cx="400781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"Nueva Carga" registra el despacho con su foto de respaldo.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fecha, unidad y solicitante; cambio entre galones y litros.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 Tanque de Gasoil" abre el detalle del tanque y "Exportar Excel" descarga lo filtrado.</a:t>
            </a:r>
          </a:p>
        </p:txBody>
      </p:sp>
      <p:sp>
        <p:nvSpPr>
          <p:cNvPr id="126" name="Shape"/>
          <p:cNvSpPr/>
          <p:nvPr/>
        </p:nvSpPr>
        <p:spPr>
          <a:xfrm>
            <a:off x="7726680" y="5426422"/>
            <a:ext cx="400781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"/>
          <p:cNvSpPr txBox="1"/>
          <p:nvPr/>
        </p:nvSpPr>
        <p:spPr>
          <a:xfrm>
            <a:off x="7909560" y="5517862"/>
            <a:ext cx="364205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despacho queda ligado a su solicitante, equipo y horas de uso, con el nivel del tanque siempre a la vista.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nque de Gasoi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Tanqu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Combustible · Tanque de Gasoil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01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88720"/>
            <a:ext cx="5212080" cy="5074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"/>
          <p:cNvSpPr txBox="1"/>
          <p:nvPr/>
        </p:nvSpPr>
        <p:spPr>
          <a:xfrm>
            <a:off x="731520" y="13716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TANQUES</a:t>
            </a:r>
          </a:p>
        </p:txBody>
      </p:sp>
      <p:sp>
        <p:nvSpPr>
          <p:cNvPr id="109" name="Shape"/>
          <p:cNvSpPr/>
          <p:nvPr/>
        </p:nvSpPr>
        <p:spPr>
          <a:xfrm>
            <a:off x="777240" y="1737360"/>
            <a:ext cx="4572000" cy="34013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0" name="Image" descr="Tarjeta del Tanque Principal de Ga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37360"/>
            <a:ext cx="4572000" cy="3401391"/>
          </a:xfrm>
          <a:prstGeom prst="rect">
            <a:avLst/>
          </a:prstGeom>
        </p:spPr>
      </p:pic>
      <p:sp>
        <p:nvSpPr>
          <p:cNvPr id="111" name="Shape"/>
          <p:cNvSpPr/>
          <p:nvPr/>
        </p:nvSpPr>
        <p:spPr>
          <a:xfrm>
            <a:off x="489270" y="195739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489270" y="195739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3" name="Shape"/>
          <p:cNvSpPr/>
          <p:nvPr/>
        </p:nvSpPr>
        <p:spPr>
          <a:xfrm>
            <a:off x="489270" y="3238434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489270" y="323843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5" name="Shape"/>
          <p:cNvSpPr/>
          <p:nvPr/>
        </p:nvSpPr>
        <p:spPr>
          <a:xfrm>
            <a:off x="5348401" y="2023651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5348401" y="2023651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17" name="Shape"/>
          <p:cNvSpPr/>
          <p:nvPr/>
        </p:nvSpPr>
        <p:spPr>
          <a:xfrm>
            <a:off x="489270" y="4475303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"/>
          <p:cNvSpPr txBox="1"/>
          <p:nvPr/>
        </p:nvSpPr>
        <p:spPr>
          <a:xfrm>
            <a:off x="489270" y="44753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pic>
        <p:nvPicPr>
          <p:cNvPr id="119" name="Image" descr="Botón Nuevo Tanqu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413071"/>
            <a:ext cx="1554480" cy="391064"/>
          </a:xfrm>
          <a:prstGeom prst="rect">
            <a:avLst/>
          </a:prstGeom>
        </p:spPr>
      </p:pic>
      <p:sp>
        <p:nvSpPr>
          <p:cNvPr id="120" name="Shape"/>
          <p:cNvSpPr/>
          <p:nvPr/>
        </p:nvSpPr>
        <p:spPr>
          <a:xfrm>
            <a:off x="621792" y="5303343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"/>
          <p:cNvSpPr txBox="1"/>
          <p:nvPr/>
        </p:nvSpPr>
        <p:spPr>
          <a:xfrm>
            <a:off x="621792" y="530334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22" name="Text"/>
          <p:cNvSpPr txBox="1"/>
          <p:nvPr/>
        </p:nvSpPr>
        <p:spPr>
          <a:xfrm>
            <a:off x="2514600" y="5413071"/>
            <a:ext cx="2834640" cy="391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pueden dar de alta más tanques.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6035040" y="1188720"/>
            <a:ext cx="569945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</a:p>
        </p:txBody>
      </p:sp>
      <p:sp>
        <p:nvSpPr>
          <p:cNvPr id="124" name="Shape"/>
          <p:cNvSpPr/>
          <p:nvPr/>
        </p:nvSpPr>
        <p:spPr>
          <a:xfrm>
            <a:off x="6035040" y="1508760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6199632" y="1664208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6199632" y="16642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27" name="Text"/>
          <p:cNvSpPr txBox="1"/>
          <p:nvPr/>
        </p:nvSpPr>
        <p:spPr>
          <a:xfrm>
            <a:off x="6748272" y="1563624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Ficha de cada tanque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nombre, tipo de combustible y estado (Activo).</a:t>
            </a:r>
          </a:p>
        </p:txBody>
      </p:sp>
      <p:sp>
        <p:nvSpPr>
          <p:cNvPr id="128" name="Shape"/>
          <p:cNvSpPr/>
          <p:nvPr/>
        </p:nvSpPr>
        <p:spPr>
          <a:xfrm>
            <a:off x="6035040" y="2258568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6199632" y="2414016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6199632" y="241401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31" name="Text"/>
          <p:cNvSpPr txBox="1"/>
          <p:nvPr/>
        </p:nvSpPr>
        <p:spPr>
          <a:xfrm>
            <a:off x="6748272" y="2313432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Nivel a la vista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disponibles sobre la capacidad total y porcentaje de llenado.</a:t>
            </a:r>
          </a:p>
        </p:txBody>
      </p:sp>
      <p:sp>
        <p:nvSpPr>
          <p:cNvPr id="132" name="Shape"/>
          <p:cNvSpPr/>
          <p:nvPr/>
        </p:nvSpPr>
        <p:spPr>
          <a:xfrm>
            <a:off x="6035040" y="3008376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6199632" y="3163824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6199632" y="316382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35" name="Text"/>
          <p:cNvSpPr txBox="1"/>
          <p:nvPr/>
        </p:nvSpPr>
        <p:spPr>
          <a:xfrm>
            <a:off x="6748272" y="3063240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Historial y control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movimientos del tanque, edición de sus datos y baja.</a:t>
            </a:r>
          </a:p>
        </p:txBody>
      </p:sp>
      <p:sp>
        <p:nvSpPr>
          <p:cNvPr id="136" name="Shape"/>
          <p:cNvSpPr/>
          <p:nvPr/>
        </p:nvSpPr>
        <p:spPr>
          <a:xfrm>
            <a:off x="6035040" y="3758184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7" name="Shape"/>
          <p:cNvSpPr/>
          <p:nvPr/>
        </p:nvSpPr>
        <p:spPr>
          <a:xfrm>
            <a:off x="6199632" y="3913632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"/>
          <p:cNvSpPr txBox="1"/>
          <p:nvPr/>
        </p:nvSpPr>
        <p:spPr>
          <a:xfrm>
            <a:off x="6199632" y="391363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39" name="Text"/>
          <p:cNvSpPr txBox="1"/>
          <p:nvPr/>
        </p:nvSpPr>
        <p:spPr>
          <a:xfrm>
            <a:off x="6748272" y="3813048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 movimiento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movimiento de gasoil se registra para mantener el nivel al día.</a:t>
            </a:r>
          </a:p>
        </p:txBody>
      </p:sp>
      <p:sp>
        <p:nvSpPr>
          <p:cNvPr id="140" name="Shape"/>
          <p:cNvSpPr/>
          <p:nvPr/>
        </p:nvSpPr>
        <p:spPr>
          <a:xfrm>
            <a:off x="6035040" y="4507992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1" name="Shape"/>
          <p:cNvSpPr/>
          <p:nvPr/>
        </p:nvSpPr>
        <p:spPr>
          <a:xfrm>
            <a:off x="6199632" y="4663440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"/>
          <p:cNvSpPr txBox="1"/>
          <p:nvPr/>
        </p:nvSpPr>
        <p:spPr>
          <a:xfrm>
            <a:off x="6199632" y="46634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43" name="Text"/>
          <p:cNvSpPr txBox="1"/>
          <p:nvPr/>
        </p:nvSpPr>
        <p:spPr>
          <a:xfrm>
            <a:off x="6748272" y="4562856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Nuevo Tanque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operación puede sumar tanques sin cambiar el sistema.</a:t>
            </a:r>
          </a:p>
        </p:txBody>
      </p:sp>
      <p:sp>
        <p:nvSpPr>
          <p:cNvPr id="144" name="Shape"/>
          <p:cNvSpPr/>
          <p:nvPr/>
        </p:nvSpPr>
        <p:spPr>
          <a:xfrm>
            <a:off x="6035040" y="5385816"/>
            <a:ext cx="5699455" cy="877824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5" name="Text"/>
          <p:cNvSpPr txBox="1"/>
          <p:nvPr/>
        </p:nvSpPr>
        <p:spPr>
          <a:xfrm>
            <a:off x="6263640" y="5477256"/>
            <a:ext cx="5242255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→ AHORA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del tanque ya no depende de mediciones y cálculos a mano: se ve en el sistema y se conecta con las cargas de Flota Pesada.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rol de Hor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Control de Hor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de Horas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02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139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Filtros de empresa, proyecto y fech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7443216" cy="535818"/>
          </a:xfrm>
          <a:prstGeom prst="rect">
            <a:avLst/>
          </a:prstGeom>
        </p:spPr>
      </p:pic>
      <p:sp>
        <p:nvSpPr>
          <p:cNvPr id="109" name="Line"/>
          <p:cNvSpPr/>
          <p:nvPr/>
        </p:nvSpPr>
        <p:spPr>
          <a:xfrm>
            <a:off x="530352" y="1788546"/>
            <a:ext cx="7443216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10" name="Image" descr="Tabla de horas por equip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25122"/>
            <a:ext cx="7443216" cy="2958649"/>
          </a:xfrm>
          <a:prstGeom prst="rect">
            <a:avLst/>
          </a:prstGeom>
        </p:spPr>
      </p:pic>
      <p:sp>
        <p:nvSpPr>
          <p:cNvPr id="111" name="Text"/>
          <p:cNvSpPr txBox="1"/>
          <p:nvPr/>
        </p:nvSpPr>
        <p:spPr>
          <a:xfrm>
            <a:off x="530352" y="4948364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DIARIO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ejemplo: Chevron · Izamiento, 4 equipos</a:t>
            </a:r>
          </a:p>
        </p:txBody>
      </p:sp>
      <p:sp>
        <p:nvSpPr>
          <p:cNvPr id="112" name="Shape"/>
          <p:cNvSpPr/>
          <p:nvPr/>
        </p:nvSpPr>
        <p:spPr>
          <a:xfrm>
            <a:off x="457200" y="5314124"/>
            <a:ext cx="2438400" cy="10409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"/>
          <p:cNvSpPr/>
          <p:nvPr/>
        </p:nvSpPr>
        <p:spPr>
          <a:xfrm>
            <a:off x="594360" y="5642578"/>
            <a:ext cx="384048" cy="384048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594360" y="564257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5" name="Text"/>
          <p:cNvSpPr txBox="1"/>
          <p:nvPr/>
        </p:nvSpPr>
        <p:spPr>
          <a:xfrm>
            <a:off x="1097280" y="5387276"/>
            <a:ext cx="1706880" cy="8946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Empresa y proyecto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elige el cliente, el proyecto y la fecha.</a:t>
            </a:r>
          </a:p>
        </p:txBody>
      </p:sp>
      <p:sp>
        <p:nvSpPr>
          <p:cNvPr id="116" name="Shape"/>
          <p:cNvSpPr/>
          <p:nvPr/>
        </p:nvSpPr>
        <p:spPr>
          <a:xfrm>
            <a:off x="3032760" y="5314124"/>
            <a:ext cx="2438400" cy="10409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"/>
          <p:cNvSpPr/>
          <p:nvPr/>
        </p:nvSpPr>
        <p:spPr>
          <a:xfrm>
            <a:off x="3169920" y="5642578"/>
            <a:ext cx="384048" cy="384048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"/>
          <p:cNvSpPr txBox="1"/>
          <p:nvPr/>
        </p:nvSpPr>
        <p:spPr>
          <a:xfrm>
            <a:off x="3169920" y="564257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9" name="Text"/>
          <p:cNvSpPr txBox="1"/>
          <p:nvPr/>
        </p:nvSpPr>
        <p:spPr>
          <a:xfrm>
            <a:off x="3672840" y="5387276"/>
            <a:ext cx="1706880" cy="8946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Equipos del día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marcan los equipos que trabajan esa jornada.</a:t>
            </a:r>
          </a:p>
        </p:txBody>
      </p:sp>
      <p:sp>
        <p:nvSpPr>
          <p:cNvPr id="120" name="Shape"/>
          <p:cNvSpPr/>
          <p:nvPr/>
        </p:nvSpPr>
        <p:spPr>
          <a:xfrm>
            <a:off x="5608320" y="5314124"/>
            <a:ext cx="2438400" cy="10409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5745480" y="5642578"/>
            <a:ext cx="384048" cy="384048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5745480" y="564257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6248400" y="5387276"/>
            <a:ext cx="1706880" cy="8946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 horas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Totales, acumulados y % se calculan solos.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REGISTRA Y CALCULA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8366760" y="1472184"/>
            <a:ext cx="3367735" cy="2926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equipo y por día: horas ejecutadas, disponibles y stand-by, con nota opcional.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Acumulado del mes por equipo: horas de cobro completo y de stand-by.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 de stand-by y de ejecución + disponibilidad.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del día y del mes para todo el proyecto, listos para facturar y reportar.</a:t>
            </a:r>
          </a:p>
        </p:txBody>
      </p:sp>
      <p:sp>
        <p:nvSpPr>
          <p:cNvPr id="126" name="Text"/>
          <p:cNvSpPr txBox="1"/>
          <p:nvPr/>
        </p:nvSpPr>
        <p:spPr>
          <a:xfrm>
            <a:off x="8366760" y="3931920"/>
            <a:ext cx="336773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PARA</a:t>
            </a:r>
          </a:p>
        </p:txBody>
      </p:sp>
      <p:sp>
        <p:nvSpPr>
          <p:cNvPr id="127" name="Shape"/>
          <p:cNvSpPr/>
          <p:nvPr/>
        </p:nvSpPr>
        <p:spPr>
          <a:xfrm>
            <a:off x="8366760" y="4251960"/>
            <a:ext cx="886968" cy="310896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8BC7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Text"/>
          <p:cNvSpPr txBox="1"/>
          <p:nvPr/>
        </p:nvSpPr>
        <p:spPr>
          <a:xfrm>
            <a:off x="8366760" y="4251960"/>
            <a:ext cx="88696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1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Izamiento</a:t>
            </a:r>
          </a:p>
        </p:txBody>
      </p:sp>
      <p:sp>
        <p:nvSpPr>
          <p:cNvPr id="129" name="Shape"/>
          <p:cNvSpPr/>
          <p:nvPr/>
        </p:nvSpPr>
        <p:spPr>
          <a:xfrm>
            <a:off x="9345168" y="425196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EDF1F5"/>
          </a:solidFill>
          <a:ln w="9525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9345168" y="4251960"/>
            <a:ext cx="13258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proyectos</a:t>
            </a:r>
          </a:p>
        </p:txBody>
      </p:sp>
      <p:sp>
        <p:nvSpPr>
          <p:cNvPr id="131" name="Shape"/>
          <p:cNvSpPr/>
          <p:nvPr/>
        </p:nvSpPr>
        <p:spPr>
          <a:xfrm>
            <a:off x="10762488" y="4251960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"/>
          <p:cNvSpPr txBox="1"/>
          <p:nvPr/>
        </p:nvSpPr>
        <p:spPr>
          <a:xfrm>
            <a:off x="10762488" y="4251960"/>
            <a:ext cx="74066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Futuros</a:t>
            </a:r>
          </a:p>
        </p:txBody>
      </p:sp>
      <p:sp>
        <p:nvSpPr>
          <p:cNvPr id="133" name="Shape"/>
          <p:cNvSpPr/>
          <p:nvPr/>
        </p:nvSpPr>
        <p:spPr>
          <a:xfrm>
            <a:off x="8366760" y="5314124"/>
            <a:ext cx="3367735" cy="1040956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8567928" y="5405564"/>
            <a:ext cx="2965399" cy="8580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MÓDULO PARA TODOS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se usa en Izamiento; cualquier proyecto actual o nuevo se agrega eligiendo empresa y proyecto.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Repor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· Combustible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03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6903720" cy="445743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Reporte de combusti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6757416" cy="4311127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691871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COMBUSTIBLE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últimos 30 días, ambas flotas</a:t>
            </a:r>
          </a:p>
        </p:txBody>
      </p:sp>
      <p:sp>
        <p:nvSpPr>
          <p:cNvPr id="110" name="Text"/>
          <p:cNvSpPr txBox="1"/>
          <p:nvPr/>
        </p:nvSpPr>
        <p:spPr>
          <a:xfrm>
            <a:off x="7726680" y="114300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7726680" y="1472184"/>
            <a:ext cx="4007815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de fechas a elección (por ejemplo, últimos 30 días).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 por flota: Liviana y Pesada en la misma escala de litros.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en USD por vehículo de Flota Liviana.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unidad: litros o galones, gasto y número de llenados.</a:t>
            </a:r>
          </a:p>
        </p:txBody>
      </p:sp>
      <p:sp>
        <p:nvSpPr>
          <p:cNvPr id="112" name="Text"/>
          <p:cNvSpPr txBox="1"/>
          <p:nvPr/>
        </p:nvSpPr>
        <p:spPr>
          <a:xfrm>
            <a:off x="7726680" y="2944368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 LECTURA</a:t>
            </a:r>
          </a:p>
        </p:txBody>
      </p:sp>
      <p:sp>
        <p:nvSpPr>
          <p:cNvPr id="113" name="Shape"/>
          <p:cNvSpPr/>
          <p:nvPr/>
        </p:nvSpPr>
        <p:spPr>
          <a:xfrm>
            <a:off x="7726680" y="3264408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"/>
          <p:cNvSpPr/>
          <p:nvPr/>
        </p:nvSpPr>
        <p:spPr>
          <a:xfrm>
            <a:off x="7863840" y="3401568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5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456432"/>
            <a:ext cx="182880" cy="182880"/>
          </a:xfrm>
          <a:prstGeom prst="rect">
            <a:avLst/>
          </a:prstGeom>
        </p:spPr>
      </p:pic>
      <p:sp>
        <p:nvSpPr>
          <p:cNvPr id="116" name="Text"/>
          <p:cNvSpPr txBox="1"/>
          <p:nvPr/>
        </p:nvSpPr>
        <p:spPr>
          <a:xfrm>
            <a:off x="8275320" y="3355848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galones a litros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Flota Pesada se mide en galones y se convierte (1 gal = 3,78541 L) para compararla con la Liviana.</a:t>
            </a:r>
          </a:p>
        </p:txBody>
      </p:sp>
      <p:sp>
        <p:nvSpPr>
          <p:cNvPr id="117" name="Shape"/>
          <p:cNvSpPr/>
          <p:nvPr/>
        </p:nvSpPr>
        <p:spPr>
          <a:xfrm>
            <a:off x="7726680" y="4069080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"/>
          <p:cNvSpPr/>
          <p:nvPr/>
        </p:nvSpPr>
        <p:spPr>
          <a:xfrm>
            <a:off x="7863840" y="420624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9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4261104"/>
            <a:ext cx="182880" cy="182880"/>
          </a:xfrm>
          <a:prstGeom prst="rect">
            <a:avLst/>
          </a:prstGeom>
        </p:spPr>
      </p:pic>
      <p:sp>
        <p:nvSpPr>
          <p:cNvPr id="120" name="Text"/>
          <p:cNvSpPr txBox="1"/>
          <p:nvPr/>
        </p:nvSpPr>
        <p:spPr>
          <a:xfrm>
            <a:off x="8275320" y="4160520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Gasto solo en Liviana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Liviana compra por transacción en estación; la Pesada descuenta del tanque propio, sin costo por carga.</a:t>
            </a:r>
          </a:p>
        </p:txBody>
      </p:sp>
      <p:sp>
        <p:nvSpPr>
          <p:cNvPr id="121" name="Shape"/>
          <p:cNvSpPr/>
          <p:nvPr/>
        </p:nvSpPr>
        <p:spPr>
          <a:xfrm>
            <a:off x="7726680" y="4937760"/>
            <a:ext cx="4007815" cy="991855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7927848" y="5010912"/>
            <a:ext cx="3605479" cy="8455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GERENCIA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y gasto de ambas flotas en una sola vista, sin armar reportes a mano.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Hor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Repor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· Control de Horas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03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315200" cy="42221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Reporte de Control de Hor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7168896" cy="4075887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456631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HORAS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ejemplo: Izamiento (Chevron), 4 equipos</a:t>
            </a:r>
          </a:p>
        </p:txBody>
      </p:sp>
      <p:sp>
        <p:nvSpPr>
          <p:cNvPr id="110" name="Text"/>
          <p:cNvSpPr txBox="1"/>
          <p:nvPr/>
        </p:nvSpPr>
        <p:spPr>
          <a:xfrm>
            <a:off x="8092440" y="1143000"/>
            <a:ext cx="364205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8092440" y="1472184"/>
            <a:ext cx="3642055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cobro completo frente a horas de stand-by en el período.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por proyecto, con su empresa y el porcentaje de stand-by.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equipo: cobro completo, stand-by, % de stand-by y días registrados.</a:t>
            </a:r>
          </a:p>
        </p:txBody>
      </p:sp>
      <p:sp>
        <p:nvSpPr>
          <p:cNvPr id="112" name="Text"/>
          <p:cNvSpPr txBox="1"/>
          <p:nvPr/>
        </p:nvSpPr>
        <p:spPr>
          <a:xfrm>
            <a:off x="8092440" y="2944368"/>
            <a:ext cx="364205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 LECTURA</a:t>
            </a:r>
          </a:p>
        </p:txBody>
      </p:sp>
      <p:sp>
        <p:nvSpPr>
          <p:cNvPr id="113" name="Shape"/>
          <p:cNvSpPr/>
          <p:nvPr/>
        </p:nvSpPr>
        <p:spPr>
          <a:xfrm>
            <a:off x="8092440" y="3264408"/>
            <a:ext cx="364205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"/>
          <p:cNvSpPr/>
          <p:nvPr/>
        </p:nvSpPr>
        <p:spPr>
          <a:xfrm>
            <a:off x="8229600" y="3401568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5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64" y="3456432"/>
            <a:ext cx="182880" cy="182880"/>
          </a:xfrm>
          <a:prstGeom prst="rect">
            <a:avLst/>
          </a:prstGeom>
        </p:spPr>
      </p:pic>
      <p:sp>
        <p:nvSpPr>
          <p:cNvPr id="116" name="Text"/>
          <p:cNvSpPr txBox="1"/>
          <p:nvPr/>
        </p:nvSpPr>
        <p:spPr>
          <a:xfrm>
            <a:off x="8641080" y="3355848"/>
            <a:ext cx="295625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los proyectos juntos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gráfico suma todos los proyectos de Control de Horas del período; las tablas los separan.</a:t>
            </a:r>
          </a:p>
        </p:txBody>
      </p:sp>
      <p:sp>
        <p:nvSpPr>
          <p:cNvPr id="117" name="Shape"/>
          <p:cNvSpPr/>
          <p:nvPr/>
        </p:nvSpPr>
        <p:spPr>
          <a:xfrm>
            <a:off x="8092440" y="4069080"/>
            <a:ext cx="364205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"/>
          <p:cNvSpPr/>
          <p:nvPr/>
        </p:nvSpPr>
        <p:spPr>
          <a:xfrm>
            <a:off x="8229600" y="420624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9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64" y="4261104"/>
            <a:ext cx="182880" cy="182880"/>
          </a:xfrm>
          <a:prstGeom prst="rect">
            <a:avLst/>
          </a:prstGeom>
        </p:spPr>
      </p:pic>
      <p:sp>
        <p:nvSpPr>
          <p:cNvPr id="120" name="Text"/>
          <p:cNvSpPr txBox="1"/>
          <p:nvPr/>
        </p:nvSpPr>
        <p:spPr>
          <a:xfrm>
            <a:off x="8641080" y="4160520"/>
            <a:ext cx="295625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Crece con cada proyecto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proyecto nuevo aparece como una fila más, sin configurar reportes aparte.</a:t>
            </a:r>
          </a:p>
        </p:txBody>
      </p:sp>
      <p:sp>
        <p:nvSpPr>
          <p:cNvPr id="121" name="Shape"/>
          <p:cNvSpPr/>
          <p:nvPr/>
        </p:nvSpPr>
        <p:spPr>
          <a:xfrm>
            <a:off x="8092440" y="4937760"/>
            <a:ext cx="3642055" cy="91440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8293608" y="5010912"/>
            <a:ext cx="3239719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GERENCIA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se cobra y cuánto queda en stand-by, por proyecto y por equipo, sin armar reportes a mano.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Di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Repor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· Detalle de un Día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03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234440"/>
            <a:ext cx="11277295" cy="263703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Detalle de un día de Control de Hor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07592"/>
            <a:ext cx="11130991" cy="2490731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3962915"/>
            <a:ext cx="1127729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HORAS — DETALLE DE UN DÍA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ejemplo: Chevron · Izamiento, 19/09/2026</a:t>
            </a:r>
          </a:p>
        </p:txBody>
      </p:sp>
      <p:sp>
        <p:nvSpPr>
          <p:cNvPr id="110" name="Shape"/>
          <p:cNvSpPr/>
          <p:nvPr/>
        </p:nvSpPr>
        <p:spPr>
          <a:xfrm>
            <a:off x="457200" y="44201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640080" y="460299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2" name="Image" descr="Cualquier dí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468529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143000" y="4602995"/>
            <a:ext cx="189349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Cualquier día</a:t>
            </a:r>
          </a:p>
        </p:txBody>
      </p:sp>
      <p:sp>
        <p:nvSpPr>
          <p:cNvPr id="114" name="Text"/>
          <p:cNvSpPr txBox="1"/>
          <p:nvPr/>
        </p:nvSpPr>
        <p:spPr>
          <a:xfrm>
            <a:off x="640080" y="5151635"/>
            <a:ext cx="2350694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VE" sz="12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elige empresa, proyecto y fecha para revisar la jornada completa.</a:t>
            </a:r>
          </a:p>
        </p:txBody>
      </p:sp>
      <p:sp>
        <p:nvSpPr>
          <p:cNvPr id="115" name="Shape"/>
          <p:cNvSpPr/>
          <p:nvPr/>
        </p:nvSpPr>
        <p:spPr>
          <a:xfrm>
            <a:off x="3310814" y="44201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6" name="Shape"/>
          <p:cNvSpPr/>
          <p:nvPr/>
        </p:nvSpPr>
        <p:spPr>
          <a:xfrm>
            <a:off x="3493694" y="460299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7" name="Image" descr="Horas por equip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5990" y="4685291"/>
            <a:ext cx="219456" cy="219456"/>
          </a:xfrm>
          <a:prstGeom prst="rect">
            <a:avLst/>
          </a:prstGeom>
        </p:spPr>
      </p:pic>
      <p:sp>
        <p:nvSpPr>
          <p:cNvPr id="118" name="Text"/>
          <p:cNvSpPr txBox="1"/>
          <p:nvPr/>
        </p:nvSpPr>
        <p:spPr>
          <a:xfrm>
            <a:off x="3996614" y="4602995"/>
            <a:ext cx="189349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Horas por equipo</a:t>
            </a:r>
          </a:p>
        </p:txBody>
      </p:sp>
      <p:sp>
        <p:nvSpPr>
          <p:cNvPr id="119" name="Text"/>
          <p:cNvSpPr txBox="1"/>
          <p:nvPr/>
        </p:nvSpPr>
        <p:spPr>
          <a:xfrm>
            <a:off x="3493694" y="5151635"/>
            <a:ext cx="2350694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VE" sz="12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Ejecutadas, disponibles, stand-by y totales de cada equipo ese día.</a:t>
            </a:r>
          </a:p>
        </p:txBody>
      </p:sp>
      <p:sp>
        <p:nvSpPr>
          <p:cNvPr id="120" name="Shape"/>
          <p:cNvSpPr/>
          <p:nvPr/>
        </p:nvSpPr>
        <p:spPr>
          <a:xfrm>
            <a:off x="6164428" y="44201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6347308" y="460299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2" name="Image" descr="Cálculo automátic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604" y="4685291"/>
            <a:ext cx="219456" cy="219456"/>
          </a:xfrm>
          <a:prstGeom prst="rect">
            <a:avLst/>
          </a:prstGeom>
        </p:spPr>
      </p:pic>
      <p:sp>
        <p:nvSpPr>
          <p:cNvPr id="123" name="Text"/>
          <p:cNvSpPr txBox="1"/>
          <p:nvPr/>
        </p:nvSpPr>
        <p:spPr>
          <a:xfrm>
            <a:off x="6850228" y="4602995"/>
            <a:ext cx="189349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automático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6347308" y="5151635"/>
            <a:ext cx="2350694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VE" sz="1200" b="1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Hrs. totales = Total + Stand-by</a:t>
            </a:r>
          </a:p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VE" sz="1200" b="1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Stand-by = Stand-by ÷ Hrs. totales</a:t>
            </a:r>
          </a:p>
        </p:txBody>
      </p:sp>
      <p:sp>
        <p:nvSpPr>
          <p:cNvPr id="125" name="Shape"/>
          <p:cNvSpPr/>
          <p:nvPr/>
        </p:nvSpPr>
        <p:spPr>
          <a:xfrm>
            <a:off x="9018041" y="44201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9219209" y="4557275"/>
            <a:ext cx="2314118" cy="1325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REVISIÓN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validar lo cargado en una jornada específica antes de cerrar el mes.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sumen por di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Repor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· Resumen por Día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03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2393786" y="1115568"/>
            <a:ext cx="7404124" cy="512978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Control de Horas: resumen por dí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6938" y="1188720"/>
            <a:ext cx="72578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EXUS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ogo NEXUS" descr="Logo NEX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21385" cy="960120"/>
          </a:xfrm>
          <a:prstGeom prst="rect">
            <a:avLst/>
          </a:prstGeom>
        </p:spPr>
      </p:pic>
      <p:sp>
        <p:nvSpPr>
          <p:cNvPr id="102" name="Text"/>
          <p:cNvSpPr txBox="1"/>
          <p:nvPr/>
        </p:nvSpPr>
        <p:spPr>
          <a:xfrm>
            <a:off x="2098625" y="41148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20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 · FLOTA EN TIEMPO REAL</a:t>
            </a:r>
            <a:endParaRPr lang="es-VE" sz="120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3" name="Text"/>
          <p:cNvSpPr txBox="1"/>
          <p:nvPr/>
        </p:nvSpPr>
        <p:spPr>
          <a:xfrm>
            <a:off x="2098625" y="658368"/>
            <a:ext cx="827981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30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de Flota</a:t>
            </a:r>
            <a:endParaRPr lang="es-VE" sz="30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Text"/>
          <p:cNvSpPr txBox="1"/>
          <p:nvPr/>
        </p:nvSpPr>
        <p:spPr>
          <a:xfrm>
            <a:off x="2098625" y="115214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250" i="1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Monitoreo, alertas y reportes de la flota, conectados al GPS y a Telegram</a:t>
            </a:r>
            <a:endParaRPr lang="es-VE" sz="1250" i="1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5" name="Line"/>
          <p:cNvSpPr/>
          <p:nvPr/>
        </p:nvSpPr>
        <p:spPr>
          <a:xfrm>
            <a:off x="457200" y="1572768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"/>
          <p:cNvSpPr txBox="1"/>
          <p:nvPr/>
        </p:nvSpPr>
        <p:spPr>
          <a:xfrm>
            <a:off x="502920" y="1783080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</a:p>
        </p:txBody>
      </p:sp>
      <p:sp>
        <p:nvSpPr>
          <p:cNvPr id="107" name="Text"/>
          <p:cNvSpPr txBox="1"/>
          <p:nvPr/>
        </p:nvSpPr>
        <p:spPr>
          <a:xfrm>
            <a:off x="502920" y="2084832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s-ES" sz="12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 </a:t>
            </a:r>
            <a:r>
              <a:rPr lang="es-ES" sz="1250" b="1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75 unidades de la flota</a:t>
            </a:r>
            <a:r>
              <a:rPr lang="es-ES" sz="12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los datos del GPS de GEvolution: dónde está cada una, si está activa o estacionada, qué recorrido hizo y cuándo entra o sale de una geocerca. Y </a:t>
            </a:r>
            <a:r>
              <a:rPr lang="es-ES" sz="1250" b="1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 solo por Telegram</a:t>
            </a:r>
            <a:r>
              <a:rPr lang="es-ES" sz="12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VE" sz="1250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8" name="Text"/>
          <p:cNvSpPr txBox="1"/>
          <p:nvPr/>
        </p:nvSpPr>
        <p:spPr>
          <a:xfrm>
            <a:off x="502920" y="290779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i="1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incluye:</a:t>
            </a:r>
            <a:endParaRPr lang="es-VE" sz="1100" i="1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9" name="Shape"/>
          <p:cNvSpPr/>
          <p:nvPr/>
        </p:nvSpPr>
        <p:spPr>
          <a:xfrm>
            <a:off x="508000" y="3200400"/>
            <a:ext cx="134620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"/>
          <p:cNvSpPr txBox="1"/>
          <p:nvPr/>
        </p:nvSpPr>
        <p:spPr>
          <a:xfrm>
            <a:off x="508000" y="3200400"/>
            <a:ext cx="13462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flota</a:t>
            </a:r>
            <a:endParaRPr lang="es-VE" sz="1050" b="1" dirty="0">
              <a:solidFill>
                <a:srgbClr val="9A690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1" name="Shape"/>
          <p:cNvSpPr/>
          <p:nvPr/>
        </p:nvSpPr>
        <p:spPr>
          <a:xfrm>
            <a:off x="1955800" y="320040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1955800" y="3200400"/>
            <a:ext cx="14859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y recorridos</a:t>
            </a:r>
            <a:endParaRPr lang="es-VE" sz="1050" b="1" dirty="0">
              <a:solidFill>
                <a:srgbClr val="9A690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3" name="Shape"/>
          <p:cNvSpPr/>
          <p:nvPr/>
        </p:nvSpPr>
        <p:spPr>
          <a:xfrm>
            <a:off x="3543300" y="3200400"/>
            <a:ext cx="77470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3543300" y="3200400"/>
            <a:ext cx="7747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s-VE" sz="1050" b="1" dirty="0">
              <a:solidFill>
                <a:srgbClr val="9A690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5" name="Shape"/>
          <p:cNvSpPr/>
          <p:nvPr/>
        </p:nvSpPr>
        <p:spPr>
          <a:xfrm>
            <a:off x="4419600" y="320040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4419600" y="3200400"/>
            <a:ext cx="14859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de turno</a:t>
            </a:r>
            <a:endParaRPr lang="es-VE" sz="1050" b="1" dirty="0">
              <a:solidFill>
                <a:srgbClr val="9A690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7" name="Text"/>
          <p:cNvSpPr txBox="1"/>
          <p:nvPr/>
        </p:nvSpPr>
        <p:spPr>
          <a:xfrm>
            <a:off x="502920" y="3730752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RESUELVE</a:t>
            </a:r>
          </a:p>
        </p:txBody>
      </p:sp>
      <p:sp>
        <p:nvSpPr>
          <p:cNvPr id="118" name="Text"/>
          <p:cNvSpPr txBox="1"/>
          <p:nvPr/>
        </p:nvSpPr>
        <p:spPr>
          <a:xfrm>
            <a:off x="502920" y="4032504"/>
            <a:ext cx="525780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ES" sz="120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la flota obligaba a entrar al portal del GPS, unidad por unidad.</a:t>
            </a:r>
            <a:endParaRPr lang="es-VE" sz="120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ES" sz="120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Salidas de geocerca y circulación fuera de horario se veían tarde.</a:t>
            </a:r>
            <a:endParaRPr lang="es-VE" sz="120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ES" sz="120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reportes de cada turno se armaban a mano en Excel.</a:t>
            </a:r>
            <a:endParaRPr lang="es-VE" sz="120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ES" sz="120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GPS solo conoce la placa, no el código, el conductor ni la flota.</a:t>
            </a:r>
            <a:endParaRPr lang="es-VE" sz="120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9" name="Text"/>
          <p:cNvSpPr txBox="1"/>
          <p:nvPr/>
        </p:nvSpPr>
        <p:spPr>
          <a:xfrm>
            <a:off x="6172200" y="1783080"/>
            <a:ext cx="556229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</a:t>
            </a:r>
          </a:p>
        </p:txBody>
      </p:sp>
      <p:sp>
        <p:nvSpPr>
          <p:cNvPr id="120" name="Shape"/>
          <p:cNvSpPr/>
          <p:nvPr/>
        </p:nvSpPr>
        <p:spPr>
          <a:xfrm>
            <a:off x="6172200" y="2103120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6318504" y="2203704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6318504" y="220370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📡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23" name="Text"/>
          <p:cNvSpPr txBox="1"/>
          <p:nvPr/>
        </p:nvSpPr>
        <p:spPr>
          <a:xfrm>
            <a:off x="6922008" y="2167128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Flota en vivo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Activas, estacionadas y sin señal de las 75 unidades, en una sola pantalla.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4" name="Shape"/>
          <p:cNvSpPr/>
          <p:nvPr/>
        </p:nvSpPr>
        <p:spPr>
          <a:xfrm>
            <a:off x="6172200" y="2825496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6318504" y="2926080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6318504" y="2926080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🗺️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27" name="Text"/>
          <p:cNvSpPr txBox="1"/>
          <p:nvPr/>
        </p:nvSpPr>
        <p:spPr>
          <a:xfrm>
            <a:off x="6922008" y="2889504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Recorridos con ruta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 del día de cada unidad, con kilómetros, horas y la ruta real sobre el mapa.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8" name="Shape"/>
          <p:cNvSpPr/>
          <p:nvPr/>
        </p:nvSpPr>
        <p:spPr>
          <a:xfrm>
            <a:off x="6172200" y="3547872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6318504" y="3648456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6318504" y="364845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🔔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31" name="Text"/>
          <p:cNvSpPr txBox="1"/>
          <p:nvPr/>
        </p:nvSpPr>
        <p:spPr>
          <a:xfrm>
            <a:off x="6922008" y="3611880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Alertas precisas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día, entradas y salidas de geocerca; de noche, circulación fuera de horario.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2" name="Shape"/>
          <p:cNvSpPr/>
          <p:nvPr/>
        </p:nvSpPr>
        <p:spPr>
          <a:xfrm>
            <a:off x="6172200" y="4270248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6318504" y="4370832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6318504" y="4370832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📨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35" name="Text"/>
          <p:cNvSpPr txBox="1"/>
          <p:nvPr/>
        </p:nvSpPr>
        <p:spPr>
          <a:xfrm>
            <a:off x="6922008" y="4334256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llega a Telegram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y reportes de turno en el chat, solo para personas aprobadas.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6" name="Shape"/>
          <p:cNvSpPr/>
          <p:nvPr/>
        </p:nvSpPr>
        <p:spPr>
          <a:xfrm>
            <a:off x="6172200" y="4992624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7" name="Shape"/>
          <p:cNvSpPr/>
          <p:nvPr/>
        </p:nvSpPr>
        <p:spPr>
          <a:xfrm>
            <a:off x="6318504" y="5093208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"/>
          <p:cNvSpPr txBox="1"/>
          <p:nvPr/>
        </p:nvSpPr>
        <p:spPr>
          <a:xfrm>
            <a:off x="6318504" y="509320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📊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39" name="Text"/>
          <p:cNvSpPr txBox="1"/>
          <p:nvPr/>
        </p:nvSpPr>
        <p:spPr>
          <a:xfrm>
            <a:off x="6922008" y="5056632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automáticos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cortes por turno en Excel, PDF e imagen, sin armarlos a mano.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0" name="Shape"/>
          <p:cNvSpPr/>
          <p:nvPr/>
        </p:nvSpPr>
        <p:spPr>
          <a:xfrm>
            <a:off x="457200" y="5897880"/>
            <a:ext cx="11277295" cy="658368"/>
          </a:xfrm>
          <a:prstGeom prst="roundRect">
            <a:avLst>
              <a:gd name="adj" fmla="val 12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"/>
          <p:cNvSpPr txBox="1"/>
          <p:nvPr/>
        </p:nvSpPr>
        <p:spPr>
          <a:xfrm>
            <a:off x="685800" y="5971032"/>
            <a:ext cx="137160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funcionamiento</a:t>
            </a:r>
            <a:endParaRPr lang="es-VE" sz="105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2" name="Text"/>
          <p:cNvSpPr txBox="1"/>
          <p:nvPr/>
        </p:nvSpPr>
        <p:spPr>
          <a:xfrm>
            <a:off x="2240280" y="5971032"/>
            <a:ext cx="333756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DATOS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GEvolution · 75 unidades · registro interno de placas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3" name="Text"/>
          <p:cNvSpPr txBox="1"/>
          <p:nvPr/>
        </p:nvSpPr>
        <p:spPr>
          <a:xfrm>
            <a:off x="5760720" y="5971032"/>
            <a:ext cx="25603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AUTOMÁTICO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9:05 am · 2:05 pm · 9:05 pm y alertas de día y de noche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4" name="Text"/>
          <p:cNvSpPr txBox="1"/>
          <p:nvPr/>
        </p:nvSpPr>
        <p:spPr>
          <a:xfrm>
            <a:off x="8503920" y="5971032"/>
            <a:ext cx="2834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de Telegram con acceso por aprobación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100966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F3B860-7AA5-9D15-20EF-0EAB12F2FBA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Estado de Flota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3216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5B4CA-75EA-6C11-0CDA-B915E02F4274}"/>
              </a:ext>
            </a:extLst>
          </p:cNvPr>
          <p:cNvPicPr>
            <a:picLocks/>
          </p:cNvPicPr>
          <p:nvPr/>
        </p:nvPicPr>
        <p:blipFill>
          <a:blip r:embed="rId3"/>
          <a:srcRect r="68"/>
          <a:stretch>
            <a:fillRect/>
          </a:stretch>
        </p:blipFill>
        <p:spPr>
          <a:xfrm>
            <a:off x="530352" y="1216153"/>
            <a:ext cx="7443216" cy="3585865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4966609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FLOTA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vista en vivo de las 75 unidades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Shape"/>
          <p:cNvSpPr/>
          <p:nvPr/>
        </p:nvSpPr>
        <p:spPr>
          <a:xfrm>
            <a:off x="45720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C80000-5040-1FC3-18C4-0E6C3DC12CFF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77128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indicadores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activas, estacionadas y sin señal, siempre arriba.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4" name="Shape"/>
          <p:cNvSpPr/>
          <p:nvPr/>
        </p:nvSpPr>
        <p:spPr>
          <a:xfrm>
            <a:off x="303276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316992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78905D-39A4-CA01-3828-DD7A1D071EC3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252216" y="5771281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67284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Buscar y filtrar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unidad, placa, tipo de flota o ubicación.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8" name="Shape"/>
          <p:cNvSpPr/>
          <p:nvPr/>
        </p:nvSpPr>
        <p:spPr>
          <a:xfrm>
            <a:off x="560832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74548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82A8217-7C37-9300-3F0B-DD81D0A2C9BD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5827776" y="5771281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624840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Sincronizar ahora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al instante la posición real del GPS.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2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8366760" y="147218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unidad con su código, flota, placa, conductor, ubicación y hora de la última lectura.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desplegables: activas, estacionadas y sin señal reciente.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clasificada: Base, Campo, Oficina u Otras.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4" name="Text"/>
          <p:cNvSpPr txBox="1"/>
          <p:nvPr/>
        </p:nvSpPr>
        <p:spPr>
          <a:xfrm>
            <a:off x="8366760" y="301752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8366760" y="334670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abre el bloque que interesa y se busca la unidad.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"Sincronizar ahora" actualiza al momento; además se sincroniza solo en horarios fijos.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unidades sin señal quedan aparte, para revisarlas en sitio.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6" name="Shape"/>
          <p:cNvSpPr/>
          <p:nvPr/>
        </p:nvSpPr>
        <p:spPr>
          <a:xfrm>
            <a:off x="8366760" y="5378089"/>
            <a:ext cx="336773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B24834-0664-457E-7AF2-2F91D7E2163F}"/>
              </a:ext>
            </a:extLst>
          </p:cNvPr>
          <p:cNvSpPr txBox="1"/>
          <p:nvPr/>
        </p:nvSpPr>
        <p:spPr>
          <a:xfrm>
            <a:off x="8569960" y="5517789"/>
            <a:ext cx="1315568" cy="7264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900" b="1" spc="150">
                <a:solidFill>
                  <a:srgbClr val="94A3B8"/>
                </a:solidFill>
                <a:latin typeface="Calibri" panose="020F0502020204030204" pitchFamily="34" charset="0"/>
              </a:rPr>
              <a:t>ANTES</a:t>
            </a:r>
          </a:p>
          <a:p>
            <a:pPr>
              <a:spcBef>
                <a:spcPts val="300"/>
              </a:spcBef>
            </a:pPr>
            <a:r>
              <a:rPr lang="es-ES" sz="1050">
                <a:solidFill>
                  <a:srgbClr val="CBD5E1"/>
                </a:solidFill>
                <a:latin typeface="Calibri" panose="020F0502020204030204" pitchFamily="34" charset="0"/>
              </a:rPr>
              <a:t>Se revisaba el portal del GPS, unidad por unidad.</a:t>
            </a:r>
            <a:endParaRPr lang="en-US" sz="1050">
              <a:solidFill>
                <a:srgbClr val="CBD5E1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A9FF23-2E29-0DE7-C2EB-B1F2927460E5}"/>
              </a:ext>
            </a:extLst>
          </p:cNvPr>
          <p:cNvSpPr txBox="1"/>
          <p:nvPr/>
        </p:nvSpPr>
        <p:spPr>
          <a:xfrm>
            <a:off x="10215728" y="5517789"/>
            <a:ext cx="1315568" cy="72644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900" b="1" spc="150">
                <a:solidFill>
                  <a:srgbClr val="E9C46A"/>
                </a:solidFill>
                <a:latin typeface="Calibri" panose="020F0502020204030204" pitchFamily="34" charset="0"/>
              </a:rPr>
              <a:t>AHORA</a:t>
            </a:r>
          </a:p>
          <a:p>
            <a:pPr>
              <a:spcBef>
                <a:spcPts val="300"/>
              </a:spcBef>
            </a:pPr>
            <a:r>
              <a:rPr lang="es-ES" sz="1050" b="1">
                <a:solidFill>
                  <a:srgbClr val="FFFFFF"/>
                </a:solidFill>
                <a:latin typeface="Calibri" panose="020F0502020204030204" pitchFamily="34" charset="0"/>
              </a:rPr>
              <a:t>Toda la flota clasificada en una sola pantalla.</a:t>
            </a:r>
            <a:endParaRPr lang="en-US" sz="105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AF6AC3-8114-B98F-0830-4AA81FB83033}"/>
              </a:ext>
            </a:extLst>
          </p:cNvPr>
          <p:cNvSpPr txBox="1"/>
          <p:nvPr/>
        </p:nvSpPr>
        <p:spPr>
          <a:xfrm>
            <a:off x="9885528" y="5517789"/>
            <a:ext cx="208390" cy="726440"/>
          </a:xfrm>
          <a:prstGeom prst="rect">
            <a:avLst/>
          </a:prstGeom>
          <a:noFill/>
        </p:spPr>
        <p:txBody>
          <a:bodyPr vert="horz" wrap="none" lIns="0" rIns="0" rtlCol="0" anchor="ctr">
            <a:noAutofit/>
          </a:bodyPr>
          <a:lstStyle/>
          <a:p>
            <a:pPr algn="ctr"/>
            <a:r>
              <a:rPr lang="en-US" b="1">
                <a:solidFill>
                  <a:srgbClr val="E9C46A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2754533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nque de Gasoi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CB02BB-F7ED-3981-7FFA-BA3198BE44A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Gestión de Unidades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88720"/>
            <a:ext cx="5212080" cy="5074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"/>
          <p:cNvSpPr txBox="1"/>
          <p:nvPr/>
        </p:nvSpPr>
        <p:spPr>
          <a:xfrm>
            <a:off x="731520" y="13716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INTERNO DE UNIDADES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9" name="Shape"/>
          <p:cNvSpPr/>
          <p:nvPr/>
        </p:nvSpPr>
        <p:spPr>
          <a:xfrm>
            <a:off x="777240" y="1737360"/>
            <a:ext cx="4572000" cy="34013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72EBA4-5EE5-F66B-357B-6C3328EB8CCC}"/>
              </a:ext>
            </a:extLst>
          </p:cNvPr>
          <p:cNvPicPr>
            <a:picLocks/>
          </p:cNvPicPr>
          <p:nvPr/>
        </p:nvPicPr>
        <p:blipFill>
          <a:blip r:embed="rId3"/>
          <a:srcRect b="50"/>
          <a:stretch>
            <a:fillRect/>
          </a:stretch>
        </p:blipFill>
        <p:spPr>
          <a:xfrm>
            <a:off x="777240" y="1737361"/>
            <a:ext cx="4572000" cy="3401391"/>
          </a:xfrm>
          <a:prstGeom prst="rect">
            <a:avLst/>
          </a:prstGeom>
        </p:spPr>
      </p:pic>
      <p:sp>
        <p:nvSpPr>
          <p:cNvPr id="111" name="Shape"/>
          <p:cNvSpPr/>
          <p:nvPr/>
        </p:nvSpPr>
        <p:spPr>
          <a:xfrm>
            <a:off x="495300" y="26035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495300" y="26035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3" name="Shape"/>
          <p:cNvSpPr/>
          <p:nvPr/>
        </p:nvSpPr>
        <p:spPr>
          <a:xfrm>
            <a:off x="495300" y="20574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495300" y="20574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5" name="Shape"/>
          <p:cNvSpPr/>
          <p:nvPr/>
        </p:nvSpPr>
        <p:spPr>
          <a:xfrm>
            <a:off x="3987800" y="15748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3987800" y="15748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17" name="Shape"/>
          <p:cNvSpPr/>
          <p:nvPr/>
        </p:nvSpPr>
        <p:spPr>
          <a:xfrm>
            <a:off x="5346700" y="26035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"/>
          <p:cNvSpPr txBox="1"/>
          <p:nvPr/>
        </p:nvSpPr>
        <p:spPr>
          <a:xfrm>
            <a:off x="5346700" y="26035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8595F9-4A30-CBF1-E4D9-A970A0B8345B}"/>
              </a:ext>
            </a:extLst>
          </p:cNvPr>
          <p:cNvPicPr>
            <a:picLocks/>
          </p:cNvPicPr>
          <p:nvPr/>
        </p:nvPicPr>
        <p:blipFill>
          <a:blip r:embed="rId4"/>
          <a:srcRect t="3579" b="3579"/>
          <a:stretch>
            <a:fillRect/>
          </a:stretch>
        </p:blipFill>
        <p:spPr>
          <a:xfrm>
            <a:off x="777240" y="5413071"/>
            <a:ext cx="1554480" cy="391064"/>
          </a:xfrm>
          <a:prstGeom prst="rect">
            <a:avLst/>
          </a:prstGeom>
        </p:spPr>
      </p:pic>
      <p:sp>
        <p:nvSpPr>
          <p:cNvPr id="120" name="Shape"/>
          <p:cNvSpPr/>
          <p:nvPr/>
        </p:nvSpPr>
        <p:spPr>
          <a:xfrm>
            <a:off x="621792" y="5303343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"/>
          <p:cNvSpPr txBox="1"/>
          <p:nvPr/>
        </p:nvSpPr>
        <p:spPr>
          <a:xfrm>
            <a:off x="621792" y="530334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22" name="Text"/>
          <p:cNvSpPr txBox="1"/>
          <p:nvPr/>
        </p:nvSpPr>
        <p:spPr>
          <a:xfrm>
            <a:off x="2514600" y="5413071"/>
            <a:ext cx="2834640" cy="391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i="1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unidades nuevas del GPS se registran solas.</a:t>
            </a:r>
            <a:endParaRPr lang="es-VE" sz="1050" i="1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3" name="Text"/>
          <p:cNvSpPr txBox="1"/>
          <p:nvPr/>
        </p:nvSpPr>
        <p:spPr>
          <a:xfrm>
            <a:off x="6035040" y="1188720"/>
            <a:ext cx="569945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</a:p>
        </p:txBody>
      </p:sp>
      <p:sp>
        <p:nvSpPr>
          <p:cNvPr id="124" name="Shape"/>
          <p:cNvSpPr/>
          <p:nvPr/>
        </p:nvSpPr>
        <p:spPr>
          <a:xfrm>
            <a:off x="6035040" y="1508760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6199632" y="1664208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6199632" y="16642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27" name="Text"/>
          <p:cNvSpPr txBox="1"/>
          <p:nvPr/>
        </p:nvSpPr>
        <p:spPr>
          <a:xfrm>
            <a:off x="6748272" y="1563624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interno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placa, conductor y tipo de flota de cada unidad.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8" name="Shape"/>
          <p:cNvSpPr/>
          <p:nvPr/>
        </p:nvSpPr>
        <p:spPr>
          <a:xfrm>
            <a:off x="6035040" y="2258568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6199632" y="2414016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6199632" y="241401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31" name="Text"/>
          <p:cNvSpPr txBox="1"/>
          <p:nvPr/>
        </p:nvSpPr>
        <p:spPr>
          <a:xfrm>
            <a:off x="6748272" y="2313432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Buscar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VE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código, placa o conductor, al instante.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2" name="Shape"/>
          <p:cNvSpPr/>
          <p:nvPr/>
        </p:nvSpPr>
        <p:spPr>
          <a:xfrm>
            <a:off x="6035040" y="3008376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6199632" y="3163824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6199632" y="316382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35" name="Text"/>
          <p:cNvSpPr txBox="1"/>
          <p:nvPr/>
        </p:nvSpPr>
        <p:spPr>
          <a:xfrm>
            <a:off x="6748272" y="3063240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Liviana o Pesada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tipo de flota decide qué alertas llegan a Telegram.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6" name="Shape"/>
          <p:cNvSpPr/>
          <p:nvPr/>
        </p:nvSpPr>
        <p:spPr>
          <a:xfrm>
            <a:off x="6035040" y="3758184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7" name="Shape"/>
          <p:cNvSpPr/>
          <p:nvPr/>
        </p:nvSpPr>
        <p:spPr>
          <a:xfrm>
            <a:off x="6199632" y="3913632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"/>
          <p:cNvSpPr txBox="1"/>
          <p:nvPr/>
        </p:nvSpPr>
        <p:spPr>
          <a:xfrm>
            <a:off x="6199632" y="391363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39" name="Text"/>
          <p:cNvSpPr txBox="1"/>
          <p:nvPr/>
        </p:nvSpPr>
        <p:spPr>
          <a:xfrm>
            <a:off x="6748272" y="3813048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Editar o dar de baja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fila se corrige o se retira desde la misma tabla.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0" name="Shape"/>
          <p:cNvSpPr/>
          <p:nvPr/>
        </p:nvSpPr>
        <p:spPr>
          <a:xfrm>
            <a:off x="6035040" y="4507992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1" name="Shape"/>
          <p:cNvSpPr/>
          <p:nvPr/>
        </p:nvSpPr>
        <p:spPr>
          <a:xfrm>
            <a:off x="6199632" y="4663440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"/>
          <p:cNvSpPr txBox="1"/>
          <p:nvPr/>
        </p:nvSpPr>
        <p:spPr>
          <a:xfrm>
            <a:off x="6199632" y="46634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43" name="Text"/>
          <p:cNvSpPr txBox="1"/>
          <p:nvPr/>
        </p:nvSpPr>
        <p:spPr>
          <a:xfrm>
            <a:off x="6748272" y="4562856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Nueva Unidad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se agregan a mano; las nuevas del GPS entran solas.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4" name="Shape"/>
          <p:cNvSpPr/>
          <p:nvPr/>
        </p:nvSpPr>
        <p:spPr>
          <a:xfrm>
            <a:off x="6035040" y="5385816"/>
            <a:ext cx="5699455" cy="877824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94D54F-DCAF-3FEE-1DA2-4F36DBAF67FB}"/>
              </a:ext>
            </a:extLst>
          </p:cNvPr>
          <p:cNvSpPr txBox="1"/>
          <p:nvPr/>
        </p:nvSpPr>
        <p:spPr>
          <a:xfrm>
            <a:off x="6238240" y="5525516"/>
            <a:ext cx="2481427" cy="5984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900" b="1" spc="150">
                <a:solidFill>
                  <a:srgbClr val="94A3B8"/>
                </a:solidFill>
                <a:latin typeface="Calibri" panose="020F0502020204030204" pitchFamily="34" charset="0"/>
              </a:rPr>
              <a:t>ANTES</a:t>
            </a:r>
          </a:p>
          <a:p>
            <a:pPr>
              <a:spcBef>
                <a:spcPts val="300"/>
              </a:spcBef>
            </a:pPr>
            <a:r>
              <a:rPr lang="es-ES" sz="1050">
                <a:solidFill>
                  <a:srgbClr val="CBD5E1"/>
                </a:solidFill>
                <a:latin typeface="Calibri" panose="020F0502020204030204" pitchFamily="34" charset="0"/>
              </a:rPr>
              <a:t>El GPS solo conocía la placa y las unidades nuevas quedaban sin registrar.</a:t>
            </a:r>
            <a:endParaRPr lang="en-US" sz="1050">
              <a:solidFill>
                <a:srgbClr val="CBD5E1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C94AAE-C397-14A3-4299-61D4E1D63A78}"/>
              </a:ext>
            </a:extLst>
          </p:cNvPr>
          <p:cNvSpPr txBox="1"/>
          <p:nvPr/>
        </p:nvSpPr>
        <p:spPr>
          <a:xfrm>
            <a:off x="9049868" y="5525516"/>
            <a:ext cx="2481427" cy="59842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900" b="1" spc="150">
                <a:solidFill>
                  <a:srgbClr val="E9C46A"/>
                </a:solidFill>
                <a:latin typeface="Calibri" panose="020F0502020204030204" pitchFamily="34" charset="0"/>
              </a:rPr>
              <a:t>AHORA</a:t>
            </a:r>
          </a:p>
          <a:p>
            <a:pPr>
              <a:spcBef>
                <a:spcPts val="300"/>
              </a:spcBef>
            </a:pPr>
            <a:r>
              <a:rPr lang="es-ES" sz="1050" b="1">
                <a:solidFill>
                  <a:srgbClr val="FFFFFF"/>
                </a:solidFill>
                <a:latin typeface="Calibri" panose="020F0502020204030204" pitchFamily="34" charset="0"/>
              </a:rPr>
              <a:t>Cada placa tiene código, conductor y flota, y las nuevas se registran solas.</a:t>
            </a:r>
            <a:endParaRPr lang="en-US" sz="105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D865D2-E3DF-0EB5-C6E4-1F13E4779541}"/>
              </a:ext>
            </a:extLst>
          </p:cNvPr>
          <p:cNvSpPr txBox="1"/>
          <p:nvPr/>
        </p:nvSpPr>
        <p:spPr>
          <a:xfrm>
            <a:off x="8719668" y="5525516"/>
            <a:ext cx="208390" cy="598424"/>
          </a:xfrm>
          <a:prstGeom prst="rect">
            <a:avLst/>
          </a:prstGeom>
          <a:noFill/>
        </p:spPr>
        <p:txBody>
          <a:bodyPr vert="horz" wrap="none" lIns="0" rIns="0" rtlCol="0" anchor="ctr">
            <a:noAutofit/>
          </a:bodyPr>
          <a:lstStyle/>
          <a:p>
            <a:pPr algn="ctr"/>
            <a:r>
              <a:rPr lang="en-US" b="1">
                <a:solidFill>
                  <a:srgbClr val="E9C46A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7707554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nque de Gasoi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41928D-41F0-5A02-6265-456804A5F5F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Mapa en Vivo y Recorridos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"/>
          <p:cNvSpPr txBox="1"/>
          <p:nvPr/>
        </p:nvSpPr>
        <p:spPr>
          <a:xfrm>
            <a:off x="7874000" y="4038600"/>
            <a:ext cx="3860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DEL MAPA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3" name="Text"/>
          <p:cNvSpPr txBox="1"/>
          <p:nvPr/>
        </p:nvSpPr>
        <p:spPr>
          <a:xfrm>
            <a:off x="7874000" y="1092200"/>
            <a:ext cx="3860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</a:p>
        </p:txBody>
      </p:sp>
      <p:sp>
        <p:nvSpPr>
          <p:cNvPr id="124" name="Shape"/>
          <p:cNvSpPr/>
          <p:nvPr/>
        </p:nvSpPr>
        <p:spPr>
          <a:xfrm>
            <a:off x="7874000" y="1397000"/>
            <a:ext cx="3860800" cy="76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8039100" y="1593850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8039100" y="159385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27" name="Text"/>
          <p:cNvSpPr txBox="1"/>
          <p:nvPr/>
        </p:nvSpPr>
        <p:spPr>
          <a:xfrm>
            <a:off x="8585200" y="1473200"/>
            <a:ext cx="29972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 en el punto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mapa, o elegir la unidad en el selector.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8" name="Shape"/>
          <p:cNvSpPr/>
          <p:nvPr/>
        </p:nvSpPr>
        <p:spPr>
          <a:xfrm>
            <a:off x="7874000" y="2235200"/>
            <a:ext cx="3860800" cy="76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8039100" y="2432050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8039100" y="243205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31" name="Text"/>
          <p:cNvSpPr txBox="1"/>
          <p:nvPr/>
        </p:nvSpPr>
        <p:spPr>
          <a:xfrm>
            <a:off x="8585200" y="2311400"/>
            <a:ext cx="29972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Recorridos del día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Viajes, km, horas en movimiento y estacionado.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2" name="Shape"/>
          <p:cNvSpPr/>
          <p:nvPr/>
        </p:nvSpPr>
        <p:spPr>
          <a:xfrm>
            <a:off x="7874000" y="3073400"/>
            <a:ext cx="3860800" cy="76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8039100" y="3270250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8039100" y="327025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35" name="Text"/>
          <p:cNvSpPr txBox="1"/>
          <p:nvPr/>
        </p:nvSpPr>
        <p:spPr>
          <a:xfrm>
            <a:off x="8585200" y="3149600"/>
            <a:ext cx="29972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 ruta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Dibuja el viaje real sobre el mapa y lo encuadra.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4" name="Shape"/>
          <p:cNvSpPr/>
          <p:nvPr/>
        </p:nvSpPr>
        <p:spPr>
          <a:xfrm>
            <a:off x="7874000" y="5080000"/>
            <a:ext cx="3860800" cy="139700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5" name="Text"/>
          <p:cNvSpPr txBox="1"/>
          <p:nvPr/>
        </p:nvSpPr>
        <p:spPr>
          <a:xfrm>
            <a:off x="8102600" y="5232400"/>
            <a:ext cx="3403600" cy="1092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SUPERVISIÓN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está cada unidad y por dónde pasó. Desde una alerta, el recorrido se abre a la hora del aviso.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17A237FD-3DF8-7A51-FDF6-CC0A8B71B876}"/>
              </a:ext>
            </a:extLst>
          </p:cNvPr>
          <p:cNvSpPr/>
          <p:nvPr/>
        </p:nvSpPr>
        <p:spPr>
          <a:xfrm>
            <a:off x="457200" y="1117600"/>
            <a:ext cx="7112000" cy="2971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">
            <a:extLst>
              <a:ext uri="{FF2B5EF4-FFF2-40B4-BE49-F238E27FC236}">
                <a16:creationId xmlns:a16="http://schemas.microsoft.com/office/drawing/2014/main" id="{396041B9-5617-47FD-28FA-D1E22A9ABDE3}"/>
              </a:ext>
            </a:extLst>
          </p:cNvPr>
          <p:cNvSpPr/>
          <p:nvPr/>
        </p:nvSpPr>
        <p:spPr>
          <a:xfrm>
            <a:off x="457200" y="4216400"/>
            <a:ext cx="7112000" cy="2260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1E98ED-DEFA-3748-D328-8F74CE46552D}"/>
              </a:ext>
            </a:extLst>
          </p:cNvPr>
          <p:cNvPicPr>
            <a:picLocks/>
          </p:cNvPicPr>
          <p:nvPr/>
        </p:nvPicPr>
        <p:blipFill>
          <a:blip r:embed="rId3"/>
          <a:srcRect l="3014" t="7701" b="6301"/>
          <a:stretch>
            <a:fillRect/>
          </a:stretch>
        </p:blipFill>
        <p:spPr>
          <a:xfrm>
            <a:off x="533400" y="1193800"/>
            <a:ext cx="6959600" cy="2819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27DBFD-4042-FEBC-49D0-6D2047FC2B49}"/>
              </a:ext>
            </a:extLst>
          </p:cNvPr>
          <p:cNvPicPr>
            <a:picLocks/>
          </p:cNvPicPr>
          <p:nvPr/>
        </p:nvPicPr>
        <p:blipFill>
          <a:blip r:embed="rId4"/>
          <a:srcRect l="187" r="187"/>
          <a:stretch>
            <a:fillRect/>
          </a:stretch>
        </p:blipFill>
        <p:spPr>
          <a:xfrm>
            <a:off x="533400" y="4292600"/>
            <a:ext cx="6959600" cy="2108200"/>
          </a:xfrm>
          <a:prstGeom prst="rect">
            <a:avLst/>
          </a:prstGeom>
        </p:spPr>
      </p:pic>
      <p:sp>
        <p:nvSpPr>
          <p:cNvPr id="111" name="Shape"/>
          <p:cNvSpPr/>
          <p:nvPr/>
        </p:nvSpPr>
        <p:spPr>
          <a:xfrm>
            <a:off x="5664200" y="12192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5664200" y="12192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3" name="Shape"/>
          <p:cNvSpPr/>
          <p:nvPr/>
        </p:nvSpPr>
        <p:spPr>
          <a:xfrm>
            <a:off x="304800" y="48514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304800" y="48514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5" name="Shape"/>
          <p:cNvSpPr/>
          <p:nvPr/>
        </p:nvSpPr>
        <p:spPr>
          <a:xfrm>
            <a:off x="7416800" y="57150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7416800" y="57150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574C2AD-A13B-6794-D877-6419F922D70F}"/>
              </a:ext>
            </a:extLst>
          </p:cNvPr>
          <p:cNvSpPr/>
          <p:nvPr/>
        </p:nvSpPr>
        <p:spPr>
          <a:xfrm>
            <a:off x="7874000" y="4394200"/>
            <a:ext cx="127000" cy="127000"/>
          </a:xfrm>
          <a:prstGeom prst="ellipse">
            <a:avLst/>
          </a:prstGeom>
          <a:solidFill>
            <a:srgbClr val="10B981"/>
          </a:solidFill>
          <a:ln w="1587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EF6DAA-5F26-C065-9E27-E5ECCBEFFAD1}"/>
              </a:ext>
            </a:extLst>
          </p:cNvPr>
          <p:cNvSpPr txBox="1"/>
          <p:nvPr/>
        </p:nvSpPr>
        <p:spPr>
          <a:xfrm>
            <a:off x="8064500" y="4356100"/>
            <a:ext cx="336631" cy="161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sz="1050">
                <a:solidFill>
                  <a:srgbClr val="334A5C"/>
                </a:solidFill>
                <a:latin typeface="Calibri" panose="020F0502020204030204" pitchFamily="34" charset="0"/>
              </a:rPr>
              <a:t>Activa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39A67DA-64D7-A5DE-F7BF-48272CBBE3C8}"/>
              </a:ext>
            </a:extLst>
          </p:cNvPr>
          <p:cNvSpPr/>
          <p:nvPr/>
        </p:nvSpPr>
        <p:spPr>
          <a:xfrm>
            <a:off x="8737600" y="4394200"/>
            <a:ext cx="127000" cy="12700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6D6D1A-6308-DDE4-0E87-F2CBE76B3CB6}"/>
              </a:ext>
            </a:extLst>
          </p:cNvPr>
          <p:cNvSpPr txBox="1"/>
          <p:nvPr/>
        </p:nvSpPr>
        <p:spPr>
          <a:xfrm>
            <a:off x="8928100" y="4356100"/>
            <a:ext cx="655629" cy="161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sz="1050">
                <a:solidFill>
                  <a:srgbClr val="334A5C"/>
                </a:solidFill>
                <a:latin typeface="Calibri" panose="020F0502020204030204" pitchFamily="34" charset="0"/>
              </a:rPr>
              <a:t>Estacionada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93EB355-ED50-7A7C-A4AC-83E2332AD38B}"/>
              </a:ext>
            </a:extLst>
          </p:cNvPr>
          <p:cNvSpPr/>
          <p:nvPr/>
        </p:nvSpPr>
        <p:spPr>
          <a:xfrm>
            <a:off x="9931400" y="4394200"/>
            <a:ext cx="127000" cy="127000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F1ECF8-8685-DD57-63EB-4EC9C56E9613}"/>
              </a:ext>
            </a:extLst>
          </p:cNvPr>
          <p:cNvSpPr txBox="1"/>
          <p:nvPr/>
        </p:nvSpPr>
        <p:spPr>
          <a:xfrm>
            <a:off x="10121900" y="4356100"/>
            <a:ext cx="479298" cy="161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sz="1050">
                <a:solidFill>
                  <a:srgbClr val="334A5C"/>
                </a:solidFill>
                <a:latin typeface="Calibri" panose="020F0502020204030204" pitchFamily="34" charset="0"/>
              </a:rPr>
              <a:t>Sin señal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C0F6274-1773-3ED5-5711-4568977584C5}"/>
              </a:ext>
            </a:extLst>
          </p:cNvPr>
          <p:cNvCxnSpPr/>
          <p:nvPr/>
        </p:nvCxnSpPr>
        <p:spPr>
          <a:xfrm>
            <a:off x="7874000" y="4737100"/>
            <a:ext cx="279400" cy="0"/>
          </a:xfrm>
          <a:prstGeom prst="line">
            <a:avLst/>
          </a:prstGeom>
          <a:ln w="38100">
            <a:solidFill>
              <a:srgbClr val="14476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E475757-D7E8-BD53-620E-F3B0D5C03807}"/>
              </a:ext>
            </a:extLst>
          </p:cNvPr>
          <p:cNvSpPr txBox="1"/>
          <p:nvPr/>
        </p:nvSpPr>
        <p:spPr>
          <a:xfrm>
            <a:off x="8255000" y="4648200"/>
            <a:ext cx="2510303" cy="161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s-ES" sz="1050">
                <a:solidFill>
                  <a:srgbClr val="334A5C"/>
                </a:solidFill>
                <a:latin typeface="Calibri" panose="020F0502020204030204" pitchFamily="34" charset="0"/>
              </a:rPr>
              <a:t>Ruta: el camino que marcó el GPS en ese viaje</a:t>
            </a:r>
            <a:endParaRPr lang="en-US" sz="1050">
              <a:solidFill>
                <a:srgbClr val="334A5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8101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92F574-9E14-530D-CA23-D88B7B553F3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Alertas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6903720" cy="445743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A93C4D-8F91-6225-DC88-0EAD5C3FD1EB}"/>
              </a:ext>
            </a:extLst>
          </p:cNvPr>
          <p:cNvPicPr>
            <a:picLocks/>
          </p:cNvPicPr>
          <p:nvPr/>
        </p:nvPicPr>
        <p:blipFill>
          <a:blip r:embed="rId3"/>
          <a:srcRect r="48"/>
          <a:stretch>
            <a:fillRect/>
          </a:stretch>
        </p:blipFill>
        <p:spPr>
          <a:xfrm>
            <a:off x="530352" y="1216153"/>
            <a:ext cx="6757416" cy="4311127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691871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· ALARMAS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alerta real del 24/09/2026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Text"/>
          <p:cNvSpPr txBox="1"/>
          <p:nvPr/>
        </p:nvSpPr>
        <p:spPr>
          <a:xfrm>
            <a:off x="7726680" y="114300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7726680" y="1472184"/>
            <a:ext cx="4007815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alerta con su mensaje completo y si llegó a Telegram.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día: entradas y salidas de geocerca, según GEvolution.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noche: fuera de horario a las 8:00, 8:30 y 9:00 pm.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2" name="Text"/>
          <p:cNvSpPr txBox="1"/>
          <p:nvPr/>
        </p:nvSpPr>
        <p:spPr>
          <a:xfrm>
            <a:off x="7726680" y="2944368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 LECTURA</a:t>
            </a:r>
          </a:p>
        </p:txBody>
      </p:sp>
      <p:sp>
        <p:nvSpPr>
          <p:cNvPr id="113" name="Shape"/>
          <p:cNvSpPr/>
          <p:nvPr/>
        </p:nvSpPr>
        <p:spPr>
          <a:xfrm>
            <a:off x="7726680" y="3264408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"/>
          <p:cNvSpPr/>
          <p:nvPr/>
        </p:nvSpPr>
        <p:spPr>
          <a:xfrm>
            <a:off x="7863840" y="3401568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5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456432"/>
            <a:ext cx="182880" cy="182880"/>
          </a:xfrm>
          <a:prstGeom prst="rect">
            <a:avLst/>
          </a:prstGeom>
        </p:spPr>
      </p:pic>
      <p:sp>
        <p:nvSpPr>
          <p:cNvPr id="116" name="Text"/>
          <p:cNvSpPr txBox="1"/>
          <p:nvPr/>
        </p:nvSpPr>
        <p:spPr>
          <a:xfrm>
            <a:off x="8275320" y="3355848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ALARMA o ATENCIÓN</a:t>
            </a:r>
            <a:endParaRPr lang="es-VE" sz="115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9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geocerca es crítica en GEvolution llega como ALARMA; si no, como ATENCIÓN.</a:t>
            </a:r>
            <a:endParaRPr lang="es-VE" sz="9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7" name="Shape"/>
          <p:cNvSpPr/>
          <p:nvPr/>
        </p:nvSpPr>
        <p:spPr>
          <a:xfrm>
            <a:off x="7726680" y="4069080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"/>
          <p:cNvSpPr/>
          <p:nvPr/>
        </p:nvSpPr>
        <p:spPr>
          <a:xfrm>
            <a:off x="7863840" y="420624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9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4261104"/>
            <a:ext cx="182880" cy="182880"/>
          </a:xfrm>
          <a:prstGeom prst="rect">
            <a:avLst/>
          </a:prstGeom>
        </p:spPr>
      </p:pic>
      <p:sp>
        <p:nvSpPr>
          <p:cNvPr id="120" name="Text"/>
          <p:cNvSpPr txBox="1"/>
          <p:nvPr/>
        </p:nvSpPr>
        <p:spPr>
          <a:xfrm>
            <a:off x="8275320" y="4160520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avisos repetidos</a:t>
            </a:r>
            <a:endParaRPr lang="es-VE" sz="115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9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evento se avisa una sola vez, sin repetir mensajes.</a:t>
            </a:r>
            <a:endParaRPr lang="es-VE" sz="9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1" name="Shape"/>
          <p:cNvSpPr/>
          <p:nvPr/>
        </p:nvSpPr>
        <p:spPr>
          <a:xfrm>
            <a:off x="7726680" y="4937760"/>
            <a:ext cx="4007815" cy="991855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7927848" y="5010912"/>
            <a:ext cx="3605479" cy="8455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SUPERVISIÓN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los avisos que importan: nada de mensajes continuos, y el historial se borra solo a los 8 días.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81832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E3519C-5F47-7C5C-8956-301AE2800665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Telegram: Mensajes y Acceso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3251200" y="1117600"/>
            <a:ext cx="4572000" cy="2133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7013B1-5B16-1216-56C2-F80F01D0990E}"/>
              </a:ext>
            </a:extLst>
          </p:cNvPr>
          <p:cNvPicPr>
            <a:picLocks/>
          </p:cNvPicPr>
          <p:nvPr/>
        </p:nvPicPr>
        <p:blipFill>
          <a:blip r:embed="rId3"/>
          <a:srcRect b="844"/>
          <a:stretch>
            <a:fillRect/>
          </a:stretch>
        </p:blipFill>
        <p:spPr>
          <a:xfrm>
            <a:off x="3327400" y="1193800"/>
            <a:ext cx="4419600" cy="1981200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3327400" y="3302000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ENVIADO A TELEGRAM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cada envío con su PDF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Text"/>
          <p:cNvSpPr txBox="1"/>
          <p:nvPr/>
        </p:nvSpPr>
        <p:spPr>
          <a:xfrm>
            <a:off x="8077200" y="109220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Y SEGURIDAD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3" name="Shape"/>
          <p:cNvSpPr/>
          <p:nvPr/>
        </p:nvSpPr>
        <p:spPr>
          <a:xfrm>
            <a:off x="8077200" y="1397000"/>
            <a:ext cx="3657600" cy="73660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"/>
          <p:cNvSpPr/>
          <p:nvPr/>
        </p:nvSpPr>
        <p:spPr>
          <a:xfrm>
            <a:off x="8216900" y="153670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2BEC6A6-BC93-BCB4-26D4-71588ABAD5BB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8280400" y="1593850"/>
            <a:ext cx="182880" cy="182880"/>
          </a:xfrm>
          <a:prstGeom prst="rect">
            <a:avLst/>
          </a:prstGeom>
        </p:spPr>
      </p:pic>
      <p:sp>
        <p:nvSpPr>
          <p:cNvPr id="116" name="Text"/>
          <p:cNvSpPr txBox="1"/>
          <p:nvPr/>
        </p:nvSpPr>
        <p:spPr>
          <a:xfrm>
            <a:off x="8636000" y="1485900"/>
            <a:ext cx="2971800" cy="55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 personas aprobadas</a:t>
            </a:r>
            <a:endParaRPr lang="es-VE" sz="115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9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escribe al bot queda pendiente hasta que se aprueba.</a:t>
            </a:r>
            <a:endParaRPr lang="es-VE" sz="9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7" name="Shape"/>
          <p:cNvSpPr/>
          <p:nvPr/>
        </p:nvSpPr>
        <p:spPr>
          <a:xfrm>
            <a:off x="8077200" y="2209800"/>
            <a:ext cx="3657600" cy="73660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"/>
          <p:cNvSpPr/>
          <p:nvPr/>
        </p:nvSpPr>
        <p:spPr>
          <a:xfrm>
            <a:off x="8216900" y="234950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41BB2263-AE08-5070-C10A-6F79FBFED679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8280400" y="2406650"/>
            <a:ext cx="182880" cy="182880"/>
          </a:xfrm>
          <a:prstGeom prst="rect">
            <a:avLst/>
          </a:prstGeom>
        </p:spPr>
      </p:pic>
      <p:sp>
        <p:nvSpPr>
          <p:cNvPr id="120" name="Text"/>
          <p:cNvSpPr txBox="1"/>
          <p:nvPr/>
        </p:nvSpPr>
        <p:spPr>
          <a:xfrm>
            <a:off x="8636000" y="2298700"/>
            <a:ext cx="2971800" cy="55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envío queda registrado</a:t>
            </a:r>
            <a:endParaRPr lang="es-VE" sz="115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9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reportes enviados, con fecha, turno y PDF.</a:t>
            </a:r>
            <a:endParaRPr lang="es-VE" sz="9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1" name="Shape"/>
          <p:cNvSpPr/>
          <p:nvPr/>
        </p:nvSpPr>
        <p:spPr>
          <a:xfrm>
            <a:off x="8077200" y="4698999"/>
            <a:ext cx="3657600" cy="137160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60B3CF-C445-33C4-ED0D-52BADEF3A747}"/>
              </a:ext>
            </a:extLst>
          </p:cNvPr>
          <p:cNvSpPr/>
          <p:nvPr/>
        </p:nvSpPr>
        <p:spPr>
          <a:xfrm>
            <a:off x="457200" y="1117600"/>
            <a:ext cx="2590800" cy="4953000"/>
          </a:xfrm>
          <a:prstGeom prst="roundRect">
            <a:avLst>
              <a:gd name="adj" fmla="val 9000"/>
            </a:avLst>
          </a:prstGeom>
          <a:solidFill>
            <a:srgbClr val="0E243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B28A2C-04B7-74F4-5076-98D8B24B43D3}"/>
              </a:ext>
            </a:extLst>
          </p:cNvPr>
          <p:cNvPicPr>
            <a:picLocks/>
          </p:cNvPicPr>
          <p:nvPr/>
        </p:nvPicPr>
        <p:blipFill>
          <a:blip r:embed="rId6"/>
          <a:srcRect b="46"/>
          <a:stretch>
            <a:fillRect/>
          </a:stretch>
        </p:blipFill>
        <p:spPr>
          <a:xfrm>
            <a:off x="558800" y="1244600"/>
            <a:ext cx="2387600" cy="4699000"/>
          </a:xfrm>
          <a:prstGeom prst="rect">
            <a:avLst/>
          </a:prstGeom>
        </p:spPr>
      </p:pic>
      <p:sp>
        <p:nvSpPr>
          <p:cNvPr id="8" name="Text">
            <a:extLst>
              <a:ext uri="{FF2B5EF4-FFF2-40B4-BE49-F238E27FC236}">
                <a16:creationId xmlns:a16="http://schemas.microsoft.com/office/drawing/2014/main" id="{0EDDA15A-F42E-AAC6-AD59-5DBBC25F2ED5}"/>
              </a:ext>
            </a:extLst>
          </p:cNvPr>
          <p:cNvSpPr txBox="1"/>
          <p:nvPr/>
        </p:nvSpPr>
        <p:spPr>
          <a:xfrm>
            <a:off x="457200" y="6172200"/>
            <a:ext cx="27940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CHAT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alerta y reporte reales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" name="Shape">
            <a:extLst>
              <a:ext uri="{FF2B5EF4-FFF2-40B4-BE49-F238E27FC236}">
                <a16:creationId xmlns:a16="http://schemas.microsoft.com/office/drawing/2014/main" id="{8CD37CBF-4DAE-304A-15C2-62953FC5F694}"/>
              </a:ext>
            </a:extLst>
          </p:cNvPr>
          <p:cNvSpPr/>
          <p:nvPr/>
        </p:nvSpPr>
        <p:spPr>
          <a:xfrm>
            <a:off x="3251200" y="3683000"/>
            <a:ext cx="4572000" cy="2133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CDF5F0C-04CB-7717-A601-BCB5EEB59BD1}"/>
              </a:ext>
            </a:extLst>
          </p:cNvPr>
          <p:cNvPicPr>
            <a:picLocks/>
          </p:cNvPicPr>
          <p:nvPr/>
        </p:nvPicPr>
        <p:blipFill>
          <a:blip r:embed="rId7"/>
          <a:srcRect b="844"/>
          <a:stretch>
            <a:fillRect/>
          </a:stretch>
        </p:blipFill>
        <p:spPr>
          <a:xfrm>
            <a:off x="3327400" y="3759200"/>
            <a:ext cx="4419600" cy="1981200"/>
          </a:xfrm>
          <a:prstGeom prst="rect">
            <a:avLst/>
          </a:prstGeom>
        </p:spPr>
      </p:pic>
      <p:sp>
        <p:nvSpPr>
          <p:cNvPr id="15" name="Text">
            <a:extLst>
              <a:ext uri="{FF2B5EF4-FFF2-40B4-BE49-F238E27FC236}">
                <a16:creationId xmlns:a16="http://schemas.microsoft.com/office/drawing/2014/main" id="{0786754E-1291-3C88-313F-DD03506B4DC2}"/>
              </a:ext>
            </a:extLst>
          </p:cNvPr>
          <p:cNvSpPr txBox="1"/>
          <p:nvPr/>
        </p:nvSpPr>
        <p:spPr>
          <a:xfrm>
            <a:off x="3327400" y="5867400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SUSCRIPTORES DE TELEGRAM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acceso con aprobación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6" name="Shape">
            <a:extLst>
              <a:ext uri="{FF2B5EF4-FFF2-40B4-BE49-F238E27FC236}">
                <a16:creationId xmlns:a16="http://schemas.microsoft.com/office/drawing/2014/main" id="{0DEE6B3A-63FA-5822-C8EF-E096F505D1A4}"/>
              </a:ext>
            </a:extLst>
          </p:cNvPr>
          <p:cNvSpPr/>
          <p:nvPr/>
        </p:nvSpPr>
        <p:spPr>
          <a:xfrm>
            <a:off x="8077200" y="3022600"/>
            <a:ext cx="3657600" cy="73660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">
            <a:extLst>
              <a:ext uri="{FF2B5EF4-FFF2-40B4-BE49-F238E27FC236}">
                <a16:creationId xmlns:a16="http://schemas.microsoft.com/office/drawing/2014/main" id="{9CB7041F-FB9B-5088-62E4-CF622C825F68}"/>
              </a:ext>
            </a:extLst>
          </p:cNvPr>
          <p:cNvSpPr/>
          <p:nvPr/>
        </p:nvSpPr>
        <p:spPr>
          <a:xfrm>
            <a:off x="8216900" y="316230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0F7E51C-2633-0AB9-2496-30BC5FA2E8B3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280400" y="3219450"/>
            <a:ext cx="182880" cy="182880"/>
          </a:xfrm>
          <a:prstGeom prst="rect">
            <a:avLst/>
          </a:prstGeom>
        </p:spPr>
      </p:pic>
      <p:sp>
        <p:nvSpPr>
          <p:cNvPr id="19" name="Text">
            <a:extLst>
              <a:ext uri="{FF2B5EF4-FFF2-40B4-BE49-F238E27FC236}">
                <a16:creationId xmlns:a16="http://schemas.microsoft.com/office/drawing/2014/main" id="{D064A10A-2B04-7676-F80B-7AF1D61E7658}"/>
              </a:ext>
            </a:extLst>
          </p:cNvPr>
          <p:cNvSpPr txBox="1"/>
          <p:nvPr/>
        </p:nvSpPr>
        <p:spPr>
          <a:xfrm>
            <a:off x="8636000" y="3111500"/>
            <a:ext cx="2971800" cy="55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 que se retira</a:t>
            </a:r>
            <a:endParaRPr lang="es-VE" sz="115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9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"Quitar acceso" lo corta al instante y no se reactiva solo.</a:t>
            </a:r>
            <a:endParaRPr lang="es-VE" sz="9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0" name="Shape">
            <a:extLst>
              <a:ext uri="{FF2B5EF4-FFF2-40B4-BE49-F238E27FC236}">
                <a16:creationId xmlns:a16="http://schemas.microsoft.com/office/drawing/2014/main" id="{5FB2960D-12FE-4090-76B5-EA651029DA44}"/>
              </a:ext>
            </a:extLst>
          </p:cNvPr>
          <p:cNvSpPr/>
          <p:nvPr/>
        </p:nvSpPr>
        <p:spPr>
          <a:xfrm>
            <a:off x="8077200" y="3835400"/>
            <a:ext cx="3657600" cy="73660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">
            <a:extLst>
              <a:ext uri="{FF2B5EF4-FFF2-40B4-BE49-F238E27FC236}">
                <a16:creationId xmlns:a16="http://schemas.microsoft.com/office/drawing/2014/main" id="{C903EACB-2189-FFEF-4717-D5753BD3FA7A}"/>
              </a:ext>
            </a:extLst>
          </p:cNvPr>
          <p:cNvSpPr/>
          <p:nvPr/>
        </p:nvSpPr>
        <p:spPr>
          <a:xfrm>
            <a:off x="8216900" y="397510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30B0B64-09C7-DCB3-481A-B3077B587D97}"/>
              </a:ext>
            </a:extLst>
          </p:cNvPr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8280400" y="4032250"/>
            <a:ext cx="182880" cy="182880"/>
          </a:xfrm>
          <a:prstGeom prst="rect">
            <a:avLst/>
          </a:prstGeom>
        </p:spPr>
      </p:pic>
      <p:sp>
        <p:nvSpPr>
          <p:cNvPr id="23" name="Text">
            <a:extLst>
              <a:ext uri="{FF2B5EF4-FFF2-40B4-BE49-F238E27FC236}">
                <a16:creationId xmlns:a16="http://schemas.microsoft.com/office/drawing/2014/main" id="{DE096D1F-B58D-F6A2-E416-EA92C07D4F84}"/>
              </a:ext>
            </a:extLst>
          </p:cNvPr>
          <p:cNvSpPr txBox="1"/>
          <p:nvPr/>
        </p:nvSpPr>
        <p:spPr>
          <a:xfrm>
            <a:off x="8636000" y="3924300"/>
            <a:ext cx="2971800" cy="55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Aviso de cada solicitud</a:t>
            </a:r>
            <a:endParaRPr lang="es-VE" sz="115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9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alguien nuevo pide acceso, llega un aviso al chat.</a:t>
            </a:r>
            <a:endParaRPr lang="es-VE" sz="9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07F4AD-B049-2748-DD04-CC6F90A5004A}"/>
              </a:ext>
            </a:extLst>
          </p:cNvPr>
          <p:cNvSpPr txBox="1"/>
          <p:nvPr/>
        </p:nvSpPr>
        <p:spPr>
          <a:xfrm>
            <a:off x="8280400" y="4838699"/>
            <a:ext cx="1460500" cy="1092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900" b="1" spc="150">
                <a:solidFill>
                  <a:srgbClr val="94A3B8"/>
                </a:solidFill>
                <a:latin typeface="Calibri" panose="020F0502020204030204" pitchFamily="34" charset="0"/>
              </a:rPr>
              <a:t>ANTES</a:t>
            </a:r>
          </a:p>
          <a:p>
            <a:pPr>
              <a:spcBef>
                <a:spcPts val="300"/>
              </a:spcBef>
            </a:pPr>
            <a:r>
              <a:rPr lang="es-ES" sz="1050">
                <a:solidFill>
                  <a:srgbClr val="CBD5E1"/>
                </a:solidFill>
                <a:latin typeface="Calibri" panose="020F0502020204030204" pitchFamily="34" charset="0"/>
              </a:rPr>
              <a:t>Cualquiera que escribía al bot veía la flota, sin registro.</a:t>
            </a:r>
            <a:endParaRPr lang="en-US" sz="1050">
              <a:solidFill>
                <a:srgbClr val="CBD5E1"/>
              </a:solidFill>
              <a:latin typeface="Calibri" panose="020F050202020403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C8848D-4548-4382-A7AB-0C2CA9BED3B6}"/>
              </a:ext>
            </a:extLst>
          </p:cNvPr>
          <p:cNvSpPr txBox="1"/>
          <p:nvPr/>
        </p:nvSpPr>
        <p:spPr>
          <a:xfrm>
            <a:off x="10071100" y="4838699"/>
            <a:ext cx="1460500" cy="1092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s-ES" sz="900" b="1" spc="150">
                <a:solidFill>
                  <a:srgbClr val="E9C46A"/>
                </a:solidFill>
                <a:latin typeface="Calibri" panose="020F0502020204030204" pitchFamily="34" charset="0"/>
              </a:rPr>
              <a:t>AHORA</a:t>
            </a:r>
          </a:p>
          <a:p>
            <a:pPr>
              <a:spcBef>
                <a:spcPts val="300"/>
              </a:spcBef>
            </a:pPr>
            <a:r>
              <a:rPr lang="es-ES" sz="1050" b="1">
                <a:solidFill>
                  <a:srgbClr val="FFFFFF"/>
                </a:solidFill>
                <a:latin typeface="Calibri" panose="020F0502020204030204" pitchFamily="34" charset="0"/>
              </a:rPr>
              <a:t>Solo recibe quien se aprueba, y cada envío queda registrado.</a:t>
            </a:r>
            <a:endParaRPr lang="en-US" sz="105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FE77FD-71D4-4277-40FD-2B53E166E540}"/>
              </a:ext>
            </a:extLst>
          </p:cNvPr>
          <p:cNvSpPr txBox="1"/>
          <p:nvPr/>
        </p:nvSpPr>
        <p:spPr>
          <a:xfrm>
            <a:off x="9740900" y="4838699"/>
            <a:ext cx="208390" cy="1092200"/>
          </a:xfrm>
          <a:prstGeom prst="rect">
            <a:avLst/>
          </a:prstGeom>
          <a:noFill/>
        </p:spPr>
        <p:txBody>
          <a:bodyPr vert="horz" wrap="none" lIns="0" rIns="0" rtlCol="0" anchor="ctr">
            <a:noAutofit/>
          </a:bodyPr>
          <a:lstStyle/>
          <a:p>
            <a:pPr algn="ctr"/>
            <a:r>
              <a:rPr lang="en-US" b="1">
                <a:solidFill>
                  <a:srgbClr val="E9C46A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8161050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106445-5F49-CADC-2A70-C03B6CD444C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Reportes de Turno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3216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B4E113-17E1-A30D-6A50-4F0C6D180F30}"/>
              </a:ext>
            </a:extLst>
          </p:cNvPr>
          <p:cNvPicPr>
            <a:picLocks/>
          </p:cNvPicPr>
          <p:nvPr/>
        </p:nvPicPr>
        <p:blipFill>
          <a:blip r:embed="rId3"/>
          <a:srcRect r="68"/>
          <a:stretch>
            <a:fillRect/>
          </a:stretch>
        </p:blipFill>
        <p:spPr>
          <a:xfrm>
            <a:off x="530352" y="1216153"/>
            <a:ext cx="7443216" cy="3585865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4966609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DE TURNO</a:t>
            </a:r>
            <a:r>
              <a:rPr lang="es-VE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cada reporte queda guardado en el apartado de su turno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Shape"/>
          <p:cNvSpPr/>
          <p:nvPr/>
        </p:nvSpPr>
        <p:spPr>
          <a:xfrm>
            <a:off x="45720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63EFB3-CD62-9701-4B01-6CB3D04037DA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77128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apartado por turno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Matutino, Vespertino y Nocturno, cada uno aparte.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4" name="Shape"/>
          <p:cNvSpPr/>
          <p:nvPr/>
        </p:nvSpPr>
        <p:spPr>
          <a:xfrm>
            <a:off x="303276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316992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9C0EC2-DEA3-00D4-C215-AF7291590C83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252216" y="5771281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67284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· PDF · Imagen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reporte en tres formatos, listo para descargar.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8" name="Shape"/>
          <p:cNvSpPr/>
          <p:nvPr/>
        </p:nvSpPr>
        <p:spPr>
          <a:xfrm>
            <a:off x="560832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74548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20F449E-431D-E1B8-A71B-0792BD14CDE5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5827776" y="5771281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624840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Llega a Telegram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se envía solo al cerrar cada turno.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2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8366760" y="147218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fecha: total de unidades, activas, estacionadas y sin señal en el corte.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hora en que se generó y si llegó a Telegram.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Botones para descargar el Excel, el PDF o la imagen.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4" name="Text"/>
          <p:cNvSpPr txBox="1"/>
          <p:nvPr/>
        </p:nvSpPr>
        <p:spPr>
          <a:xfrm>
            <a:off x="8366760" y="301752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5" name="Text"/>
          <p:cNvSpPr txBox="1"/>
          <p:nvPr/>
        </p:nvSpPr>
        <p:spPr>
          <a:xfrm>
            <a:off x="8366760" y="334670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genera solo a las 9:05 am, 2:05 pm y 9:05 pm, en la pestaña de su turno.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"Generar ahora" lo crea a cualquier hora.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sale en el formato del modelo interno.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6" name="Shape"/>
          <p:cNvSpPr/>
          <p:nvPr/>
        </p:nvSpPr>
        <p:spPr>
          <a:xfrm>
            <a:off x="8366760" y="5378089"/>
            <a:ext cx="336773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"/>
          <p:cNvSpPr txBox="1"/>
          <p:nvPr/>
        </p:nvSpPr>
        <p:spPr>
          <a:xfrm>
            <a:off x="8549640" y="5469529"/>
            <a:ext cx="300197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GERENCIA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flota en cada cambio de turno, guardada por turno, sin armar reportes a mano.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86616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2566</Words>
  <Application>Microsoft Office PowerPoint</Application>
  <PresentationFormat>Widescreen</PresentationFormat>
  <Paragraphs>360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ANALISTA TI-TRACKER</cp:lastModifiedBy>
  <cp:revision>3</cp:revision>
  <dcterms:created xsi:type="dcterms:W3CDTF">2026-09-18T20:59:00Z</dcterms:created>
  <dcterms:modified xsi:type="dcterms:W3CDTF">2026-09-24T18:30:10Z</dcterms:modified>
</cp:coreProperties>
</file>