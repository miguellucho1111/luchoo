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3.xml"/><Relationship Id="rId3" Type="http://schemas.openxmlformats.org/officeDocument/2006/relationships/slide" Target="slide3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4.xml"/><Relationship Id="rId7" Type="http://schemas.openxmlformats.org/officeDocument/2006/relationships/slide" Target="slide4.xml"/><Relationship Id="rId8" Type="http://schemas.openxmlformats.org/officeDocument/2006/relationships/slide" Target="slide4.xml"/><Relationship Id="rId9" Type="http://schemas.openxmlformats.org/officeDocument/2006/relationships/slide" Target="slide5.xml"/><Relationship Id="rId10" Type="http://schemas.openxmlformats.org/officeDocument/2006/relationships/slide" Target="slide5.xml"/><Relationship Id="rId11" Type="http://schemas.openxmlformats.org/officeDocument/2006/relationships/slide" Target="slide5.xml"/><Relationship Id="rId12" Type="http://schemas.openxmlformats.org/officeDocument/2006/relationships/slide" Target="slide5.xml"/><Relationship Id="rId13" Type="http://schemas.openxmlformats.org/officeDocument/2006/relationships/slide" Target="slide6.xml"/><Relationship Id="rId14" Type="http://schemas.openxmlformats.org/officeDocument/2006/relationships/slide" Target="slide6.xml"/><Relationship Id="rId15" Type="http://schemas.openxmlformats.org/officeDocument/2006/relationships/slide" Target="slide6.xml"/><Relationship Id="rId16" Type="http://schemas.openxmlformats.org/officeDocument/2006/relationships/slide" Target="slide6.xml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2011680"/>
            <a:ext cx="5943600" cy="5943600"/>
          </a:xfrm>
          <a:prstGeom prst="ellipse">
            <a:avLst/>
          </a:prstGeom>
          <a:ln w="38100">
            <a:solidFill>
              <a:srgbClr val="FBF3D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-1097280"/>
            <a:ext cx="4114800" cy="4114800"/>
          </a:xfrm>
          <a:prstGeom prst="ellipse">
            <a:avLst/>
          </a:prstGeom>
          <a:ln w="25400">
            <a:solidFill>
              <a:srgbClr val="EDF1F5"/>
            </a:solidFill>
            <a:prstDash val="solid"/>
          </a:ln>
        </p:spPr>
      </p:sp>
      <p:pic>
        <p:nvPicPr>
          <p:cNvPr id="4" name="Image 0" descr="assets/logo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1554480" cy="50667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2148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DE OPERACIONES · GESTIÓN DE FLOTA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57200" y="2468880"/>
            <a:ext cx="9601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Tracker GPS de Flota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502920" y="3611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Monitoreo, alertas y reportes operativos de la flota en tiempo real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02920" y="4297680"/>
            <a:ext cx="5120640" cy="384048"/>
          </a:xfrm>
          <a:prstGeom prst="roundRect">
            <a:avLst>
              <a:gd name="adj" fmla="val 19048"/>
            </a:avLst>
          </a:prstGeom>
          <a:solidFill>
            <a:srgbClr val="FBF3DD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4297680"/>
            <a:ext cx="5120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69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ACTUALIZACIÓN · GEOCERCAS, HORARIOS DE ALERTA Y ARRANQUE AUTOMÁTICO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02920" y="6172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Rama: </a:t>
            </a:r>
            <a:pPr indent="0" marL="0">
              <a:buNone/>
            </a:pPr>
            <a:r>
              <a:rPr lang="en-US" sz="1100" b="1" dirty="0">
                <a:solidFill>
                  <a:srgbClr val="0E24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feature/gps-tracker</a:t>
            </a:r>
            <a:pPr indent="0" marL="0">
              <a:buNone/>
            </a:pPr>
            <a:r>
              <a:rPr lang="en-US" sz="110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  Fecha del informe: </a:t>
            </a:r>
            <a:pPr indent="0" marL="0">
              <a:buNone/>
            </a:pPr>
            <a:r>
              <a:rPr lang="en-US" sz="110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de septiembre de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VAMOS A VER?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recorrido práctico por la aplicación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Toca cualquier sección para ir directo a esa parte de la presentación</a:t>
            </a:r>
            <a:endParaRPr lang="en-US" sz="1250" dirty="0"/>
          </a:p>
        </p:txBody>
      </p:sp>
      <p:sp>
        <p:nvSpPr>
          <p:cNvPr id="5" name="Shape 3">
            <a:hlinkClick r:id="rId1" tooltip="" action="ppaction://hlinksldjump"/>
          </p:cNvPr>
          <p:cNvSpPr/>
          <p:nvPr/>
        </p:nvSpPr>
        <p:spPr>
          <a:xfrm>
            <a:off x="502920" y="2011680"/>
            <a:ext cx="534924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27000" dist="38100" dir="5400000">
              <a:srgbClr val="0E2438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331720"/>
            <a:ext cx="685800" cy="685800"/>
          </a:xfrm>
          <a:prstGeom prst="ellipse">
            <a:avLst/>
          </a:prstGeom>
          <a:solidFill>
            <a:srgbClr val="0E2438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313432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🚚</a:t>
            </a:r>
            <a:endParaRPr lang="en-US" sz="2600" dirty="0"/>
          </a:p>
        </p:txBody>
      </p:sp>
      <p:sp>
        <p:nvSpPr>
          <p:cNvPr id="8" name="Text 6">
            <a:hlinkClick r:id="rId2" tooltip="" action="ppaction://hlinksldjump"/>
          </p:cNvPr>
          <p:cNvSpPr/>
          <p:nvPr/>
        </p:nvSpPr>
        <p:spPr>
          <a:xfrm>
            <a:off x="1737360" y="2286000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u="sng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Estado y Gestión de Flota</a:t>
            </a:r>
            <a:endParaRPr lang="en-US" sz="1650" dirty="0"/>
          </a:p>
        </p:txBody>
      </p:sp>
      <p:sp>
        <p:nvSpPr>
          <p:cNvPr id="9" name="Text 7">
            <a:hlinkClick r:id="rId3" tooltip="" action="ppaction://hlinksldjump"/>
          </p:cNvPr>
          <p:cNvSpPr/>
          <p:nvPr/>
        </p:nvSpPr>
        <p:spPr>
          <a:xfrm>
            <a:off x="1737360" y="2761488"/>
            <a:ext cx="37947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u="sng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Vista en vivo de todas las unidades y el registro interno placa–unidad–conductor.</a:t>
            </a:r>
            <a:endParaRPr lang="en-US" sz="1100" dirty="0"/>
          </a:p>
        </p:txBody>
      </p:sp>
      <p:sp>
        <p:nvSpPr>
          <p:cNvPr id="10" name="Text 8">
            <a:hlinkClick r:id="rId4" tooltip="" action="ppaction://hlinksldjump"/>
          </p:cNvPr>
          <p:cNvSpPr/>
          <p:nvPr/>
        </p:nvSpPr>
        <p:spPr>
          <a:xfrm>
            <a:off x="4800600" y="3611880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u="sng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IR →</a:t>
            </a:r>
            <a:endParaRPr lang="en-US" sz="1000" dirty="0"/>
          </a:p>
        </p:txBody>
      </p:sp>
      <p:sp>
        <p:nvSpPr>
          <p:cNvPr id="11" name="Shape 9">
            <a:hlinkClick r:id="rId5" tooltip="" action="ppaction://hlinksldjump"/>
          </p:cNvPr>
          <p:cNvSpPr/>
          <p:nvPr/>
        </p:nvSpPr>
        <p:spPr>
          <a:xfrm>
            <a:off x="6263640" y="2011680"/>
            <a:ext cx="534924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27000" dist="38100" dir="5400000">
              <a:srgbClr val="0E2438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83680" y="2331720"/>
            <a:ext cx="685800" cy="685800"/>
          </a:xfrm>
          <a:prstGeom prst="ellipse">
            <a:avLst/>
          </a:prstGeom>
          <a:solidFill>
            <a:srgbClr val="0E2438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0" y="2313432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🗺️</a:t>
            </a:r>
            <a:endParaRPr lang="en-US" sz="2600" dirty="0"/>
          </a:p>
        </p:txBody>
      </p:sp>
      <p:sp>
        <p:nvSpPr>
          <p:cNvPr id="14" name="Text 12">
            <a:hlinkClick r:id="rId6" tooltip="" action="ppaction://hlinksldjump"/>
          </p:cNvPr>
          <p:cNvSpPr/>
          <p:nvPr/>
        </p:nvSpPr>
        <p:spPr>
          <a:xfrm>
            <a:off x="7498080" y="2286000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u="sng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Mapa en Vivo y Recorridos</a:t>
            </a:r>
            <a:endParaRPr lang="en-US" sz="1650" dirty="0"/>
          </a:p>
        </p:txBody>
      </p:sp>
      <p:sp>
        <p:nvSpPr>
          <p:cNvPr id="15" name="Text 13">
            <a:hlinkClick r:id="rId7" tooltip="" action="ppaction://hlinksldjump"/>
          </p:cNvPr>
          <p:cNvSpPr/>
          <p:nvPr/>
        </p:nvSpPr>
        <p:spPr>
          <a:xfrm>
            <a:off x="7498080" y="2761488"/>
            <a:ext cx="37947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u="sng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Ubicación en tiempo real, más el historial de viajes de cada unidad (nuevo).</a:t>
            </a:r>
            <a:endParaRPr lang="en-US" sz="1100" dirty="0"/>
          </a:p>
        </p:txBody>
      </p:sp>
      <p:sp>
        <p:nvSpPr>
          <p:cNvPr id="16" name="Text 14">
            <a:hlinkClick r:id="rId8" tooltip="" action="ppaction://hlinksldjump"/>
          </p:cNvPr>
          <p:cNvSpPr/>
          <p:nvPr/>
        </p:nvSpPr>
        <p:spPr>
          <a:xfrm>
            <a:off x="10561320" y="3611880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u="sng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IR →</a:t>
            </a:r>
            <a:endParaRPr lang="en-US" sz="1000" dirty="0"/>
          </a:p>
        </p:txBody>
      </p:sp>
      <p:sp>
        <p:nvSpPr>
          <p:cNvPr id="17" name="Shape 15">
            <a:hlinkClick r:id="rId9" tooltip="" action="ppaction://hlinksldjump"/>
          </p:cNvPr>
          <p:cNvSpPr/>
          <p:nvPr/>
        </p:nvSpPr>
        <p:spPr>
          <a:xfrm>
            <a:off x="502920" y="4434840"/>
            <a:ext cx="534924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27000" dist="38100" dir="5400000">
              <a:srgbClr val="0E2438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2960" y="4754880"/>
            <a:ext cx="685800" cy="685800"/>
          </a:xfrm>
          <a:prstGeom prst="ellipse">
            <a:avLst/>
          </a:prstGeom>
          <a:solidFill>
            <a:srgbClr val="0E2438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4736592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🔔</a:t>
            </a:r>
            <a:endParaRPr lang="en-US" sz="2600" dirty="0"/>
          </a:p>
        </p:txBody>
      </p:sp>
      <p:sp>
        <p:nvSpPr>
          <p:cNvPr id="20" name="Text 18">
            <a:hlinkClick r:id="rId10" tooltip="" action="ppaction://hlinksldjump"/>
          </p:cNvPr>
          <p:cNvSpPr/>
          <p:nvPr/>
        </p:nvSpPr>
        <p:spPr>
          <a:xfrm>
            <a:off x="1737360" y="4709160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u="sng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Notificaciones: Alertas y Telegram</a:t>
            </a:r>
            <a:endParaRPr lang="en-US" sz="1650" dirty="0"/>
          </a:p>
        </p:txBody>
      </p:sp>
      <p:sp>
        <p:nvSpPr>
          <p:cNvPr id="21" name="Text 19">
            <a:hlinkClick r:id="rId11" tooltip="" action="ppaction://hlinksldjump"/>
          </p:cNvPr>
          <p:cNvSpPr/>
          <p:nvPr/>
        </p:nvSpPr>
        <p:spPr>
          <a:xfrm>
            <a:off x="1737360" y="5184648"/>
            <a:ext cx="37947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u="sng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Entradas y salidas de geocerca de día, fuera de horario de noche, y el mensaje real de Telegram.</a:t>
            </a:r>
            <a:endParaRPr lang="en-US" sz="1100" dirty="0"/>
          </a:p>
        </p:txBody>
      </p:sp>
      <p:sp>
        <p:nvSpPr>
          <p:cNvPr id="22" name="Text 20">
            <a:hlinkClick r:id="rId12" tooltip="" action="ppaction://hlinksldjump"/>
          </p:cNvPr>
          <p:cNvSpPr/>
          <p:nvPr/>
        </p:nvSpPr>
        <p:spPr>
          <a:xfrm>
            <a:off x="4800600" y="6035040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u="sng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IR →</a:t>
            </a:r>
            <a:endParaRPr lang="en-US" sz="1000" dirty="0"/>
          </a:p>
        </p:txBody>
      </p:sp>
      <p:sp>
        <p:nvSpPr>
          <p:cNvPr id="23" name="Shape 21">
            <a:hlinkClick r:id="rId13" tooltip="" action="ppaction://hlinksldjump"/>
          </p:cNvPr>
          <p:cNvSpPr/>
          <p:nvPr/>
        </p:nvSpPr>
        <p:spPr>
          <a:xfrm>
            <a:off x="6263640" y="4434840"/>
            <a:ext cx="534924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27000" dist="38100" dir="5400000">
              <a:srgbClr val="0E2438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583680" y="4754880"/>
            <a:ext cx="685800" cy="685800"/>
          </a:xfrm>
          <a:prstGeom prst="ellipse">
            <a:avLst/>
          </a:prstGeom>
          <a:solidFill>
            <a:srgbClr val="0E2438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0" y="4736592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📊</a:t>
            </a:r>
            <a:endParaRPr lang="en-US" sz="2600" dirty="0"/>
          </a:p>
        </p:txBody>
      </p:sp>
      <p:sp>
        <p:nvSpPr>
          <p:cNvPr id="26" name="Text 24">
            <a:hlinkClick r:id="rId14" tooltip="" action="ppaction://hlinksldjump"/>
          </p:cNvPr>
          <p:cNvSpPr/>
          <p:nvPr/>
        </p:nvSpPr>
        <p:spPr>
          <a:xfrm>
            <a:off x="7498080" y="4709160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u="sng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Reportes de Turno</a:t>
            </a:r>
            <a:endParaRPr lang="en-US" sz="1650" dirty="0"/>
          </a:p>
        </p:txBody>
      </p:sp>
      <p:sp>
        <p:nvSpPr>
          <p:cNvPr id="27" name="Text 25">
            <a:hlinkClick r:id="rId15" tooltip="" action="ppaction://hlinksldjump"/>
          </p:cNvPr>
          <p:cNvSpPr/>
          <p:nvPr/>
        </p:nvSpPr>
        <p:spPr>
          <a:xfrm>
            <a:off x="7498080" y="5184648"/>
            <a:ext cx="37947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u="sng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Cierres automáticos por turno, descargables y enviados a Telegram.</a:t>
            </a:r>
            <a:endParaRPr lang="en-US" sz="1100" dirty="0"/>
          </a:p>
        </p:txBody>
      </p:sp>
      <p:sp>
        <p:nvSpPr>
          <p:cNvPr id="28" name="Text 26">
            <a:hlinkClick r:id="rId16" tooltip="" action="ppaction://hlinksldjump"/>
          </p:cNvPr>
          <p:cNvSpPr/>
          <p:nvPr/>
        </p:nvSpPr>
        <p:spPr>
          <a:xfrm>
            <a:off x="10561320" y="6035040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u="sng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IR →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60120" y="256032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de Flota y Gestión de Unidades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195560" y="365760"/>
            <a:ext cx="1554480" cy="365760"/>
          </a:xfrm>
          <a:prstGeom prst="roundRect">
            <a:avLst>
              <a:gd name="adj" fmla="val 20000"/>
            </a:avLst>
          </a:prstGeom>
          <a:solidFill>
            <a:srgbClr val="EDF1F5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195560" y="3657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C8B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/tracker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896112"/>
            <a:ext cx="11274552" cy="0"/>
          </a:xfrm>
          <a:prstGeom prst="line">
            <a:avLst/>
          </a:prstGeom>
          <a:noFill/>
          <a:ln w="12700">
            <a:solidFill>
              <a:srgbClr val="DDE3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170432"/>
            <a:ext cx="5532120" cy="2811780"/>
          </a:xfrm>
          <a:prstGeom prst="roundRect">
            <a:avLst>
              <a:gd name="adj" fmla="val 2602"/>
            </a:avLst>
          </a:prstGeom>
          <a:solidFill>
            <a:srgbClr val="EDF1F5"/>
          </a:solidFill>
          <a:ln/>
        </p:spPr>
      </p:sp>
      <p:pic>
        <p:nvPicPr>
          <p:cNvPr id="8" name="Image 0" descr="assets/real_est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16152"/>
            <a:ext cx="5440680" cy="27203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02920" y="4046220"/>
            <a:ext cx="5440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FLOTA — vista en vivo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263640" y="1170432"/>
            <a:ext cx="5532120" cy="2811780"/>
          </a:xfrm>
          <a:prstGeom prst="roundRect">
            <a:avLst>
              <a:gd name="adj" fmla="val 2602"/>
            </a:avLst>
          </a:prstGeom>
          <a:solidFill>
            <a:srgbClr val="EDF1F5"/>
          </a:solidFill>
          <a:ln/>
        </p:spPr>
      </p:sp>
      <p:pic>
        <p:nvPicPr>
          <p:cNvPr id="11" name="Image 1" descr="assets/real_g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216152"/>
            <a:ext cx="5440680" cy="27203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309360" y="4046220"/>
            <a:ext cx="5440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UNIDADES — panel plegable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502920" y="4526280"/>
            <a:ext cx="5440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MUESTRA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502920" y="4818888"/>
            <a:ext cx="5440680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indicadores permanentes: total, activas, estacionadas y sin señal reciente.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bloques desplegables, cada uno con su propio buscador por unidad, placa o ubicación.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cuarto bloque (naranja) con el registro interno placa–unidad–conductor: crear, editar y dar de baja.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6309360" y="4526280"/>
            <a:ext cx="5440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QUÉ SE BASA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6309360" y="4818888"/>
            <a:ext cx="5440680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sale de la misma última lectura por unidad que confirma la API del proveedor GPS.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sincroniza sola en horarios fijos (turnos y revisiones nocturnas); "Sincronizar ahora" fuerza una consulta en vivo.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registro interno es solo referencia (nombres/códigos) — no participa en el conteo del total.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60120" y="256032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en Vivo y Recorridos por Unidad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195560" y="365760"/>
            <a:ext cx="1554480" cy="365760"/>
          </a:xfrm>
          <a:prstGeom prst="roundRect">
            <a:avLst>
              <a:gd name="adj" fmla="val 20000"/>
            </a:avLst>
          </a:prstGeom>
          <a:solidFill>
            <a:srgbClr val="EDF1F5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195560" y="3657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C8B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/tracker/map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896112"/>
            <a:ext cx="11274552" cy="0"/>
          </a:xfrm>
          <a:prstGeom prst="line">
            <a:avLst/>
          </a:prstGeom>
          <a:noFill/>
          <a:ln w="12700">
            <a:solidFill>
              <a:srgbClr val="DDE3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188720"/>
            <a:ext cx="6537960" cy="4120515"/>
          </a:xfrm>
          <a:prstGeom prst="roundRect">
            <a:avLst>
              <a:gd name="adj" fmla="val 1775"/>
            </a:avLst>
          </a:prstGeom>
          <a:solidFill>
            <a:srgbClr val="EDF1F5"/>
          </a:solidFill>
          <a:ln/>
        </p:spPr>
      </p:sp>
      <p:pic>
        <p:nvPicPr>
          <p:cNvPr id="8" name="Image 0" descr="assets/real_ma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6446520" cy="4029075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178040" y="1188720"/>
            <a:ext cx="4526280" cy="4120515"/>
          </a:xfrm>
          <a:prstGeom prst="roundRect">
            <a:avLst>
              <a:gd name="adj" fmla="val 2219"/>
            </a:avLst>
          </a:prstGeom>
          <a:solidFill>
            <a:srgbClr val="F7FAFC"/>
          </a:solidFill>
          <a:ln w="15875">
            <a:solidFill>
              <a:srgbClr val="D99B0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60920" y="1353312"/>
            <a:ext cx="365760" cy="365760"/>
          </a:xfrm>
          <a:prstGeom prst="ellipse">
            <a:avLst/>
          </a:prstGeom>
          <a:solidFill>
            <a:srgbClr val="D99B0A"/>
          </a:solidFill>
          <a:ln/>
        </p:spPr>
      </p:sp>
      <p:sp>
        <p:nvSpPr>
          <p:cNvPr id="11" name="Text 8"/>
          <p:cNvSpPr/>
          <p:nvPr/>
        </p:nvSpPr>
        <p:spPr>
          <a:xfrm>
            <a:off x="7360920" y="133502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🛣️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818120" y="1335024"/>
            <a:ext cx="3703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Recorrido — FP-VEH.02-16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360920" y="1755648"/>
            <a:ext cx="4160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18/09/2026 · día completo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7360920" y="2048256"/>
            <a:ext cx="1289304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452360" y="2103120"/>
            <a:ext cx="11064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RECORRIDOS</a:t>
            </a:r>
            <a:endParaRPr lang="en-US" sz="750" dirty="0"/>
          </a:p>
        </p:txBody>
      </p:sp>
      <p:sp>
        <p:nvSpPr>
          <p:cNvPr id="16" name="Text 13"/>
          <p:cNvSpPr/>
          <p:nvPr/>
        </p:nvSpPr>
        <p:spPr>
          <a:xfrm>
            <a:off x="7452360" y="2286000"/>
            <a:ext cx="1106424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8796528" y="2048256"/>
            <a:ext cx="1289304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887968" y="2103120"/>
            <a:ext cx="11064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 RECORRIDOS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8887968" y="2286000"/>
            <a:ext cx="1106424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108.53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10232136" y="2048256"/>
            <a:ext cx="1289304" cy="566928"/>
          </a:xfrm>
          <a:prstGeom prst="roundRect">
            <a:avLst>
              <a:gd name="adj" fmla="val 11290"/>
            </a:avLst>
          </a:prstGeom>
          <a:solidFill>
            <a:srgbClr val="FCEBE9"/>
          </a:solidFill>
          <a:ln w="12700">
            <a:solidFill>
              <a:srgbClr val="E5534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323576" y="2103120"/>
            <a:ext cx="11064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ESTACIONADO</a:t>
            </a:r>
            <a:endParaRPr lang="en-US" sz="750" dirty="0"/>
          </a:p>
        </p:txBody>
      </p:sp>
      <p:sp>
        <p:nvSpPr>
          <p:cNvPr id="22" name="Text 19"/>
          <p:cNvSpPr/>
          <p:nvPr/>
        </p:nvSpPr>
        <p:spPr>
          <a:xfrm>
            <a:off x="10323576" y="2286000"/>
            <a:ext cx="1106424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553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 h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7360920" y="274320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8366760" y="274320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LLEGADA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9464040" y="274320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10515600" y="274320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7360920" y="2962656"/>
            <a:ext cx="4160520" cy="0"/>
          </a:xfrm>
          <a:prstGeom prst="line">
            <a:avLst/>
          </a:prstGeom>
          <a:noFill/>
          <a:ln w="6350">
            <a:solidFill>
              <a:srgbClr val="DDE3E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360920" y="2999232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12:44 pm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8366760" y="2999232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01:01 pm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9464040" y="2999232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14.8 km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10515600" y="2999232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 45, La Cañada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7360920" y="3255264"/>
            <a:ext cx="4160520" cy="0"/>
          </a:xfrm>
          <a:prstGeom prst="line">
            <a:avLst/>
          </a:prstGeom>
          <a:noFill/>
          <a:ln w="6350">
            <a:solidFill>
              <a:srgbClr val="DDE3EA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360920" y="3291840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01:21 pm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8366760" y="3291840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01:34 pm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9464040" y="3291840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9.23 km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10515600" y="3291840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 40, La Cañada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7360920" y="3547872"/>
            <a:ext cx="4160520" cy="0"/>
          </a:xfrm>
          <a:prstGeom prst="line">
            <a:avLst/>
          </a:prstGeom>
          <a:noFill/>
          <a:ln w="6350">
            <a:solidFill>
              <a:srgbClr val="DDE3EA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360920" y="3584448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01:40 pm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8366760" y="3584448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01:58 pm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9464040" y="3584448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12.72 km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10515600" y="3584448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R-90, Sto. Domingo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502920" y="5537835"/>
            <a:ext cx="11201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ABRE</a:t>
            </a:r>
            <a:endParaRPr lang="en-US" sz="1050" dirty="0"/>
          </a:p>
        </p:txBody>
      </p:sp>
      <p:sp>
        <p:nvSpPr>
          <p:cNvPr id="43" name="Text 40"/>
          <p:cNvSpPr/>
          <p:nvPr/>
        </p:nvSpPr>
        <p:spPr>
          <a:xfrm>
            <a:off x="502920" y="5830443"/>
            <a:ext cx="11201400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formas de llegar al mismo panel: haciendo clic sobre una unidad en el mapa, o eligiéndola en el selector aparte.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viaje se puede dibujar sobre el mapa como una ruta real (línea + zoom automático), con el botón "Ver ruta".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panel de Recorridos se reutiliza desde Notificaciones — ver siguiente sección.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60120" y="256032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Notificaciones: Alertas, Telegram y Reportes Enviados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195560" y="365760"/>
            <a:ext cx="1554480" cy="365760"/>
          </a:xfrm>
          <a:prstGeom prst="roundRect">
            <a:avLst>
              <a:gd name="adj" fmla="val 20000"/>
            </a:avLst>
          </a:prstGeom>
          <a:solidFill>
            <a:srgbClr val="EDF1F5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195560" y="3657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C8B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/tracker/alerts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896112"/>
            <a:ext cx="11274552" cy="0"/>
          </a:xfrm>
          <a:prstGeom prst="line">
            <a:avLst/>
          </a:prstGeom>
          <a:noFill/>
          <a:ln w="12700">
            <a:solidFill>
              <a:srgbClr val="DDE3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05156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FBF3DD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106424"/>
            <a:ext cx="107899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691640" y="1106424"/>
            <a:ext cx="1143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2880360" y="1106424"/>
            <a:ext cx="777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FLOTA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3703320" y="1106424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800600" y="1106424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8595360" y="1106424"/>
            <a:ext cx="685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NOTIF.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9326880" y="1106424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0241280" y="1106424"/>
            <a:ext cx="144475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RECORRIDOS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66928" y="132588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18/9, 10:31 a.m.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91640" y="1325880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24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FP-VEH.02-16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880360" y="1325880"/>
            <a:ext cx="777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LIVIANA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703320" y="1307592"/>
            <a:ext cx="960120" cy="274320"/>
          </a:xfrm>
          <a:prstGeom prst="roundRect">
            <a:avLst>
              <a:gd name="adj" fmla="val 40000"/>
            </a:avLst>
          </a:prstGeom>
          <a:solidFill>
            <a:srgbClr val="FCEBE9"/>
          </a:solidFill>
          <a:ln/>
        </p:spPr>
      </p:sp>
      <p:sp>
        <p:nvSpPr>
          <p:cNvPr id="20" name="Text 18"/>
          <p:cNvSpPr/>
          <p:nvPr/>
        </p:nvSpPr>
        <p:spPr>
          <a:xfrm>
            <a:off x="3703320" y="130759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 de geocerca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4800600" y="1344168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Unidad saliendo de geocerca Boscán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8595360" y="1325880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F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9326880" y="1307592"/>
            <a:ext cx="777240" cy="274320"/>
          </a:xfrm>
          <a:prstGeom prst="roundRect">
            <a:avLst>
              <a:gd name="adj" fmla="val 40000"/>
            </a:avLst>
          </a:prstGeom>
          <a:solidFill>
            <a:srgbClr val="EDF1F5"/>
          </a:solidFill>
          <a:ln/>
        </p:spPr>
      </p:sp>
      <p:sp>
        <p:nvSpPr>
          <p:cNvPr id="24" name="Text 22"/>
          <p:cNvSpPr/>
          <p:nvPr/>
        </p:nvSpPr>
        <p:spPr>
          <a:xfrm>
            <a:off x="9326880" y="1307592"/>
            <a:ext cx="777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Resuelta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10241280" y="1307592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D99B0A"/>
          </a:solidFill>
          <a:ln/>
        </p:spPr>
      </p:sp>
      <p:sp>
        <p:nvSpPr>
          <p:cNvPr id="26" name="Text 24"/>
          <p:cNvSpPr/>
          <p:nvPr/>
        </p:nvSpPr>
        <p:spPr>
          <a:xfrm>
            <a:off x="10241280" y="1289304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📍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0607040" y="1307592"/>
            <a:ext cx="292608" cy="274320"/>
          </a:xfrm>
          <a:prstGeom prst="roundRect">
            <a:avLst>
              <a:gd name="adj" fmla="val 20000"/>
            </a:avLst>
          </a:prstGeom>
          <a:ln w="9525">
            <a:solidFill>
              <a:srgbClr val="DDE3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607040" y="1289304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🕐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" y="1618488"/>
            <a:ext cx="11274552" cy="1417320"/>
          </a:xfrm>
          <a:prstGeom prst="roundRect">
            <a:avLst>
              <a:gd name="adj" fmla="val 3871"/>
            </a:avLst>
          </a:prstGeom>
          <a:solidFill>
            <a:srgbClr val="F7FAFC"/>
          </a:solidFill>
          <a:ln w="12700">
            <a:solidFill>
              <a:srgbClr val="D99B0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17099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🛣️  Recorrido — Entrada/salida de geocerca — FP-VEH.02-16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40080" y="2002536"/>
            <a:ext cx="1090879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69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Mostrando recorridos a partir de la alerta (10:31 a.m.) — cambia la fecha para ver el día completo.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40080" y="2304288"/>
            <a:ext cx="17038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" y="2359152"/>
            <a:ext cx="15209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RECORRIDOS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731520" y="2542032"/>
            <a:ext cx="1520952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2481072" y="2304288"/>
            <a:ext cx="17038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572512" y="2359152"/>
            <a:ext cx="15209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SALIDA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2572512" y="2542032"/>
            <a:ext cx="1520952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12:44p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4322064" y="2304288"/>
            <a:ext cx="17038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13504" y="2359152"/>
            <a:ext cx="15209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ÚLT. LLEGADA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4413504" y="2542032"/>
            <a:ext cx="1520952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04:37p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163056" y="2304288"/>
            <a:ext cx="17038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254496" y="2359152"/>
            <a:ext cx="15209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KILÓMETROS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6254496" y="2542032"/>
            <a:ext cx="1520952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108.53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8004048" y="2304288"/>
            <a:ext cx="1703832" cy="594360"/>
          </a:xfrm>
          <a:prstGeom prst="roundRect">
            <a:avLst>
              <a:gd name="adj" fmla="val 10769"/>
            </a:avLst>
          </a:prstGeom>
          <a:solidFill>
            <a:srgbClr val="EAF8EF"/>
          </a:solidFill>
          <a:ln w="12700">
            <a:solidFill>
              <a:srgbClr val="2FAE6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095488" y="2359152"/>
            <a:ext cx="15209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2F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MOVIM.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8095488" y="2542032"/>
            <a:ext cx="1520952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AE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2.4 h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9845040" y="2304288"/>
            <a:ext cx="1703832" cy="594360"/>
          </a:xfrm>
          <a:prstGeom prst="roundRect">
            <a:avLst>
              <a:gd name="adj" fmla="val 10769"/>
            </a:avLst>
          </a:prstGeom>
          <a:solidFill>
            <a:srgbClr val="FCEBE9"/>
          </a:solidFill>
          <a:ln w="12700">
            <a:solidFill>
              <a:srgbClr val="E5534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936480" y="2359152"/>
            <a:ext cx="15209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ESTACIONADO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9936480" y="2542032"/>
            <a:ext cx="1520952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553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 h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457200" y="3264408"/>
            <a:ext cx="5532120" cy="2606040"/>
          </a:xfrm>
          <a:prstGeom prst="roundRect">
            <a:avLst>
              <a:gd name="adj" fmla="val 4211"/>
            </a:avLst>
          </a:prstGeom>
          <a:solidFill>
            <a:srgbClr val="E9EEF2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21792" y="3429000"/>
            <a:ext cx="365760" cy="365760"/>
          </a:xfrm>
          <a:prstGeom prst="ellipse">
            <a:avLst/>
          </a:prstGeom>
          <a:solidFill>
            <a:srgbClr val="2AABEE"/>
          </a:solidFill>
          <a:ln/>
        </p:spPr>
      </p:sp>
      <p:sp>
        <p:nvSpPr>
          <p:cNvPr id="52" name="Text 50"/>
          <p:cNvSpPr/>
          <p:nvPr/>
        </p:nvSpPr>
        <p:spPr>
          <a:xfrm>
            <a:off x="621792" y="341071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📡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1097280" y="344728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FullPetro Alertas Bot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1097280" y="370332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de Telegram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621792" y="3922776"/>
            <a:ext cx="4754880" cy="1764792"/>
          </a:xfrm>
          <a:prstGeom prst="roundRect">
            <a:avLst>
              <a:gd name="adj" fmla="val 3627"/>
            </a:avLst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758952" y="4014216"/>
            <a:ext cx="448056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00" b="1" dirty="0">
                <a:solidFill>
                  <a:srgbClr val="E553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⚠️ ATENCIÓN - 🔴 Unidad saliendo de geocerca</a:t>
            </a:r>
            <a:endParaRPr lang="en-US" sz="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1532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Unidad: FP-VEH.02-16   ·   Placa: A63AV6R</a:t>
            </a:r>
            <a:endParaRPr lang="en-US" sz="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1532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Fecha: 18/9/2026   ·   Hora: 10:31:07 a.m.</a:t>
            </a:r>
            <a:endParaRPr lang="en-US" sz="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1532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Geocerca: Boscán   ·   Ubicación: Km 40, La Cañada</a:t>
            </a:r>
            <a:endParaRPr lang="en-US" sz="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1532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Velocidad: 55 km/h   ·   Mapa: enlace a Google Maps</a:t>
            </a:r>
            <a:endParaRPr lang="en-US" sz="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1532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b="1" dirty="0">
                <a:solidFill>
                  <a:srgbClr val="9A69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🛣️ Recorrido de hoy (hasta ahora):</a:t>
            </a:r>
            <a:endParaRPr lang="en-US" sz="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1532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Viajes: 5   ·   Km recorridos: 108.53 km</a:t>
            </a:r>
            <a:endParaRPr lang="en-US" sz="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1532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Primera salida: 12:44 · Última llegada: 04:37p</a:t>
            </a:r>
            <a:endParaRPr lang="en-US" sz="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1532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 movimiento: 2.4 h   ·   Estacionado: 1.5 h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199632" y="3264408"/>
            <a:ext cx="553212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82512" y="3374136"/>
            <a:ext cx="5166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📨  Reporte enviado a Telegram — segunda pestaña de Notificaciones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6382512" y="3739896"/>
            <a:ext cx="1325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7754112" y="3739896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8851392" y="3739896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GENERADO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9902952" y="3739896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10863072" y="3739896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</a:t>
            </a:r>
            <a:endParaRPr lang="en-US" sz="750" dirty="0"/>
          </a:p>
        </p:txBody>
      </p:sp>
      <p:sp>
        <p:nvSpPr>
          <p:cNvPr id="64" name="Text 62"/>
          <p:cNvSpPr/>
          <p:nvPr/>
        </p:nvSpPr>
        <p:spPr>
          <a:xfrm>
            <a:off x="6382512" y="3977640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18/09/2026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7754112" y="3977640"/>
            <a:ext cx="1051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Vespertino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8851392" y="397764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02:05 pm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9902952" y="397764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F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10863072" y="397764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6382512" y="4270248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18/09/2026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7754112" y="4270248"/>
            <a:ext cx="1051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Matutino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8851392" y="4270248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09:05 am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9902952" y="427024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F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900" dirty="0"/>
          </a:p>
        </p:txBody>
      </p:sp>
      <p:sp>
        <p:nvSpPr>
          <p:cNvPr id="73" name="Text 71"/>
          <p:cNvSpPr/>
          <p:nvPr/>
        </p:nvSpPr>
        <p:spPr>
          <a:xfrm>
            <a:off x="10863072" y="4270248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6199632" y="4818888"/>
            <a:ext cx="5532120" cy="1051560"/>
          </a:xfrm>
          <a:prstGeom prst="roundRect">
            <a:avLst>
              <a:gd name="adj" fmla="val 8696"/>
            </a:avLst>
          </a:prstGeom>
          <a:solidFill>
            <a:srgbClr val="FBF3DD"/>
          </a:solidFill>
          <a:ln/>
        </p:spPr>
      </p:sp>
      <p:sp>
        <p:nvSpPr>
          <p:cNvPr id="75" name="Text 73"/>
          <p:cNvSpPr/>
          <p:nvPr/>
        </p:nvSpPr>
        <p:spPr>
          <a:xfrm>
            <a:off x="6382512" y="4892040"/>
            <a:ext cx="5166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69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🕗  Cuándo avisa  ·  🧹  Limpieza automática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6382512" y="5120640"/>
            <a:ext cx="51663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día: cada entrada/salida de geocerca que marca GEvolution (🚨 ALARMA si es crítica, ⚠️ ATENCIÓN si no). De noche: fuera de horario a las 8:00, 8:30 y 9:00 pm. El historial se borra solo a los 8 días.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60120" y="256032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Reportes de Turno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195560" y="365760"/>
            <a:ext cx="1554480" cy="365760"/>
          </a:xfrm>
          <a:prstGeom prst="roundRect">
            <a:avLst>
              <a:gd name="adj" fmla="val 20000"/>
            </a:avLst>
          </a:prstGeom>
          <a:solidFill>
            <a:srgbClr val="EDF1F5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195560" y="3657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C8B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/tracker/report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896112"/>
            <a:ext cx="11274552" cy="0"/>
          </a:xfrm>
          <a:prstGeom prst="line">
            <a:avLst/>
          </a:prstGeom>
          <a:noFill/>
          <a:ln w="12700">
            <a:solidFill>
              <a:srgbClr val="DDE3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188720"/>
            <a:ext cx="3555827" cy="3429000"/>
          </a:xfrm>
          <a:prstGeom prst="roundRect">
            <a:avLst>
              <a:gd name="adj" fmla="val 2133"/>
            </a:avLst>
          </a:prstGeom>
          <a:solidFill>
            <a:srgbClr val="EDF1F5"/>
          </a:solidFill>
          <a:ln/>
        </p:spPr>
      </p:sp>
      <p:pic>
        <p:nvPicPr>
          <p:cNvPr id="8" name="Image 0" descr="assets/real_repor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3464387" cy="33375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937760" y="1234440"/>
            <a:ext cx="6766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MUESTRA Y EN QUÉ SE BASA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937760" y="1527048"/>
            <a:ext cx="6766560" cy="2450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pestañas — Matutino, Vespertino, Nocturno — cada una con su propio historial de reportes ya generados.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reporte trae totales (activas / estacionadas / sin señal), hora de generación, si llegó a Telegram, y descarga en Excel, PDF o imagen.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genera y envía solo al cerrar cada turno (9:05 am · 2:05 pm · 9:05 pm); "Generar ahora" corre el mismo proceso a demanda.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diseño en los tres formatos — Excel, PDF e imagen — para que se vean como una sola pieza, no documentos aparte.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57200" y="4709160"/>
            <a:ext cx="11274552" cy="1691640"/>
          </a:xfrm>
          <a:prstGeom prst="roundRect">
            <a:avLst>
              <a:gd name="adj" fmla="val 6486"/>
            </a:avLst>
          </a:prstGeom>
          <a:solidFill>
            <a:srgbClr val="0E2438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4873752"/>
            <a:ext cx="225491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B9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594360" y="5422392"/>
            <a:ext cx="198059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bajo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monitoreo continuo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2712110" y="4873752"/>
            <a:ext cx="225491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B9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24/7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2849270" y="5422392"/>
            <a:ext cx="198059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arranque y recuperación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automática, sin ventanas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4967021" y="4873752"/>
            <a:ext cx="225491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B9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5104181" y="5422392"/>
            <a:ext cx="198059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niveles de alerta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ALARMA y ATENCIÓN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221931" y="4873752"/>
            <a:ext cx="225491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B9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días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359091" y="5422392"/>
            <a:ext cx="198059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retención automática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historial de alertas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9476842" y="4873752"/>
            <a:ext cx="225491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B9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9614002" y="5422392"/>
            <a:ext cx="198059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por turno,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listos para descargar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457200" y="606247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visibilidad de la operación   ·   Respuesta más rápida ante desvíos   ·   Trazabilidad completa   —   Gracias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2026-09-18T20:59:00Z</dcterms:created>
  <dcterms:modified xsi:type="dcterms:W3CDTF">2026-09-18T20:59:00Z</dcterms:modified>
</cp:coreProperties>
</file>