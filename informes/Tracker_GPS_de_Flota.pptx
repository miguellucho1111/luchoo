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4" Type="http://schemas.openxmlformats.org/officeDocument/2006/relationships/slide" Target="slide3.xml"/><Relationship Id="rId6" Type="http://schemas.openxmlformats.org/officeDocument/2006/relationships/slide" Target="slide4.xml"/><Relationship Id="rId8" Type="http://schemas.openxmlformats.org/officeDocument/2006/relationships/slide" Target="slide4.xml"/><Relationship Id="rId10" Type="http://schemas.openxmlformats.org/officeDocument/2006/relationships/slide" Target="slide5.xml"/><Relationship Id="rId12" Type="http://schemas.openxmlformats.org/officeDocument/2006/relationships/slide" Target="slide5.xml"/><Relationship Id="rId14" Type="http://schemas.openxmlformats.org/officeDocument/2006/relationships/slide" Target="slide6.xml"/><Relationship Id="rId16" Type="http://schemas.openxmlformats.org/officeDocument/2006/relationships/slide" Target="slide6.xml"/><Relationship Id="rId18" Type="http://schemas.openxmlformats.org/officeDocument/2006/relationships/slide" Target="slide7.xml"/><Relationship Id="rId20" Type="http://schemas.openxmlformats.org/officeDocument/2006/relationships/slide" Target="slide7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5" Type="http://schemas.openxmlformats.org/officeDocument/2006/relationships/image" Target="../media/image-2-3.png"/><Relationship Id="rId7" Type="http://schemas.openxmlformats.org/officeDocument/2006/relationships/image" Target="../media/image-2-4.png"/><Relationship Id="rId9" Type="http://schemas.openxmlformats.org/officeDocument/2006/relationships/image" Target="../media/image-2-3.png"/><Relationship Id="rId11" Type="http://schemas.openxmlformats.org/officeDocument/2006/relationships/image" Target="../media/image-2-6.png"/><Relationship Id="rId13" Type="http://schemas.openxmlformats.org/officeDocument/2006/relationships/image" Target="../media/image-2-3.png"/><Relationship Id="rId15" Type="http://schemas.openxmlformats.org/officeDocument/2006/relationships/image" Target="../media/image-2-8.png"/><Relationship Id="rId17" Type="http://schemas.openxmlformats.org/officeDocument/2006/relationships/image" Target="../media/image-2-3.png"/><Relationship Id="rId19" Type="http://schemas.openxmlformats.org/officeDocument/2006/relationships/image" Target="../media/image-2-10.png"/><Relationship Id="rId21" Type="http://schemas.openxmlformats.org/officeDocument/2006/relationships/image" Target="../media/image-2-3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-914400" y="-1463040"/>
            <a:ext cx="8229600" cy="3291840"/>
          </a:xfrm>
          <a:prstGeom prst="rect">
            <a:avLst/>
          </a:prstGeom>
          <a:solidFill>
            <a:srgbClr val="F5B92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749040"/>
            <a:ext cx="5669280" cy="5669280"/>
          </a:xfrm>
          <a:prstGeom prst="ellipse">
            <a:avLst/>
          </a:prstGeom>
          <a:ln w="28575">
            <a:solidFill>
              <a:srgbClr val="F5B92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4663440"/>
            <a:ext cx="3840480" cy="3840480"/>
          </a:xfrm>
          <a:prstGeom prst="ellipse">
            <a:avLst/>
          </a:prstGeom>
          <a:ln w="19050">
            <a:solidFill>
              <a:srgbClr val="E7ECF1"/>
            </a:solidFill>
            <a:prstDash val="solid"/>
          </a:ln>
        </p:spPr>
      </p:sp>
      <p:pic>
        <p:nvPicPr>
          <p:cNvPr id="5" name="Image 0" descr="logo_navy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2743200" cy="894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OPERACIONES · GESTIÓN DE FLOTA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6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Tracker GPS</a:t>
            </a:r>
            <a:endParaRPr lang="en-US" sz="5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6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Flota</a:t>
            </a:r>
            <a:endParaRPr lang="en-US" sz="5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343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Monitoreo, alertas y reportes operativos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flota en tiempo real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PONENCIA INTERNA · USO PRÁCTICO DE LA APLICACIÓN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463040"/>
            <a:ext cx="3840480" cy="3840480"/>
          </a:xfrm>
          <a:prstGeom prst="ellipse">
            <a:avLst/>
          </a:prstGeom>
          <a:solidFill>
            <a:srgbClr val="F7FA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VER?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987552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recorrido práctico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la aplicación</a:t>
            </a:r>
            <a:endParaRPr lang="en-US" sz="3400" dirty="0"/>
          </a:p>
        </p:txBody>
      </p:sp>
      <p:pic>
        <p:nvPicPr>
          <p:cNvPr id="5" name="Image 0" descr="logo_navy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7135" y="548640"/>
            <a:ext cx="1371600" cy="447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148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cualquier segmento para ir directo a esa sección</a:t>
            </a:r>
            <a:endParaRPr lang="en-US" sz="1100" dirty="0"/>
          </a:p>
        </p:txBody>
      </p:sp>
      <p:sp>
        <p:nvSpPr>
          <p:cNvPr id="7" name="Shape 4">
            <a:hlinkClick r:id="rId2" tooltip="" action="ppaction://hlinksldjump"/>
          </p:cNvPr>
          <p:cNvSpPr/>
          <p:nvPr/>
        </p:nvSpPr>
        <p:spPr>
          <a:xfrm>
            <a:off x="685800" y="2468880"/>
            <a:ext cx="10817352" cy="685800"/>
          </a:xfrm>
          <a:prstGeom prst="roundRect">
            <a:avLst>
              <a:gd name="adj" fmla="val 10667"/>
            </a:avLst>
          </a:prstGeom>
          <a:solidFill>
            <a:srgbClr val="FAFBFC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2560320"/>
            <a:ext cx="475488" cy="475488"/>
          </a:xfrm>
          <a:prstGeom prst="ellipse">
            <a:avLst/>
          </a:prstGeom>
          <a:solidFill>
            <a:srgbClr val="15324D"/>
          </a:solidFill>
          <a:ln/>
        </p:spPr>
      </p:sp>
      <p:pic>
        <p:nvPicPr>
          <p:cNvPr id="9" name="Image 1" descr="icons/tru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528" y="2626888"/>
            <a:ext cx="342351" cy="342351"/>
          </a:xfrm>
          <a:prstGeom prst="rect">
            <a:avLst/>
          </a:prstGeom>
        </p:spPr>
      </p:pic>
      <p:sp>
        <p:nvSpPr>
          <p:cNvPr id="10" name="Text 6">
            <a:hlinkClick r:id="rId4" tooltip="" action="ppaction://hlinksldjump"/>
          </p:cNvPr>
          <p:cNvSpPr txBox="1"/>
          <p:nvPr/>
        </p:nvSpPr>
        <p:spPr>
          <a:xfrm>
            <a:off x="1481328" y="253288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Estado de Flota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5166360" y="256946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en vivo de todas las unidades: dónde están y cómo están.</a:t>
            </a:r>
            <a:endParaRPr lang="en-US" sz="1150" dirty="0"/>
          </a:p>
        </p:txBody>
      </p:sp>
      <p:pic>
        <p:nvPicPr>
          <p:cNvPr id="12" name="Image 2" descr="icons/chevronright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2615184"/>
            <a:ext cx="256032" cy="256032"/>
          </a:xfrm>
          <a:prstGeom prst="rect">
            <a:avLst/>
          </a:prstGeom>
        </p:spPr>
      </p:pic>
      <p:sp>
        <p:nvSpPr>
          <p:cNvPr id="13" name="Shape 8">
            <a:hlinkClick r:id="rId6" tooltip="" action="ppaction://hlinksldjump"/>
          </p:cNvPr>
          <p:cNvSpPr/>
          <p:nvPr/>
        </p:nvSpPr>
        <p:spPr>
          <a:xfrm>
            <a:off x="685800" y="3246120"/>
            <a:ext cx="1081735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4" name="Shape 9"/>
          <p:cNvSpPr/>
          <p:nvPr/>
        </p:nvSpPr>
        <p:spPr>
          <a:xfrm>
            <a:off x="822960" y="3337560"/>
            <a:ext cx="475488" cy="475488"/>
          </a:xfrm>
          <a:prstGeom prst="ellipse">
            <a:avLst/>
          </a:prstGeom>
          <a:solidFill>
            <a:srgbClr val="D99B0A"/>
          </a:solidFill>
          <a:ln/>
        </p:spPr>
      </p:sp>
      <p:pic>
        <p:nvPicPr>
          <p:cNvPr id="15" name="Image 3" descr="icons/users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528" y="3404128"/>
            <a:ext cx="342351" cy="342351"/>
          </a:xfrm>
          <a:prstGeom prst="rect">
            <a:avLst/>
          </a:prstGeom>
        </p:spPr>
      </p:pic>
      <p:sp>
        <p:nvSpPr>
          <p:cNvPr id="16" name="Text 10">
            <a:hlinkClick r:id="rId8" tooltip="" action="ppaction://hlinksldjump"/>
          </p:cNvPr>
          <p:cNvSpPr txBox="1"/>
          <p:nvPr/>
        </p:nvSpPr>
        <p:spPr>
          <a:xfrm>
            <a:off x="1481328" y="331012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Gestión de Unidades</a:t>
            </a:r>
            <a:endParaRPr lang="en-US" sz="1550" dirty="0"/>
          </a:p>
        </p:txBody>
      </p:sp>
      <p:sp>
        <p:nvSpPr>
          <p:cNvPr id="17" name="Text 11"/>
          <p:cNvSpPr txBox="1"/>
          <p:nvPr/>
        </p:nvSpPr>
        <p:spPr>
          <a:xfrm>
            <a:off x="5166360" y="334670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interno: código, placa, conductor y tipo de flota.</a:t>
            </a:r>
            <a:endParaRPr lang="en-US" sz="1150" dirty="0"/>
          </a:p>
        </p:txBody>
      </p:sp>
      <p:pic>
        <p:nvPicPr>
          <p:cNvPr id="18" name="Image 4" descr="icons/chevronright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18520" y="3392424"/>
            <a:ext cx="256032" cy="256032"/>
          </a:xfrm>
          <a:prstGeom prst="rect">
            <a:avLst/>
          </a:prstGeom>
        </p:spPr>
      </p:pic>
      <p:sp>
        <p:nvSpPr>
          <p:cNvPr id="19" name="Shape 12">
            <a:hlinkClick r:id="rId10" tooltip="" action="ppaction://hlinksldjump"/>
          </p:cNvPr>
          <p:cNvSpPr/>
          <p:nvPr/>
        </p:nvSpPr>
        <p:spPr>
          <a:xfrm>
            <a:off x="685800" y="4023360"/>
            <a:ext cx="10817352" cy="685800"/>
          </a:xfrm>
          <a:prstGeom prst="roundRect">
            <a:avLst>
              <a:gd name="adj" fmla="val 10667"/>
            </a:avLst>
          </a:prstGeom>
          <a:solidFill>
            <a:srgbClr val="FAFBFC"/>
          </a:solidFill>
          <a:ln/>
        </p:spPr>
      </p:sp>
      <p:sp>
        <p:nvSpPr>
          <p:cNvPr id="20" name="Shape 13"/>
          <p:cNvSpPr/>
          <p:nvPr/>
        </p:nvSpPr>
        <p:spPr>
          <a:xfrm>
            <a:off x="822960" y="4114800"/>
            <a:ext cx="475488" cy="475488"/>
          </a:xfrm>
          <a:prstGeom prst="ellipse">
            <a:avLst/>
          </a:prstGeom>
          <a:solidFill>
            <a:srgbClr val="15324D"/>
          </a:solidFill>
          <a:ln/>
        </p:spPr>
      </p:sp>
      <p:pic>
        <p:nvPicPr>
          <p:cNvPr id="21" name="Image 5" descr="icons/bell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9528" y="4181368"/>
            <a:ext cx="342351" cy="342351"/>
          </a:xfrm>
          <a:prstGeom prst="rect">
            <a:avLst/>
          </a:prstGeom>
        </p:spPr>
      </p:pic>
      <p:sp>
        <p:nvSpPr>
          <p:cNvPr id="22" name="Text 14">
            <a:hlinkClick r:id="rId12" tooltip="" action="ppaction://hlinksldjump"/>
          </p:cNvPr>
          <p:cNvSpPr txBox="1"/>
          <p:nvPr/>
        </p:nvSpPr>
        <p:spPr>
          <a:xfrm>
            <a:off x="1481328" y="40873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Alertas y Notificaciones</a:t>
            </a:r>
            <a:endParaRPr lang="en-US" sz="1550" dirty="0"/>
          </a:p>
        </p:txBody>
      </p:sp>
      <p:sp>
        <p:nvSpPr>
          <p:cNvPr id="23" name="Text 15"/>
          <p:cNvSpPr txBox="1"/>
          <p:nvPr/>
        </p:nvSpPr>
        <p:spPr>
          <a:xfrm>
            <a:off x="5166360" y="412394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automática de unidades circulando fuera de horario.</a:t>
            </a:r>
            <a:endParaRPr lang="en-US" sz="1150" dirty="0"/>
          </a:p>
        </p:txBody>
      </p:sp>
      <p:pic>
        <p:nvPicPr>
          <p:cNvPr id="24" name="Image 6" descr="icons/chevronright_gol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18520" y="4169664"/>
            <a:ext cx="256032" cy="256032"/>
          </a:xfrm>
          <a:prstGeom prst="rect">
            <a:avLst/>
          </a:prstGeom>
        </p:spPr>
      </p:pic>
      <p:sp>
        <p:nvSpPr>
          <p:cNvPr id="25" name="Shape 16">
            <a:hlinkClick r:id="rId14" tooltip="" action="ppaction://hlinksldjump"/>
          </p:cNvPr>
          <p:cNvSpPr/>
          <p:nvPr/>
        </p:nvSpPr>
        <p:spPr>
          <a:xfrm>
            <a:off x="685800" y="4800600"/>
            <a:ext cx="10817352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6" name="Shape 17"/>
          <p:cNvSpPr/>
          <p:nvPr/>
        </p:nvSpPr>
        <p:spPr>
          <a:xfrm>
            <a:off x="822960" y="4892040"/>
            <a:ext cx="475488" cy="475488"/>
          </a:xfrm>
          <a:prstGeom prst="ellipse">
            <a:avLst/>
          </a:prstGeom>
          <a:solidFill>
            <a:srgbClr val="D99B0A"/>
          </a:solidFill>
          <a:ln/>
        </p:spPr>
      </p:sp>
      <p:pic>
        <p:nvPicPr>
          <p:cNvPr id="27" name="Image 7" descr="icons/filetext_navy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9528" y="4958608"/>
            <a:ext cx="342351" cy="342351"/>
          </a:xfrm>
          <a:prstGeom prst="rect">
            <a:avLst/>
          </a:prstGeom>
        </p:spPr>
      </p:pic>
      <p:sp>
        <p:nvSpPr>
          <p:cNvPr id="28" name="Text 18">
            <a:hlinkClick r:id="rId16" tooltip="" action="ppaction://hlinksldjump"/>
          </p:cNvPr>
          <p:cNvSpPr txBox="1"/>
          <p:nvPr/>
        </p:nvSpPr>
        <p:spPr>
          <a:xfrm>
            <a:off x="1481328" y="4864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Reportes de Turno</a:t>
            </a:r>
            <a:endParaRPr lang="en-US" sz="1550" dirty="0"/>
          </a:p>
        </p:txBody>
      </p:sp>
      <p:sp>
        <p:nvSpPr>
          <p:cNvPr id="29" name="Text 19"/>
          <p:cNvSpPr txBox="1"/>
          <p:nvPr/>
        </p:nvSpPr>
        <p:spPr>
          <a:xfrm>
            <a:off x="5166360" y="490118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descargables por turno, en PDF, Excel e imagen.</a:t>
            </a:r>
            <a:endParaRPr lang="en-US" sz="1150" dirty="0"/>
          </a:p>
        </p:txBody>
      </p:sp>
      <p:pic>
        <p:nvPicPr>
          <p:cNvPr id="30" name="Image 8" descr="icons/chevronright_gol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8520" y="4946904"/>
            <a:ext cx="256032" cy="256032"/>
          </a:xfrm>
          <a:prstGeom prst="rect">
            <a:avLst/>
          </a:prstGeom>
        </p:spPr>
      </p:pic>
      <p:sp>
        <p:nvSpPr>
          <p:cNvPr id="31" name="Shape 20">
            <a:hlinkClick r:id="rId18" tooltip="" action="ppaction://hlinksldjump"/>
          </p:cNvPr>
          <p:cNvSpPr/>
          <p:nvPr/>
        </p:nvSpPr>
        <p:spPr>
          <a:xfrm>
            <a:off x="685800" y="5577840"/>
            <a:ext cx="10817352" cy="685800"/>
          </a:xfrm>
          <a:prstGeom prst="roundRect">
            <a:avLst>
              <a:gd name="adj" fmla="val 10667"/>
            </a:avLst>
          </a:prstGeom>
          <a:solidFill>
            <a:srgbClr val="FAFBFC"/>
          </a:solidFill>
          <a:ln/>
        </p:spPr>
      </p:sp>
      <p:sp>
        <p:nvSpPr>
          <p:cNvPr id="32" name="Shape 21"/>
          <p:cNvSpPr/>
          <p:nvPr/>
        </p:nvSpPr>
        <p:spPr>
          <a:xfrm>
            <a:off x="822960" y="5669280"/>
            <a:ext cx="475488" cy="475488"/>
          </a:xfrm>
          <a:prstGeom prst="ellipse">
            <a:avLst/>
          </a:prstGeom>
          <a:solidFill>
            <a:srgbClr val="15324D"/>
          </a:solidFill>
          <a:ln/>
        </p:spPr>
      </p:sp>
      <p:pic>
        <p:nvPicPr>
          <p:cNvPr id="33" name="Image 9" descr="icons/mappin_white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9528" y="5735848"/>
            <a:ext cx="342351" cy="342351"/>
          </a:xfrm>
          <a:prstGeom prst="rect">
            <a:avLst/>
          </a:prstGeom>
        </p:spPr>
      </p:pic>
      <p:sp>
        <p:nvSpPr>
          <p:cNvPr id="34" name="Text 22">
            <a:hlinkClick r:id="rId20" tooltip="" action="ppaction://hlinksldjump"/>
          </p:cNvPr>
          <p:cNvSpPr txBox="1"/>
          <p:nvPr/>
        </p:nvSpPr>
        <p:spPr>
          <a:xfrm>
            <a:off x="1481328" y="5641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u="sng" dirty="0">
                <a:solidFill>
                  <a:srgbClr val="0E243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Mapa en Vivo</a:t>
            </a:r>
            <a:endParaRPr lang="en-US" sz="1550" dirty="0"/>
          </a:p>
        </p:txBody>
      </p:sp>
      <p:sp>
        <p:nvSpPr>
          <p:cNvPr id="35" name="Text 23"/>
          <p:cNvSpPr txBox="1"/>
          <p:nvPr/>
        </p:nvSpPr>
        <p:spPr>
          <a:xfrm>
            <a:off x="5166360" y="5678424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geográfica de la flota, actualizada en tiempo real.</a:t>
            </a:r>
            <a:endParaRPr lang="en-US" sz="1150" dirty="0"/>
          </a:p>
        </p:txBody>
      </p:sp>
      <p:pic>
        <p:nvPicPr>
          <p:cNvPr id="36" name="Image 10" descr="icons/chevronright_gol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018520" y="5724144"/>
            <a:ext cx="256032" cy="256032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194560"/>
            <a:ext cx="4572000" cy="4572000"/>
          </a:xfrm>
          <a:prstGeom prst="ellipse">
            <a:avLst/>
          </a:prstGeom>
          <a:solidFill>
            <a:srgbClr val="FBF3D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749808"/>
            <a:ext cx="960120" cy="960120"/>
          </a:xfrm>
          <a:prstGeom prst="ellipse">
            <a:avLst/>
          </a:prstGeom>
          <a:solidFill>
            <a:srgbClr val="F5B92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566928" cy="566928"/>
          </a:xfrm>
          <a:prstGeom prst="ellipse">
            <a:avLst/>
          </a:prstGeom>
          <a:solidFill>
            <a:srgbClr val="15324D"/>
          </a:solidFill>
          <a:ln/>
        </p:spPr>
      </p:sp>
      <p:pic>
        <p:nvPicPr>
          <p:cNvPr id="6" name="Image 0" descr="icons/tru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30" y="993770"/>
            <a:ext cx="408188" cy="4081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91440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de Flota</a:t>
            </a:r>
            <a:endParaRPr lang="en-US" sz="2900" dirty="0"/>
          </a:p>
        </p:txBody>
      </p:sp>
      <p:pic>
        <p:nvPicPr>
          <p:cNvPr id="8" name="Image 1" descr="logo_navy_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548640"/>
            <a:ext cx="1371600" cy="447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" y="1874520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15568" y="1773936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bloques desplegables: Activas, Estacionadas y Sin señal reciente.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2642616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115568" y="2542032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se filtra por su cuenta: unidad, placa, flota o ubicación.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22960" y="3410712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115568" y="3310128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ubicación del GPS se traduce a un lugar claro, agrupado por categoría.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22960" y="4178808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115568" y="4078224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indicadores permanentes arriba: total, activas, estacionadas y sin señal.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822960" y="4946904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15568" y="4846320"/>
            <a:ext cx="3090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señal reciente: unidades que no reportan hace tiempo — se listan con su última conexión para revisarlas en sitio.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4480560" y="1783080"/>
            <a:ext cx="6675120" cy="3630168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77800" dist="63500" dir="5400000">
              <a:srgbClr val="0B1826">
                <a:alpha val="2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480560" y="1783080"/>
            <a:ext cx="6675120" cy="292608"/>
          </a:xfrm>
          <a:prstGeom prst="roundRect">
            <a:avLst>
              <a:gd name="adj" fmla="val 15625"/>
            </a:avLst>
          </a:prstGeom>
          <a:solidFill>
            <a:srgbClr val="EDF1F5"/>
          </a:solidFill>
          <a:ln/>
        </p:spPr>
      </p:sp>
      <p:sp>
        <p:nvSpPr>
          <p:cNvPr id="21" name="Shape 17"/>
          <p:cNvSpPr/>
          <p:nvPr/>
        </p:nvSpPr>
        <p:spPr>
          <a:xfrm>
            <a:off x="4480560" y="1929384"/>
            <a:ext cx="6675120" cy="146304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22" name="Shape 18"/>
          <p:cNvSpPr/>
          <p:nvPr/>
        </p:nvSpPr>
        <p:spPr>
          <a:xfrm>
            <a:off x="4608576" y="1888236"/>
            <a:ext cx="82296" cy="8229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3" name="Shape 19"/>
          <p:cNvSpPr/>
          <p:nvPr/>
        </p:nvSpPr>
        <p:spPr>
          <a:xfrm>
            <a:off x="4764024" y="1888236"/>
            <a:ext cx="82296" cy="82296"/>
          </a:xfrm>
          <a:prstGeom prst="ellipse">
            <a:avLst/>
          </a:prstGeom>
          <a:solidFill>
            <a:srgbClr val="F0A93B"/>
          </a:solidFill>
          <a:ln/>
        </p:spPr>
      </p:sp>
      <p:sp>
        <p:nvSpPr>
          <p:cNvPr id="24" name="Shape 20"/>
          <p:cNvSpPr/>
          <p:nvPr/>
        </p:nvSpPr>
        <p:spPr>
          <a:xfrm>
            <a:off x="4919472" y="1888236"/>
            <a:ext cx="82296" cy="82296"/>
          </a:xfrm>
          <a:prstGeom prst="ellipse">
            <a:avLst/>
          </a:prstGeom>
          <a:solidFill>
            <a:srgbClr val="2FAE60"/>
          </a:solidFill>
          <a:ln/>
        </p:spPr>
      </p:sp>
      <p:sp>
        <p:nvSpPr>
          <p:cNvPr id="25" name="Shape 21"/>
          <p:cNvSpPr/>
          <p:nvPr/>
        </p:nvSpPr>
        <p:spPr>
          <a:xfrm>
            <a:off x="5166360" y="1847088"/>
            <a:ext cx="5715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166360" y="1847088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app.fullpetro.com/tracker</a:t>
            </a:r>
            <a:endParaRPr lang="en-US" sz="750" dirty="0"/>
          </a:p>
        </p:txBody>
      </p:sp>
      <p:pic>
        <p:nvPicPr>
          <p:cNvPr id="27" name="Image 2" descr="real_shots/estado_flota_bloques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075688"/>
            <a:ext cx="6675120" cy="3337560"/>
          </a:xfrm>
          <a:prstGeom prst="rect">
            <a:avLst/>
          </a:prstGeom>
        </p:spPr>
      </p:pic>
      <p:sp>
        <p:nvSpPr>
          <p:cNvPr id="28" name="Text 23">
            <a:hlinkClick r:id="rId4" tooltip="" action="ppaction://hlinksldjump"/>
          </p:cNvPr>
          <p:cNvSpPr txBox="1"/>
          <p:nvPr/>
        </p:nvSpPr>
        <p:spPr>
          <a:xfrm>
            <a:off x="822960" y="6419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spc="100" kern="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 MENÚ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FBF3D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749808"/>
            <a:ext cx="960120" cy="960120"/>
          </a:xfrm>
          <a:prstGeom prst="ellipse">
            <a:avLst/>
          </a:prstGeom>
          <a:solidFill>
            <a:srgbClr val="F5B92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02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566928" cy="566928"/>
          </a:xfrm>
          <a:prstGeom prst="ellipse">
            <a:avLst/>
          </a:prstGeom>
          <a:solidFill>
            <a:srgbClr val="15324D"/>
          </a:solidFill>
          <a:ln/>
        </p:spPr>
      </p:sp>
      <p:pic>
        <p:nvPicPr>
          <p:cNvPr id="6" name="Image 0" descr="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30" y="993770"/>
            <a:ext cx="408188" cy="4081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91440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Unidades</a:t>
            </a:r>
            <a:endParaRPr lang="en-US" sz="2900" dirty="0"/>
          </a:p>
        </p:txBody>
      </p:sp>
      <p:pic>
        <p:nvPicPr>
          <p:cNvPr id="8" name="Image 1" descr="logo_navy_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548640"/>
            <a:ext cx="1371600" cy="447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" y="1783080"/>
            <a:ext cx="6675120" cy="3630168"/>
          </a:xfrm>
          <a:prstGeom prst="roundRect">
            <a:avLst>
              <a:gd name="adj" fmla="val 125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77800" dist="63500" dir="5400000">
              <a:srgbClr val="0B1826">
                <a:alpha val="2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22960" y="1783080"/>
            <a:ext cx="6675120" cy="292608"/>
          </a:xfrm>
          <a:prstGeom prst="roundRect">
            <a:avLst>
              <a:gd name="adj" fmla="val 15625"/>
            </a:avLst>
          </a:prstGeom>
          <a:solidFill>
            <a:srgbClr val="EDF1F5"/>
          </a:solidFill>
          <a:ln/>
        </p:spPr>
      </p:sp>
      <p:sp>
        <p:nvSpPr>
          <p:cNvPr id="11" name="Shape 7"/>
          <p:cNvSpPr/>
          <p:nvPr/>
        </p:nvSpPr>
        <p:spPr>
          <a:xfrm>
            <a:off x="822960" y="1929384"/>
            <a:ext cx="6675120" cy="146304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12" name="Shape 8"/>
          <p:cNvSpPr/>
          <p:nvPr/>
        </p:nvSpPr>
        <p:spPr>
          <a:xfrm>
            <a:off x="950976" y="1888236"/>
            <a:ext cx="82296" cy="8229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3" name="Shape 9"/>
          <p:cNvSpPr/>
          <p:nvPr/>
        </p:nvSpPr>
        <p:spPr>
          <a:xfrm>
            <a:off x="1106424" y="1888236"/>
            <a:ext cx="82296" cy="82296"/>
          </a:xfrm>
          <a:prstGeom prst="ellipse">
            <a:avLst/>
          </a:prstGeom>
          <a:solidFill>
            <a:srgbClr val="F0A93B"/>
          </a:solidFill>
          <a:ln/>
        </p:spPr>
      </p:sp>
      <p:sp>
        <p:nvSpPr>
          <p:cNvPr id="14" name="Shape 10"/>
          <p:cNvSpPr/>
          <p:nvPr/>
        </p:nvSpPr>
        <p:spPr>
          <a:xfrm>
            <a:off x="1261872" y="1888236"/>
            <a:ext cx="82296" cy="82296"/>
          </a:xfrm>
          <a:prstGeom prst="ellipse">
            <a:avLst/>
          </a:prstGeom>
          <a:solidFill>
            <a:srgbClr val="2FAE60"/>
          </a:solidFill>
          <a:ln/>
        </p:spPr>
      </p:sp>
      <p:sp>
        <p:nvSpPr>
          <p:cNvPr id="15" name="Shape 11"/>
          <p:cNvSpPr/>
          <p:nvPr/>
        </p:nvSpPr>
        <p:spPr>
          <a:xfrm>
            <a:off x="1508760" y="1847088"/>
            <a:ext cx="5715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508760" y="1847088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app.fullpetro.com/tracker</a:t>
            </a:r>
            <a:endParaRPr lang="en-US" sz="750" dirty="0"/>
          </a:p>
        </p:txBody>
      </p:sp>
      <p:pic>
        <p:nvPicPr>
          <p:cNvPr id="17" name="Image 2" descr="real_shots/estado_flota_bloqu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75688"/>
            <a:ext cx="6675120" cy="333756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772400" y="1965960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8065008" y="1865376"/>
            <a:ext cx="32278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cuarto bloque desplegable, junto a Activas/Estacionadas/Sin señal, con su propio color (naranja).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7772400" y="2862072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065008" y="2761488"/>
            <a:ext cx="32278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interno placa–unidad–conductor: crear, editar y dar de baja sin tocar la base de datos.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7772400" y="3758184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065008" y="3657600"/>
            <a:ext cx="32278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y filtro propios: encuentra una unidad por código, placa o conductor sin desplazarse por la lista.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7772400" y="4654296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065008" y="4553712"/>
            <a:ext cx="32278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unidad se clasifica como liviana o pesada — dato clave para las alertas.</a:t>
            </a:r>
            <a:endParaRPr lang="en-US" sz="1350" dirty="0"/>
          </a:p>
        </p:txBody>
      </p:sp>
      <p:sp>
        <p:nvSpPr>
          <p:cNvPr id="26" name="Text 21">
            <a:hlinkClick r:id="rId4" tooltip="" action="ppaction://hlinksldjump"/>
          </p:cNvPr>
          <p:cNvSpPr txBox="1"/>
          <p:nvPr/>
        </p:nvSpPr>
        <p:spPr>
          <a:xfrm>
            <a:off x="822960" y="6419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spc="100" kern="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 MENÚ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194560"/>
            <a:ext cx="4572000" cy="4572000"/>
          </a:xfrm>
          <a:prstGeom prst="ellipse">
            <a:avLst/>
          </a:prstGeom>
          <a:solidFill>
            <a:srgbClr val="FBF3D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749808"/>
            <a:ext cx="960120" cy="960120"/>
          </a:xfrm>
          <a:prstGeom prst="ellipse">
            <a:avLst/>
          </a:prstGeom>
          <a:solidFill>
            <a:srgbClr val="F5B92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566928" cy="566928"/>
          </a:xfrm>
          <a:prstGeom prst="ellipse">
            <a:avLst/>
          </a:prstGeom>
          <a:solidFill>
            <a:srgbClr val="15324D"/>
          </a:solidFill>
          <a:ln/>
        </p:spPr>
      </p:sp>
      <p:pic>
        <p:nvPicPr>
          <p:cNvPr id="6" name="Image 0" descr="icons/bel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30" y="993770"/>
            <a:ext cx="408188" cy="4081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91440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Alertas y Notificaciones</a:t>
            </a:r>
            <a:endParaRPr lang="en-US" sz="2900" dirty="0"/>
          </a:p>
        </p:txBody>
      </p:sp>
      <p:pic>
        <p:nvPicPr>
          <p:cNvPr id="8" name="Image 1" descr="logo_navy_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548640"/>
            <a:ext cx="1371600" cy="447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" y="1965960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15568" y="1865376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automática de unidades circulando fuera de horario.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2862072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115568" y="2761488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flota liviana genera alerta inmediata por Telegram.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22960" y="3758184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115568" y="3657600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flota pesada (campo) solo queda registrada — sin saturar Telegram.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22960" y="4654296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115568" y="4553712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completo: mensaje, ubicación, notificada y estado.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480560" y="1783080"/>
            <a:ext cx="6675120" cy="4464558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77800" dist="63500" dir="5400000">
              <a:srgbClr val="0B1826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480560" y="1783080"/>
            <a:ext cx="6675120" cy="292608"/>
          </a:xfrm>
          <a:prstGeom prst="roundRect">
            <a:avLst>
              <a:gd name="adj" fmla="val 15625"/>
            </a:avLst>
          </a:prstGeom>
          <a:solidFill>
            <a:srgbClr val="EDF1F5"/>
          </a:solidFill>
          <a:ln/>
        </p:spPr>
      </p:sp>
      <p:sp>
        <p:nvSpPr>
          <p:cNvPr id="19" name="Shape 15"/>
          <p:cNvSpPr/>
          <p:nvPr/>
        </p:nvSpPr>
        <p:spPr>
          <a:xfrm>
            <a:off x="4480560" y="1929384"/>
            <a:ext cx="6675120" cy="146304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20" name="Shape 16"/>
          <p:cNvSpPr/>
          <p:nvPr/>
        </p:nvSpPr>
        <p:spPr>
          <a:xfrm>
            <a:off x="4608576" y="1888236"/>
            <a:ext cx="82296" cy="8229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1" name="Shape 17"/>
          <p:cNvSpPr/>
          <p:nvPr/>
        </p:nvSpPr>
        <p:spPr>
          <a:xfrm>
            <a:off x="4764024" y="1888236"/>
            <a:ext cx="82296" cy="82296"/>
          </a:xfrm>
          <a:prstGeom prst="ellipse">
            <a:avLst/>
          </a:prstGeom>
          <a:solidFill>
            <a:srgbClr val="F0A93B"/>
          </a:solidFill>
          <a:ln/>
        </p:spPr>
      </p:sp>
      <p:sp>
        <p:nvSpPr>
          <p:cNvPr id="22" name="Shape 18"/>
          <p:cNvSpPr/>
          <p:nvPr/>
        </p:nvSpPr>
        <p:spPr>
          <a:xfrm>
            <a:off x="4919472" y="1888236"/>
            <a:ext cx="82296" cy="82296"/>
          </a:xfrm>
          <a:prstGeom prst="ellipse">
            <a:avLst/>
          </a:prstGeom>
          <a:solidFill>
            <a:srgbClr val="2FAE60"/>
          </a:solidFill>
          <a:ln/>
        </p:spPr>
      </p:sp>
      <p:sp>
        <p:nvSpPr>
          <p:cNvPr id="23" name="Shape 19"/>
          <p:cNvSpPr/>
          <p:nvPr/>
        </p:nvSpPr>
        <p:spPr>
          <a:xfrm>
            <a:off x="5166360" y="1847088"/>
            <a:ext cx="5715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166360" y="1847088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app.fullpetro.com/tracker</a:t>
            </a:r>
            <a:endParaRPr lang="en-US" sz="750" dirty="0"/>
          </a:p>
        </p:txBody>
      </p:sp>
      <p:pic>
        <p:nvPicPr>
          <p:cNvPr id="25" name="Image 2" descr="real_shots/alerta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075688"/>
            <a:ext cx="6675120" cy="4171950"/>
          </a:xfrm>
          <a:prstGeom prst="rect">
            <a:avLst/>
          </a:prstGeom>
        </p:spPr>
      </p:pic>
      <p:sp>
        <p:nvSpPr>
          <p:cNvPr id="26" name="Text 21">
            <a:hlinkClick r:id="rId4" tooltip="" action="ppaction://hlinksldjump"/>
          </p:cNvPr>
          <p:cNvSpPr txBox="1"/>
          <p:nvPr/>
        </p:nvSpPr>
        <p:spPr>
          <a:xfrm>
            <a:off x="822960" y="6419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spc="100" kern="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 MENÚ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029200" cy="5029200"/>
          </a:xfrm>
          <a:prstGeom prst="ellipse">
            <a:avLst/>
          </a:prstGeom>
          <a:solidFill>
            <a:srgbClr val="FBF3D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749808"/>
            <a:ext cx="960120" cy="960120"/>
          </a:xfrm>
          <a:prstGeom prst="ellipse">
            <a:avLst/>
          </a:prstGeom>
          <a:solidFill>
            <a:srgbClr val="F5B92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04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566928" cy="566928"/>
          </a:xfrm>
          <a:prstGeom prst="ellipse">
            <a:avLst/>
          </a:prstGeom>
          <a:solidFill>
            <a:srgbClr val="15324D"/>
          </a:solidFill>
          <a:ln/>
        </p:spPr>
      </p:sp>
      <p:pic>
        <p:nvPicPr>
          <p:cNvPr id="6" name="Image 0" descr="icons/filetex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30" y="993770"/>
            <a:ext cx="408188" cy="4081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91440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Reportes de Turno</a:t>
            </a:r>
            <a:endParaRPr lang="en-US" sz="2900" dirty="0"/>
          </a:p>
        </p:txBody>
      </p:sp>
      <p:pic>
        <p:nvPicPr>
          <p:cNvPr id="8" name="Image 1" descr="logo_navy_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548640"/>
            <a:ext cx="1371600" cy="447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" y="1783080"/>
            <a:ext cx="4572000" cy="4452754"/>
          </a:xfrm>
          <a:prstGeom prst="roundRect">
            <a:avLst>
              <a:gd name="adj" fmla="val 1027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77800" dist="63500" dir="5400000">
              <a:srgbClr val="0B1826">
                <a:alpha val="2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22960" y="1783080"/>
            <a:ext cx="4572000" cy="292608"/>
          </a:xfrm>
          <a:prstGeom prst="roundRect">
            <a:avLst>
              <a:gd name="adj" fmla="val 15625"/>
            </a:avLst>
          </a:prstGeom>
          <a:solidFill>
            <a:srgbClr val="EDF1F5"/>
          </a:solidFill>
          <a:ln/>
        </p:spPr>
      </p:sp>
      <p:sp>
        <p:nvSpPr>
          <p:cNvPr id="11" name="Shape 7"/>
          <p:cNvSpPr/>
          <p:nvPr/>
        </p:nvSpPr>
        <p:spPr>
          <a:xfrm>
            <a:off x="822960" y="1929384"/>
            <a:ext cx="4572000" cy="146304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12" name="Shape 8"/>
          <p:cNvSpPr/>
          <p:nvPr/>
        </p:nvSpPr>
        <p:spPr>
          <a:xfrm>
            <a:off x="950976" y="1888236"/>
            <a:ext cx="82296" cy="8229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3" name="Shape 9"/>
          <p:cNvSpPr/>
          <p:nvPr/>
        </p:nvSpPr>
        <p:spPr>
          <a:xfrm>
            <a:off x="1106424" y="1888236"/>
            <a:ext cx="82296" cy="82296"/>
          </a:xfrm>
          <a:prstGeom prst="ellipse">
            <a:avLst/>
          </a:prstGeom>
          <a:solidFill>
            <a:srgbClr val="F0A93B"/>
          </a:solidFill>
          <a:ln/>
        </p:spPr>
      </p:sp>
      <p:sp>
        <p:nvSpPr>
          <p:cNvPr id="14" name="Shape 10"/>
          <p:cNvSpPr/>
          <p:nvPr/>
        </p:nvSpPr>
        <p:spPr>
          <a:xfrm>
            <a:off x="1261872" y="1888236"/>
            <a:ext cx="82296" cy="82296"/>
          </a:xfrm>
          <a:prstGeom prst="ellipse">
            <a:avLst/>
          </a:prstGeom>
          <a:solidFill>
            <a:srgbClr val="2FAE60"/>
          </a:solidFill>
          <a:ln/>
        </p:spPr>
      </p:sp>
      <p:sp>
        <p:nvSpPr>
          <p:cNvPr id="15" name="Shape 11"/>
          <p:cNvSpPr/>
          <p:nvPr/>
        </p:nvSpPr>
        <p:spPr>
          <a:xfrm>
            <a:off x="1508760" y="1847088"/>
            <a:ext cx="36118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1508760" y="184708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Reporte_Tracker_MATUTINO.pdf</a:t>
            </a:r>
            <a:endParaRPr lang="en-US" sz="750" dirty="0"/>
          </a:p>
        </p:txBody>
      </p:sp>
      <p:pic>
        <p:nvPicPr>
          <p:cNvPr id="17" name="Image 2" descr="real_shots/reporte_bloqu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75688"/>
            <a:ext cx="4572000" cy="416014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669280" y="1874520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5961888" y="1773936"/>
            <a:ext cx="5376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cortes fijos: Matutino, Vespertino y Nocturno.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669280" y="2642616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5961888" y="2542032"/>
            <a:ext cx="5376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 y envía a Telegram automáticamente al cierre — también "en vivo", a cualquier hora.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5669280" y="3410712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5961888" y="3310128"/>
            <a:ext cx="5376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Descargable en PDF, Excel e imagen — historial completo.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5669280" y="4178808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5961888" y="4078224"/>
            <a:ext cx="5376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propio reporte agrupa por Activas / Estacionadas / Sin señal, igual que la app — ordenado por categoría de ubicación dentro de cada bloque.</a:t>
            </a:r>
            <a:endParaRPr lang="en-US" sz="1350" dirty="0"/>
          </a:p>
        </p:txBody>
      </p:sp>
      <p:sp>
        <p:nvSpPr>
          <p:cNvPr id="26" name="Text 21">
            <a:hlinkClick r:id="rId4" tooltip="" action="ppaction://hlinksldjump"/>
          </p:cNvPr>
          <p:cNvSpPr txBox="1"/>
          <p:nvPr/>
        </p:nvSpPr>
        <p:spPr>
          <a:xfrm>
            <a:off x="822960" y="6419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spc="100" kern="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 MENÚ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194560"/>
            <a:ext cx="4572000" cy="4572000"/>
          </a:xfrm>
          <a:prstGeom prst="ellipse">
            <a:avLst/>
          </a:prstGeom>
          <a:solidFill>
            <a:srgbClr val="FBF3DD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749808"/>
            <a:ext cx="960120" cy="960120"/>
          </a:xfrm>
          <a:prstGeom prst="ellipse">
            <a:avLst/>
          </a:prstGeom>
          <a:solidFill>
            <a:srgbClr val="F5B92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566928" cy="566928"/>
          </a:xfrm>
          <a:prstGeom prst="ellipse">
            <a:avLst/>
          </a:prstGeom>
          <a:solidFill>
            <a:srgbClr val="15324D"/>
          </a:solidFill>
          <a:ln/>
        </p:spPr>
      </p:sp>
      <p:pic>
        <p:nvPicPr>
          <p:cNvPr id="6" name="Image 0" descr="icons/mapp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330" y="993770"/>
            <a:ext cx="408188" cy="4081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72768" y="91440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en Vivo</a:t>
            </a:r>
            <a:endParaRPr lang="en-US" sz="2900" dirty="0"/>
          </a:p>
        </p:txBody>
      </p:sp>
      <p:pic>
        <p:nvPicPr>
          <p:cNvPr id="8" name="Image 1" descr="logo_navy_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135" y="548640"/>
            <a:ext cx="1371600" cy="4470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" y="1965960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1115568" y="1865376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cada unidad sobre el mapa, con su coordenada real.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22960" y="2862072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1115568" y="2761488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color del pin corresponde a la categoría de ubicación.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22960" y="3758184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1115568" y="3657600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de un vistazo concentraciones de unidades por zona.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22960" y="4654296"/>
            <a:ext cx="146304" cy="146304"/>
          </a:xfrm>
          <a:prstGeom prst="ellipse">
            <a:avLst/>
          </a:prstGeom>
          <a:solidFill>
            <a:srgbClr val="D99B0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115568" y="4553712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visual e inmediata, sin salir de la aplicación.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480560" y="1783080"/>
            <a:ext cx="6675120" cy="4464558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77800" dist="63500" dir="5400000">
              <a:srgbClr val="0B1826">
                <a:alpha val="2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480560" y="1783080"/>
            <a:ext cx="6675120" cy="292608"/>
          </a:xfrm>
          <a:prstGeom prst="roundRect">
            <a:avLst>
              <a:gd name="adj" fmla="val 15625"/>
            </a:avLst>
          </a:prstGeom>
          <a:solidFill>
            <a:srgbClr val="EDF1F5"/>
          </a:solidFill>
          <a:ln/>
        </p:spPr>
      </p:sp>
      <p:sp>
        <p:nvSpPr>
          <p:cNvPr id="19" name="Shape 15"/>
          <p:cNvSpPr/>
          <p:nvPr/>
        </p:nvSpPr>
        <p:spPr>
          <a:xfrm>
            <a:off x="4480560" y="1929384"/>
            <a:ext cx="6675120" cy="146304"/>
          </a:xfrm>
          <a:prstGeom prst="rect">
            <a:avLst/>
          </a:prstGeom>
          <a:solidFill>
            <a:srgbClr val="EDF1F5"/>
          </a:solidFill>
          <a:ln/>
        </p:spPr>
      </p:sp>
      <p:sp>
        <p:nvSpPr>
          <p:cNvPr id="20" name="Shape 16"/>
          <p:cNvSpPr/>
          <p:nvPr/>
        </p:nvSpPr>
        <p:spPr>
          <a:xfrm>
            <a:off x="4608576" y="1888236"/>
            <a:ext cx="82296" cy="8229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1" name="Shape 17"/>
          <p:cNvSpPr/>
          <p:nvPr/>
        </p:nvSpPr>
        <p:spPr>
          <a:xfrm>
            <a:off x="4764024" y="1888236"/>
            <a:ext cx="82296" cy="82296"/>
          </a:xfrm>
          <a:prstGeom prst="ellipse">
            <a:avLst/>
          </a:prstGeom>
          <a:solidFill>
            <a:srgbClr val="F0A93B"/>
          </a:solidFill>
          <a:ln/>
        </p:spPr>
      </p:sp>
      <p:sp>
        <p:nvSpPr>
          <p:cNvPr id="22" name="Shape 18"/>
          <p:cNvSpPr/>
          <p:nvPr/>
        </p:nvSpPr>
        <p:spPr>
          <a:xfrm>
            <a:off x="4919472" y="1888236"/>
            <a:ext cx="82296" cy="82296"/>
          </a:xfrm>
          <a:prstGeom prst="ellipse">
            <a:avLst/>
          </a:prstGeom>
          <a:solidFill>
            <a:srgbClr val="2FAE60"/>
          </a:solidFill>
          <a:ln/>
        </p:spPr>
      </p:sp>
      <p:sp>
        <p:nvSpPr>
          <p:cNvPr id="23" name="Shape 19"/>
          <p:cNvSpPr/>
          <p:nvPr/>
        </p:nvSpPr>
        <p:spPr>
          <a:xfrm>
            <a:off x="5166360" y="1847088"/>
            <a:ext cx="5715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DE3E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166360" y="1847088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app.fullpetro.com/tracker</a:t>
            </a:r>
            <a:endParaRPr lang="en-US" sz="750" dirty="0"/>
          </a:p>
        </p:txBody>
      </p:sp>
      <p:pic>
        <p:nvPicPr>
          <p:cNvPr id="25" name="Image 2" descr="real_shots/map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075688"/>
            <a:ext cx="6675120" cy="4171950"/>
          </a:xfrm>
          <a:prstGeom prst="rect">
            <a:avLst/>
          </a:prstGeom>
        </p:spPr>
      </p:pic>
      <p:sp>
        <p:nvSpPr>
          <p:cNvPr id="26" name="Text 21">
            <a:hlinkClick r:id="rId4" tooltip="" action="ppaction://hlinksldjump"/>
          </p:cNvPr>
          <p:cNvSpPr txBox="1"/>
          <p:nvPr/>
        </p:nvSpPr>
        <p:spPr>
          <a:xfrm>
            <a:off x="822960" y="64190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u="sng" spc="100" kern="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◂  MENÚ</a:t>
            </a:r>
            <a:endParaRPr lang="en-US" sz="950" dirty="0"/>
          </a:p>
        </p:txBody>
      </p:sp>
      <p:sp>
        <p:nvSpPr>
          <p:cNvPr id="27" name="Text 22"/>
          <p:cNvSpPr txBox="1"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4572000" cy="4572000"/>
          </a:xfrm>
          <a:prstGeom prst="ellipse">
            <a:avLst/>
          </a:prstGeom>
          <a:ln w="19050">
            <a:solidFill>
              <a:srgbClr val="E7EC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5120640"/>
            <a:ext cx="5029200" cy="5029200"/>
          </a:xfrm>
          <a:prstGeom prst="ellipse">
            <a:avLst/>
          </a:prstGeom>
          <a:ln w="25400">
            <a:solidFill>
              <a:srgbClr val="F5B92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solo lugar para ver, alertar y reportar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2499284" cy="3063240"/>
          </a:xfrm>
          <a:prstGeom prst="roundRect">
            <a:avLst>
              <a:gd name="adj" fmla="val 4390"/>
            </a:avLst>
          </a:prstGeom>
          <a:solidFill>
            <a:srgbClr val="F7FAFC"/>
          </a:solidFill>
          <a:ln w="12700">
            <a:solidFill>
              <a:srgbClr val="E7ECF1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8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07426" y="2606040"/>
            <a:ext cx="530352" cy="530352"/>
          </a:xfrm>
          <a:prstGeom prst="ellipse">
            <a:avLst/>
          </a:prstGeom>
          <a:solidFill>
            <a:srgbClr val="F5B921"/>
          </a:solidFill>
          <a:ln/>
        </p:spPr>
      </p:sp>
      <p:pic>
        <p:nvPicPr>
          <p:cNvPr id="8" name="Image 0" descr="icons/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1675" y="2680289"/>
            <a:ext cx="381853" cy="38185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383280"/>
            <a:ext cx="24992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42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224528"/>
            <a:ext cx="2224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bajo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continuo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05124" y="2331720"/>
            <a:ext cx="2499284" cy="3063240"/>
          </a:xfrm>
          <a:prstGeom prst="roundRect">
            <a:avLst>
              <a:gd name="adj" fmla="val 4390"/>
            </a:avLst>
          </a:prstGeom>
          <a:solidFill>
            <a:srgbClr val="F7FAFC"/>
          </a:solidFill>
          <a:ln w="12700">
            <a:solidFill>
              <a:srgbClr val="E7ECF1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8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9590" y="2606040"/>
            <a:ext cx="530352" cy="530352"/>
          </a:xfrm>
          <a:prstGeom prst="ellipse">
            <a:avLst/>
          </a:prstGeom>
          <a:solidFill>
            <a:srgbClr val="F5B921"/>
          </a:solidFill>
          <a:ln/>
        </p:spPr>
      </p:sp>
      <p:pic>
        <p:nvPicPr>
          <p:cNvPr id="13" name="Image 1" descr="icons/cloc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839" y="2680289"/>
            <a:ext cx="381853" cy="38185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05124" y="3383280"/>
            <a:ext cx="24992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4200" dirty="0"/>
          </a:p>
        </p:txBody>
      </p:sp>
      <p:sp>
        <p:nvSpPr>
          <p:cNvPr id="15" name="Text 11"/>
          <p:cNvSpPr txBox="1"/>
          <p:nvPr/>
        </p:nvSpPr>
        <p:spPr>
          <a:xfrm>
            <a:off x="3642284" y="4224528"/>
            <a:ext cx="2224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y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automática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187288" y="2331720"/>
            <a:ext cx="2499284" cy="3063240"/>
          </a:xfrm>
          <a:prstGeom prst="roundRect">
            <a:avLst>
              <a:gd name="adj" fmla="val 4390"/>
            </a:avLst>
          </a:prstGeom>
          <a:solidFill>
            <a:srgbClr val="F7FAFC"/>
          </a:solidFill>
          <a:ln w="12700">
            <a:solidFill>
              <a:srgbClr val="E7ECF1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8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71754" y="2606040"/>
            <a:ext cx="530352" cy="530352"/>
          </a:xfrm>
          <a:prstGeom prst="ellipse">
            <a:avLst/>
          </a:prstGeom>
          <a:solidFill>
            <a:srgbClr val="F5B921"/>
          </a:solidFill>
          <a:ln/>
        </p:spPr>
      </p:sp>
      <p:pic>
        <p:nvPicPr>
          <p:cNvPr id="18" name="Image 2" descr="icons/shiel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003" y="2680289"/>
            <a:ext cx="381853" cy="38185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187288" y="3383280"/>
            <a:ext cx="24992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200" dirty="0"/>
          </a:p>
        </p:txBody>
      </p:sp>
      <p:sp>
        <p:nvSpPr>
          <p:cNvPr id="20" name="Text 15"/>
          <p:cNvSpPr txBox="1"/>
          <p:nvPr/>
        </p:nvSpPr>
        <p:spPr>
          <a:xfrm>
            <a:off x="6324448" y="4224528"/>
            <a:ext cx="2224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alerta según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flota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8869451" y="2331720"/>
            <a:ext cx="2499284" cy="3063240"/>
          </a:xfrm>
          <a:prstGeom prst="roundRect">
            <a:avLst>
              <a:gd name="adj" fmla="val 4390"/>
            </a:avLst>
          </a:prstGeom>
          <a:solidFill>
            <a:srgbClr val="F7FAFC"/>
          </a:solidFill>
          <a:ln w="12700">
            <a:solidFill>
              <a:srgbClr val="E7ECF1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8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853917" y="2606040"/>
            <a:ext cx="530352" cy="530352"/>
          </a:xfrm>
          <a:prstGeom prst="ellipse">
            <a:avLst/>
          </a:prstGeom>
          <a:solidFill>
            <a:srgbClr val="F5B921"/>
          </a:solidFill>
          <a:ln/>
        </p:spPr>
      </p:sp>
      <p:pic>
        <p:nvPicPr>
          <p:cNvPr id="23" name="Image 3" descr="icons/trendingup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8167" y="2680289"/>
            <a:ext cx="381853" cy="38185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869451" y="3383280"/>
            <a:ext cx="24992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25" name="Text 19"/>
          <p:cNvSpPr txBox="1"/>
          <p:nvPr/>
        </p:nvSpPr>
        <p:spPr>
          <a:xfrm>
            <a:off x="9006611" y="4224528"/>
            <a:ext cx="22249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por turno,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listos para descargar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99B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visibilidad de la operación   ·   Respuesta más rápida ante desvíos   ·   Trazabilidad completa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1127729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720000">
            <a:off x="-914400" y="5486400"/>
            <a:ext cx="8229600" cy="3291840"/>
          </a:xfrm>
          <a:prstGeom prst="rect">
            <a:avLst/>
          </a:prstGeom>
          <a:solidFill>
            <a:srgbClr val="F5B921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206240"/>
            <a:ext cx="5943600" cy="5943600"/>
          </a:xfrm>
          <a:prstGeom prst="ellipse">
            <a:avLst/>
          </a:prstGeom>
          <a:ln w="19050">
            <a:solidFill>
              <a:srgbClr val="E7ECF1"/>
            </a:solidFill>
            <a:prstDash val="solid"/>
          </a:ln>
        </p:spPr>
      </p:sp>
      <p:pic>
        <p:nvPicPr>
          <p:cNvPr id="4" name="Image 0" descr="logo_navy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07128" y="2286000"/>
            <a:ext cx="2377440" cy="77486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35204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0" y="4343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150" kern="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GPS de Flota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2026-09-16T19:12:56Z</dcterms:created>
  <dcterms:modified xsi:type="dcterms:W3CDTF">2026-09-16T19:12:56Z</dcterms:modified>
</cp:coreProperties>
</file>